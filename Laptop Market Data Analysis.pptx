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12192000"/>
  <p:embeddedFontLst>
    <p:embeddedFont>
      <p:font typeface="Hedvig Letters Sans" panose="020B0604020202020204" charset="0"/>
      <p:regular r:id="rId19"/>
    </p:embeddedFont>
    <p:embeddedFont>
      <p:font typeface="Liter" panose="020B0604020202020204" charset="0"/>
      <p:regular r:id="rId20"/>
    </p:embeddedFont>
    <p:embeddedFont>
      <p:font typeface="Quattrocento Sans" panose="020B0502050000020003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02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B38B9-22B0-3425-01C9-B5D7C6D1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4DC55-FF96-B7C6-7743-F8255E3AC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FE52E-7D90-77DD-780F-60F818A1B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199C9-0544-C1E1-896C-A6DFB3D3A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01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pikbest.com/35efd3a7453051a888e8fd9768ea3988d422c2a8.jpg!w700wp"/>
          <p:cNvPicPr>
            <a:picLocks noChangeAspect="1"/>
          </p:cNvPicPr>
          <p:nvPr/>
        </p:nvPicPr>
        <p:blipFill>
          <a:blip r:embed="rId3">
            <a:alphaModFix amt="30000"/>
          </a:blip>
          <a:srcRect l="222" r="22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4C8DAE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452563"/>
            <a:ext cx="2266950" cy="352425"/>
          </a:xfrm>
          <a:custGeom>
            <a:avLst/>
            <a:gdLst/>
            <a:ahLst/>
            <a:cxnLst/>
            <a:rect l="l" t="t" r="r" b="b"/>
            <a:pathLst>
              <a:path w="2266950" h="352425">
                <a:moveTo>
                  <a:pt x="176213" y="0"/>
                </a:moveTo>
                <a:lnTo>
                  <a:pt x="2090738" y="0"/>
                </a:lnTo>
                <a:cubicBezTo>
                  <a:pt x="2187992" y="0"/>
                  <a:pt x="2266950" y="78958"/>
                  <a:pt x="2266950" y="176213"/>
                </a:cubicBezTo>
                <a:lnTo>
                  <a:pt x="2266950" y="176213"/>
                </a:lnTo>
                <a:cubicBezTo>
                  <a:pt x="2266950" y="273467"/>
                  <a:pt x="2187992" y="352425"/>
                  <a:pt x="2090738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1975" y="1552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809625" y="1533525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38350"/>
            <a:ext cx="6000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Laptop Market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981450"/>
            <a:ext cx="5772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Insights from 3,976 Laptop Specifications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Market Intelligence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5791200"/>
            <a:ext cx="136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3,976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865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 Records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18382" y="579120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18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818382" y="6286500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Attributes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39355" y="5791200"/>
            <a:ext cx="1228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₹72K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939355" y="62865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Price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91D0AB-9F9E-7F04-6F8A-4FC1CA6309CC}"/>
              </a:ext>
            </a:extLst>
          </p:cNvPr>
          <p:cNvSpPr txBox="1"/>
          <p:nvPr/>
        </p:nvSpPr>
        <p:spPr>
          <a:xfrm>
            <a:off x="8461621" y="5868544"/>
            <a:ext cx="3684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Name : M Vishnu Sai Tej</a:t>
            </a:r>
          </a:p>
          <a:p>
            <a:r>
              <a:rPr lang="en-US" b="1" dirty="0">
                <a:solidFill>
                  <a:schemeClr val="bg1"/>
                </a:solidFill>
              </a:rPr>
              <a:t>Internship Role : Data Analyst Intern</a:t>
            </a:r>
          </a:p>
          <a:p>
            <a:r>
              <a:rPr lang="en-US" b="1" dirty="0">
                <a:solidFill>
                  <a:schemeClr val="bg1"/>
                </a:solidFill>
              </a:rPr>
              <a:t>UNID : UMID22112571355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704975" cy="314325"/>
          </a:xfrm>
          <a:custGeom>
            <a:avLst/>
            <a:gdLst/>
            <a:ahLst/>
            <a:cxnLst/>
            <a:rect l="l" t="t" r="r" b="b"/>
            <a:pathLst>
              <a:path w="1704975" h="314325">
                <a:moveTo>
                  <a:pt x="157163" y="0"/>
                </a:moveTo>
                <a:lnTo>
                  <a:pt x="1547813" y="0"/>
                </a:lnTo>
                <a:cubicBezTo>
                  <a:pt x="1634553" y="0"/>
                  <a:pt x="1704975" y="70422"/>
                  <a:pt x="1704975" y="157163"/>
                </a:cubicBezTo>
                <a:lnTo>
                  <a:pt x="1704975" y="157163"/>
                </a:lnTo>
                <a:cubicBezTo>
                  <a:pt x="1704975" y="243903"/>
                  <a:pt x="1634553" y="314325"/>
                  <a:pt x="154781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825" y="495300"/>
            <a:ext cx="15225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85913"/>
            <a:ext cx="5591175" cy="1638300"/>
          </a:xfrm>
          <a:custGeom>
            <a:avLst/>
            <a:gdLst/>
            <a:ahLst/>
            <a:cxnLst/>
            <a:rect l="l" t="t" r="r" b="b"/>
            <a:pathLst>
              <a:path w="5591175" h="1638300">
                <a:moveTo>
                  <a:pt x="114304" y="0"/>
                </a:moveTo>
                <a:lnTo>
                  <a:pt x="5476871" y="0"/>
                </a:lnTo>
                <a:cubicBezTo>
                  <a:pt x="5539999" y="0"/>
                  <a:pt x="5591175" y="51176"/>
                  <a:pt x="5591175" y="114304"/>
                </a:cubicBezTo>
                <a:lnTo>
                  <a:pt x="5591175" y="1523996"/>
                </a:lnTo>
                <a:cubicBezTo>
                  <a:pt x="5591175" y="1587124"/>
                  <a:pt x="5539999" y="1638300"/>
                  <a:pt x="5476871" y="1638300"/>
                </a:cubicBezTo>
                <a:lnTo>
                  <a:pt x="114304" y="1638300"/>
                </a:lnTo>
                <a:cubicBezTo>
                  <a:pt x="51176" y="1638300"/>
                  <a:pt x="0" y="1587124"/>
                  <a:pt x="0" y="15239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819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2830" y="1895475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8725" y="1819275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8725" y="2162175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data structure, quality metrics, and methodology framework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5063" y="1585913"/>
            <a:ext cx="5591175" cy="1638300"/>
          </a:xfrm>
          <a:custGeom>
            <a:avLst/>
            <a:gdLst/>
            <a:ahLst/>
            <a:cxnLst/>
            <a:rect l="l" t="t" r="r" b="b"/>
            <a:pathLst>
              <a:path w="5591175" h="1638300">
                <a:moveTo>
                  <a:pt x="114304" y="0"/>
                </a:moveTo>
                <a:lnTo>
                  <a:pt x="5476871" y="0"/>
                </a:lnTo>
                <a:cubicBezTo>
                  <a:pt x="5539999" y="0"/>
                  <a:pt x="5591175" y="51176"/>
                  <a:pt x="5591175" y="114304"/>
                </a:cubicBezTo>
                <a:lnTo>
                  <a:pt x="5591175" y="1523996"/>
                </a:lnTo>
                <a:cubicBezTo>
                  <a:pt x="5591175" y="1587124"/>
                  <a:pt x="5539999" y="1638300"/>
                  <a:pt x="5476871" y="1638300"/>
                </a:cubicBezTo>
                <a:lnTo>
                  <a:pt x="114304" y="1638300"/>
                </a:lnTo>
                <a:cubicBezTo>
                  <a:pt x="51176" y="1638300"/>
                  <a:pt x="0" y="1587124"/>
                  <a:pt x="0" y="152399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8425" y="1819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45759" y="18954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8025" y="1819275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Landscape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8025" y="2162175"/>
            <a:ext cx="4591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 distribution, market share analysis, and competitive positioning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459063"/>
            <a:ext cx="5591175" cy="1390650"/>
          </a:xfrm>
          <a:custGeom>
            <a:avLst/>
            <a:gdLst/>
            <a:ahLst/>
            <a:cxnLst/>
            <a:rect l="l" t="t" r="r" b="b"/>
            <a:pathLst>
              <a:path w="5591175" h="1390650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1276352"/>
                </a:lnTo>
                <a:cubicBezTo>
                  <a:pt x="5591175" y="1339477"/>
                  <a:pt x="5540002" y="1390650"/>
                  <a:pt x="5476877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125" y="36924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13036" y="376862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8725" y="3692426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8725" y="4035326"/>
            <a:ext cx="4286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Processor, RAM, GPU, storage, and battery performance insights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5063" y="3459063"/>
            <a:ext cx="5591175" cy="1390650"/>
          </a:xfrm>
          <a:custGeom>
            <a:avLst/>
            <a:gdLst/>
            <a:ahLst/>
            <a:cxnLst/>
            <a:rect l="l" t="t" r="r" b="b"/>
            <a:pathLst>
              <a:path w="5591175" h="1390650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1276352"/>
                </a:lnTo>
                <a:cubicBezTo>
                  <a:pt x="5591175" y="1339477"/>
                  <a:pt x="5540002" y="1390650"/>
                  <a:pt x="5476877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8425" y="36924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39210" y="3768626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8025" y="369242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Correlations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58025" y="4035326"/>
            <a:ext cx="3638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Specification-price relationships and key value drivers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5084713"/>
            <a:ext cx="5591175" cy="1390650"/>
          </a:xfrm>
          <a:custGeom>
            <a:avLst/>
            <a:gdLst/>
            <a:ahLst/>
            <a:cxnLst/>
            <a:rect l="l" t="t" r="r" b="b"/>
            <a:pathLst>
              <a:path w="5591175" h="1390650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1276352"/>
                </a:lnTo>
                <a:cubicBezTo>
                  <a:pt x="5591175" y="1339477"/>
                  <a:pt x="5540002" y="1390650"/>
                  <a:pt x="5476877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125" y="531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12589" y="53942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8725" y="5318075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Analysis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28725" y="5660975"/>
            <a:ext cx="4133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Gaming, budget, and professional laptop category deep-dives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5063" y="5084713"/>
            <a:ext cx="5591175" cy="1390650"/>
          </a:xfrm>
          <a:custGeom>
            <a:avLst/>
            <a:gdLst/>
            <a:ahLst/>
            <a:cxnLst/>
            <a:rect l="l" t="t" r="r" b="b"/>
            <a:pathLst>
              <a:path w="5591175" h="1390650">
                <a:moveTo>
                  <a:pt x="114298" y="0"/>
                </a:moveTo>
                <a:lnTo>
                  <a:pt x="5476877" y="0"/>
                </a:lnTo>
                <a:cubicBezTo>
                  <a:pt x="5540002" y="0"/>
                  <a:pt x="5591175" y="51173"/>
                  <a:pt x="5591175" y="114298"/>
                </a:cubicBezTo>
                <a:lnTo>
                  <a:pt x="5591175" y="1276352"/>
                </a:lnTo>
                <a:cubicBezTo>
                  <a:pt x="5591175" y="1339477"/>
                  <a:pt x="5540002" y="1390650"/>
                  <a:pt x="5476877" y="1390650"/>
                </a:cubicBezTo>
                <a:lnTo>
                  <a:pt x="114298" y="1390650"/>
                </a:lnTo>
                <a:cubicBezTo>
                  <a:pt x="51173" y="1390650"/>
                  <a:pt x="0" y="1339477"/>
                  <a:pt x="0" y="127635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8425" y="5318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38764" y="53942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58025" y="5318075"/>
            <a:ext cx="3829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58025" y="5660975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recommendations and market opportunities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85329" y="438150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1063" y="414338"/>
            <a:ext cx="1009650" cy="314325"/>
          </a:xfrm>
          <a:custGeom>
            <a:avLst/>
            <a:gdLst/>
            <a:ahLst/>
            <a:cxnLst/>
            <a:rect l="l" t="t" r="r" b="b"/>
            <a:pathLst>
              <a:path w="1009650" h="314325">
                <a:moveTo>
                  <a:pt x="157163" y="0"/>
                </a:moveTo>
                <a:lnTo>
                  <a:pt x="852488" y="0"/>
                </a:lnTo>
                <a:cubicBezTo>
                  <a:pt x="939228" y="0"/>
                  <a:pt x="1009650" y="70422"/>
                  <a:pt x="1009650" y="157163"/>
                </a:cubicBezTo>
                <a:lnTo>
                  <a:pt x="1009650" y="157163"/>
                </a:lnTo>
                <a:cubicBezTo>
                  <a:pt x="1009650" y="243903"/>
                  <a:pt x="939228" y="314325"/>
                  <a:pt x="852488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0125" y="523875"/>
            <a:ext cx="8276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Overview: Foundation of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452563"/>
            <a:ext cx="7543800" cy="2886075"/>
          </a:xfrm>
          <a:custGeom>
            <a:avLst/>
            <a:gdLst/>
            <a:ahLst/>
            <a:cxnLst/>
            <a:rect l="l" t="t" r="r" b="b"/>
            <a:pathLst>
              <a:path w="7543800" h="2886075">
                <a:moveTo>
                  <a:pt x="114289" y="0"/>
                </a:moveTo>
                <a:lnTo>
                  <a:pt x="7429511" y="0"/>
                </a:lnTo>
                <a:cubicBezTo>
                  <a:pt x="7492589" y="0"/>
                  <a:pt x="7543800" y="51211"/>
                  <a:pt x="7543800" y="114289"/>
                </a:cubicBezTo>
                <a:lnTo>
                  <a:pt x="7543800" y="2771786"/>
                </a:lnTo>
                <a:cubicBezTo>
                  <a:pt x="7543800" y="2834906"/>
                  <a:pt x="7492631" y="2886075"/>
                  <a:pt x="7429511" y="2886075"/>
                </a:cubicBezTo>
                <a:lnTo>
                  <a:pt x="114289" y="2886075"/>
                </a:lnTo>
                <a:cubicBezTo>
                  <a:pt x="51211" y="2886075"/>
                  <a:pt x="0" y="2834864"/>
                  <a:pt x="0" y="2771786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5553" y="16954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" y="1647825"/>
            <a:ext cx="701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Structure &amp; Coverage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788" y="2071688"/>
            <a:ext cx="1666875" cy="923925"/>
          </a:xfrm>
          <a:custGeom>
            <a:avLst/>
            <a:gdLst/>
            <a:ahLst/>
            <a:cxnLst/>
            <a:rect l="l" t="t" r="r" b="b"/>
            <a:pathLst>
              <a:path w="1666875" h="923925">
                <a:moveTo>
                  <a:pt x="76196" y="0"/>
                </a:moveTo>
                <a:lnTo>
                  <a:pt x="1590679" y="0"/>
                </a:lnTo>
                <a:cubicBezTo>
                  <a:pt x="1632761" y="0"/>
                  <a:pt x="1666875" y="34114"/>
                  <a:pt x="1666875" y="76196"/>
                </a:cubicBezTo>
                <a:lnTo>
                  <a:pt x="1666875" y="847729"/>
                </a:lnTo>
                <a:cubicBezTo>
                  <a:pt x="1666875" y="889811"/>
                  <a:pt x="1632761" y="923925"/>
                  <a:pt x="15906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225" y="22288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3,976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9613" y="26479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12950" y="2071688"/>
            <a:ext cx="1666875" cy="923925"/>
          </a:xfrm>
          <a:custGeom>
            <a:avLst/>
            <a:gdLst/>
            <a:ahLst/>
            <a:cxnLst/>
            <a:rect l="l" t="t" r="r" b="b"/>
            <a:pathLst>
              <a:path w="1666875" h="923925">
                <a:moveTo>
                  <a:pt x="76196" y="0"/>
                </a:moveTo>
                <a:lnTo>
                  <a:pt x="1590679" y="0"/>
                </a:lnTo>
                <a:cubicBezTo>
                  <a:pt x="1632761" y="0"/>
                  <a:pt x="1666875" y="34114"/>
                  <a:pt x="1666875" y="76196"/>
                </a:cubicBezTo>
                <a:lnTo>
                  <a:pt x="1666875" y="847729"/>
                </a:lnTo>
                <a:cubicBezTo>
                  <a:pt x="1666875" y="889811"/>
                  <a:pt x="1632761" y="923925"/>
                  <a:pt x="15906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4388" y="22288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36775" y="26479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Attributes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40113" y="2071688"/>
            <a:ext cx="1666875" cy="923925"/>
          </a:xfrm>
          <a:custGeom>
            <a:avLst/>
            <a:gdLst/>
            <a:ahLst/>
            <a:cxnLst/>
            <a:rect l="l" t="t" r="r" b="b"/>
            <a:pathLst>
              <a:path w="1666875" h="923925">
                <a:moveTo>
                  <a:pt x="76196" y="0"/>
                </a:moveTo>
                <a:lnTo>
                  <a:pt x="1590679" y="0"/>
                </a:lnTo>
                <a:cubicBezTo>
                  <a:pt x="1632761" y="0"/>
                  <a:pt x="1666875" y="34114"/>
                  <a:pt x="1666875" y="76196"/>
                </a:cubicBezTo>
                <a:lnTo>
                  <a:pt x="1666875" y="847729"/>
                </a:lnTo>
                <a:cubicBezTo>
                  <a:pt x="1666875" y="889811"/>
                  <a:pt x="1632761" y="923925"/>
                  <a:pt x="15906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1551" y="22288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63938" y="26479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Brands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67276" y="2071688"/>
            <a:ext cx="1666875" cy="923925"/>
          </a:xfrm>
          <a:custGeom>
            <a:avLst/>
            <a:gdLst/>
            <a:ahLst/>
            <a:cxnLst/>
            <a:rect l="l" t="t" r="r" b="b"/>
            <a:pathLst>
              <a:path w="1666875" h="923925">
                <a:moveTo>
                  <a:pt x="76196" y="0"/>
                </a:moveTo>
                <a:lnTo>
                  <a:pt x="1590679" y="0"/>
                </a:lnTo>
                <a:cubicBezTo>
                  <a:pt x="1632761" y="0"/>
                  <a:pt x="1666875" y="34114"/>
                  <a:pt x="1666875" y="76196"/>
                </a:cubicBezTo>
                <a:lnTo>
                  <a:pt x="1666875" y="847729"/>
                </a:lnTo>
                <a:cubicBezTo>
                  <a:pt x="1666875" y="889811"/>
                  <a:pt x="1632761" y="923925"/>
                  <a:pt x="15906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8714" y="222885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1101" y="26479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1025" y="3152775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Attributes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1025" y="3419475"/>
            <a:ext cx="438150" cy="228600"/>
          </a:xfrm>
          <a:custGeom>
            <a:avLst/>
            <a:gdLst/>
            <a:ahLst/>
            <a:cxnLst/>
            <a:rect l="l" t="t" r="r" b="b"/>
            <a:pathLst>
              <a:path w="438150" h="228600">
                <a:moveTo>
                  <a:pt x="38101" y="0"/>
                </a:moveTo>
                <a:lnTo>
                  <a:pt x="400049" y="0"/>
                </a:lnTo>
                <a:cubicBezTo>
                  <a:pt x="421092" y="0"/>
                  <a:pt x="438150" y="17058"/>
                  <a:pt x="438150" y="38101"/>
                </a:cubicBezTo>
                <a:lnTo>
                  <a:pt x="438150" y="190499"/>
                </a:lnTo>
                <a:cubicBezTo>
                  <a:pt x="438150" y="211542"/>
                  <a:pt x="421092" y="228600"/>
                  <a:pt x="4000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1025" y="3419475"/>
            <a:ext cx="4953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9393" y="3419475"/>
            <a:ext cx="400050" cy="228600"/>
          </a:xfrm>
          <a:custGeom>
            <a:avLst/>
            <a:gdLst/>
            <a:ahLst/>
            <a:cxnLst/>
            <a:rect l="l" t="t" r="r" b="b"/>
            <a:pathLst>
              <a:path w="400050" h="2286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190499"/>
                </a:lnTo>
                <a:cubicBezTo>
                  <a:pt x="400050" y="211542"/>
                  <a:pt x="382992" y="228600"/>
                  <a:pt x="3619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99393" y="3419475"/>
            <a:ext cx="4572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571476" y="3419475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38101" y="0"/>
                </a:moveTo>
                <a:lnTo>
                  <a:pt x="600074" y="0"/>
                </a:lnTo>
                <a:cubicBezTo>
                  <a:pt x="621117" y="0"/>
                  <a:pt x="638175" y="17058"/>
                  <a:pt x="638175" y="38101"/>
                </a:cubicBezTo>
                <a:lnTo>
                  <a:pt x="638175" y="190499"/>
                </a:lnTo>
                <a:cubicBezTo>
                  <a:pt x="638175" y="211542"/>
                  <a:pt x="621117" y="228600"/>
                  <a:pt x="6000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571476" y="3419475"/>
            <a:ext cx="6953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287488" y="3419475"/>
            <a:ext cx="390525" cy="228600"/>
          </a:xfrm>
          <a:custGeom>
            <a:avLst/>
            <a:gdLst/>
            <a:ahLst/>
            <a:cxnLst/>
            <a:rect l="l" t="t" r="r" b="b"/>
            <a:pathLst>
              <a:path w="390525" h="228600">
                <a:moveTo>
                  <a:pt x="38101" y="0"/>
                </a:moveTo>
                <a:lnTo>
                  <a:pt x="352424" y="0"/>
                </a:lnTo>
                <a:cubicBezTo>
                  <a:pt x="373467" y="0"/>
                  <a:pt x="390525" y="17058"/>
                  <a:pt x="390525" y="38101"/>
                </a:cubicBezTo>
                <a:lnTo>
                  <a:pt x="390525" y="190499"/>
                </a:lnTo>
                <a:cubicBezTo>
                  <a:pt x="390525" y="211542"/>
                  <a:pt x="373467" y="228600"/>
                  <a:pt x="3524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287488" y="3419475"/>
            <a:ext cx="4476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53916" y="3419475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190499"/>
                </a:lnTo>
                <a:cubicBezTo>
                  <a:pt x="371475" y="211542"/>
                  <a:pt x="354417" y="228600"/>
                  <a:pt x="333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753916" y="3419475"/>
            <a:ext cx="428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98465" y="3419475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38101" y="0"/>
                </a:moveTo>
                <a:lnTo>
                  <a:pt x="495299" y="0"/>
                </a:lnTo>
                <a:cubicBezTo>
                  <a:pt x="516342" y="0"/>
                  <a:pt x="533400" y="17058"/>
                  <a:pt x="533400" y="38101"/>
                </a:cubicBezTo>
                <a:lnTo>
                  <a:pt x="533400" y="190499"/>
                </a:lnTo>
                <a:cubicBezTo>
                  <a:pt x="533400" y="211542"/>
                  <a:pt x="516342" y="228600"/>
                  <a:pt x="4952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198465" y="3419475"/>
            <a:ext cx="5905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1025" y="3724275"/>
            <a:ext cx="514350" cy="228600"/>
          </a:xfrm>
          <a:custGeom>
            <a:avLst/>
            <a:gdLst/>
            <a:ahLst/>
            <a:cxnLst/>
            <a:rect l="l" t="t" r="r" b="b"/>
            <a:pathLst>
              <a:path w="514350" h="228600">
                <a:moveTo>
                  <a:pt x="38101" y="0"/>
                </a:moveTo>
                <a:lnTo>
                  <a:pt x="476249" y="0"/>
                </a:lnTo>
                <a:cubicBezTo>
                  <a:pt x="497292" y="0"/>
                  <a:pt x="514350" y="17058"/>
                  <a:pt x="514350" y="38101"/>
                </a:cubicBezTo>
                <a:lnTo>
                  <a:pt x="514350" y="190499"/>
                </a:lnTo>
                <a:cubicBezTo>
                  <a:pt x="514350" y="211542"/>
                  <a:pt x="497292" y="228600"/>
                  <a:pt x="4762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81025" y="3724275"/>
            <a:ext cx="5715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75593" y="3724275"/>
            <a:ext cx="504825" cy="228600"/>
          </a:xfrm>
          <a:custGeom>
            <a:avLst/>
            <a:gdLst/>
            <a:ahLst/>
            <a:cxnLst/>
            <a:rect l="l" t="t" r="r" b="b"/>
            <a:pathLst>
              <a:path w="504825" h="228600">
                <a:moveTo>
                  <a:pt x="38101" y="0"/>
                </a:moveTo>
                <a:lnTo>
                  <a:pt x="466724" y="0"/>
                </a:lnTo>
                <a:cubicBezTo>
                  <a:pt x="487767" y="0"/>
                  <a:pt x="504825" y="17058"/>
                  <a:pt x="504825" y="38101"/>
                </a:cubicBezTo>
                <a:lnTo>
                  <a:pt x="504825" y="190499"/>
                </a:lnTo>
                <a:cubicBezTo>
                  <a:pt x="504825" y="211542"/>
                  <a:pt x="487767" y="228600"/>
                  <a:pt x="4667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75593" y="3724275"/>
            <a:ext cx="5619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35351" y="3152775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Range (₹)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235351" y="3419475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10301" y="3419475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7,990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235351" y="3686175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40786" y="3686175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503,890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235351" y="3952875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65653" y="3952875"/>
            <a:ext cx="438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72,433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5763" y="4538663"/>
            <a:ext cx="7543800" cy="1609725"/>
          </a:xfrm>
          <a:custGeom>
            <a:avLst/>
            <a:gdLst/>
            <a:ahLst/>
            <a:cxnLst/>
            <a:rect l="l" t="t" r="r" b="b"/>
            <a:pathLst>
              <a:path w="7543800" h="1609725">
                <a:moveTo>
                  <a:pt x="114307" y="0"/>
                </a:moveTo>
                <a:lnTo>
                  <a:pt x="7429493" y="0"/>
                </a:lnTo>
                <a:cubicBezTo>
                  <a:pt x="7492581" y="0"/>
                  <a:pt x="7543800" y="51219"/>
                  <a:pt x="7543800" y="114307"/>
                </a:cubicBezTo>
                <a:lnTo>
                  <a:pt x="7543800" y="1495418"/>
                </a:lnTo>
                <a:cubicBezTo>
                  <a:pt x="7543800" y="1558506"/>
                  <a:pt x="7492581" y="1609725"/>
                  <a:pt x="742949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3406" y="47815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8" name="Text 46"/>
          <p:cNvSpPr/>
          <p:nvPr/>
        </p:nvSpPr>
        <p:spPr>
          <a:xfrm>
            <a:off x="800100" y="4733925"/>
            <a:ext cx="7019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 Methodology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81025" y="5114925"/>
            <a:ext cx="1704975" cy="838200"/>
          </a:xfrm>
          <a:custGeom>
            <a:avLst/>
            <a:gdLst/>
            <a:ahLst/>
            <a:cxnLst/>
            <a:rect l="l" t="t" r="r" b="b"/>
            <a:pathLst>
              <a:path w="1704975" h="838200">
                <a:moveTo>
                  <a:pt x="76201" y="0"/>
                </a:moveTo>
                <a:lnTo>
                  <a:pt x="1628774" y="0"/>
                </a:lnTo>
                <a:cubicBezTo>
                  <a:pt x="1670859" y="0"/>
                  <a:pt x="1704975" y="34116"/>
                  <a:pt x="1704975" y="76201"/>
                </a:cubicBezTo>
                <a:lnTo>
                  <a:pt x="1704975" y="761999"/>
                </a:lnTo>
                <a:cubicBezTo>
                  <a:pt x="1704975" y="804084"/>
                  <a:pt x="1670859" y="838200"/>
                  <a:pt x="16287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337370" y="522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51" name="Text 49"/>
          <p:cNvSpPr/>
          <p:nvPr/>
        </p:nvSpPr>
        <p:spPr>
          <a:xfrm>
            <a:off x="661988" y="549592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6750" y="5686425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398663" y="5114925"/>
            <a:ext cx="1704975" cy="838200"/>
          </a:xfrm>
          <a:custGeom>
            <a:avLst/>
            <a:gdLst/>
            <a:ahLst/>
            <a:cxnLst/>
            <a:rect l="l" t="t" r="r" b="b"/>
            <a:pathLst>
              <a:path w="1704975" h="838200">
                <a:moveTo>
                  <a:pt x="76201" y="0"/>
                </a:moveTo>
                <a:lnTo>
                  <a:pt x="1628774" y="0"/>
                </a:lnTo>
                <a:cubicBezTo>
                  <a:pt x="1670859" y="0"/>
                  <a:pt x="1704975" y="34116"/>
                  <a:pt x="1704975" y="76201"/>
                </a:cubicBezTo>
                <a:lnTo>
                  <a:pt x="1704975" y="761999"/>
                </a:lnTo>
                <a:cubicBezTo>
                  <a:pt x="1704975" y="804084"/>
                  <a:pt x="1670859" y="838200"/>
                  <a:pt x="16287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155007" y="52292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7107" y="23812"/>
                  <a:pt x="2753" y="26715"/>
                  <a:pt x="893" y="31179"/>
                </a:cubicBezTo>
                <a:cubicBezTo>
                  <a:pt x="-967" y="35644"/>
                  <a:pt x="74" y="40742"/>
                  <a:pt x="3497" y="44128"/>
                </a:cubicBezTo>
                <a:lnTo>
                  <a:pt x="71438" y="112105"/>
                </a:lnTo>
                <a:lnTo>
                  <a:pt x="71438" y="154781"/>
                </a:lnTo>
                <a:cubicBezTo>
                  <a:pt x="71438" y="157944"/>
                  <a:pt x="72703" y="160958"/>
                  <a:pt x="74935" y="163190"/>
                </a:cubicBezTo>
                <a:lnTo>
                  <a:pt x="98747" y="187003"/>
                </a:lnTo>
                <a:cubicBezTo>
                  <a:pt x="102171" y="190426"/>
                  <a:pt x="107268" y="191430"/>
                  <a:pt x="111733" y="189570"/>
                </a:cubicBezTo>
                <a:cubicBezTo>
                  <a:pt x="116198" y="187709"/>
                  <a:pt x="119063" y="183393"/>
                  <a:pt x="119063" y="178594"/>
                </a:cubicBezTo>
                <a:lnTo>
                  <a:pt x="119063" y="112105"/>
                </a:lnTo>
                <a:lnTo>
                  <a:pt x="187003" y="44165"/>
                </a:lnTo>
                <a:cubicBezTo>
                  <a:pt x="190426" y="40742"/>
                  <a:pt x="191430" y="35644"/>
                  <a:pt x="189570" y="31179"/>
                </a:cubicBezTo>
                <a:cubicBezTo>
                  <a:pt x="187709" y="26715"/>
                  <a:pt x="183393" y="23812"/>
                  <a:pt x="178594" y="23812"/>
                </a:cubicBezTo>
                <a:lnTo>
                  <a:pt x="11906" y="23812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55" name="Text 53"/>
          <p:cNvSpPr/>
          <p:nvPr/>
        </p:nvSpPr>
        <p:spPr>
          <a:xfrm>
            <a:off x="2479625" y="549592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2484388" y="5686425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16301" y="5114925"/>
            <a:ext cx="1704975" cy="838200"/>
          </a:xfrm>
          <a:custGeom>
            <a:avLst/>
            <a:gdLst/>
            <a:ahLst/>
            <a:cxnLst/>
            <a:rect l="l" t="t" r="r" b="b"/>
            <a:pathLst>
              <a:path w="1704975" h="838200">
                <a:moveTo>
                  <a:pt x="76201" y="0"/>
                </a:moveTo>
                <a:lnTo>
                  <a:pt x="1628774" y="0"/>
                </a:lnTo>
                <a:cubicBezTo>
                  <a:pt x="1670859" y="0"/>
                  <a:pt x="1704975" y="34116"/>
                  <a:pt x="1704975" y="76201"/>
                </a:cubicBezTo>
                <a:lnTo>
                  <a:pt x="1704975" y="761999"/>
                </a:lnTo>
                <a:cubicBezTo>
                  <a:pt x="1704975" y="804084"/>
                  <a:pt x="1670859" y="838200"/>
                  <a:pt x="16287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960739" y="52292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9275" y="14548"/>
                </a:moveTo>
                <a:lnTo>
                  <a:pt x="204415" y="70470"/>
                </a:lnTo>
                <a:cubicBezTo>
                  <a:pt x="214722" y="80925"/>
                  <a:pt x="214722" y="97668"/>
                  <a:pt x="204415" y="108124"/>
                </a:cubicBezTo>
                <a:lnTo>
                  <a:pt x="146224" y="167022"/>
                </a:lnTo>
                <a:cubicBezTo>
                  <a:pt x="142763" y="170520"/>
                  <a:pt x="137108" y="170557"/>
                  <a:pt x="133610" y="167097"/>
                </a:cubicBezTo>
                <a:cubicBezTo>
                  <a:pt x="130113" y="163637"/>
                  <a:pt x="130076" y="157981"/>
                  <a:pt x="133536" y="154484"/>
                </a:cubicBezTo>
                <a:lnTo>
                  <a:pt x="191728" y="95548"/>
                </a:lnTo>
                <a:cubicBezTo>
                  <a:pt x="195151" y="92087"/>
                  <a:pt x="195151" y="86469"/>
                  <a:pt x="191728" y="83009"/>
                </a:cubicBezTo>
                <a:lnTo>
                  <a:pt x="136550" y="27124"/>
                </a:lnTo>
                <a:cubicBezTo>
                  <a:pt x="133090" y="23626"/>
                  <a:pt x="133127" y="17971"/>
                  <a:pt x="136624" y="14511"/>
                </a:cubicBezTo>
                <a:cubicBezTo>
                  <a:pt x="140122" y="11050"/>
                  <a:pt x="145777" y="11088"/>
                  <a:pt x="149237" y="14585"/>
                </a:cubicBezTo>
                <a:close/>
                <a:moveTo>
                  <a:pt x="11943" y="85390"/>
                </a:moveTo>
                <a:lnTo>
                  <a:pt x="11943" y="35719"/>
                </a:lnTo>
                <a:cubicBezTo>
                  <a:pt x="11943" y="22585"/>
                  <a:pt x="22622" y="11906"/>
                  <a:pt x="35756" y="11906"/>
                </a:cubicBezTo>
                <a:lnTo>
                  <a:pt x="85427" y="11906"/>
                </a:lnTo>
                <a:cubicBezTo>
                  <a:pt x="91753" y="11906"/>
                  <a:pt x="97817" y="14399"/>
                  <a:pt x="102282" y="18864"/>
                </a:cubicBezTo>
                <a:lnTo>
                  <a:pt x="155860" y="72442"/>
                </a:lnTo>
                <a:cubicBezTo>
                  <a:pt x="165162" y="81744"/>
                  <a:pt x="165162" y="96813"/>
                  <a:pt x="155860" y="106114"/>
                </a:cubicBezTo>
                <a:lnTo>
                  <a:pt x="106189" y="155786"/>
                </a:lnTo>
                <a:cubicBezTo>
                  <a:pt x="96887" y="165088"/>
                  <a:pt x="81818" y="165088"/>
                  <a:pt x="72517" y="155786"/>
                </a:cubicBezTo>
                <a:lnTo>
                  <a:pt x="18938" y="102208"/>
                </a:lnTo>
                <a:cubicBezTo>
                  <a:pt x="14474" y="97743"/>
                  <a:pt x="11981" y="91678"/>
                  <a:pt x="11981" y="85353"/>
                </a:cubicBezTo>
                <a:close/>
                <a:moveTo>
                  <a:pt x="65522" y="53578"/>
                </a:moveTo>
                <a:cubicBezTo>
                  <a:pt x="65522" y="47007"/>
                  <a:pt x="60187" y="41672"/>
                  <a:pt x="53615" y="41672"/>
                </a:cubicBezTo>
                <a:cubicBezTo>
                  <a:pt x="47044" y="41672"/>
                  <a:pt x="41709" y="47007"/>
                  <a:pt x="41709" y="53578"/>
                </a:cubicBezTo>
                <a:cubicBezTo>
                  <a:pt x="41709" y="60149"/>
                  <a:pt x="47044" y="65484"/>
                  <a:pt x="53615" y="65484"/>
                </a:cubicBezTo>
                <a:cubicBezTo>
                  <a:pt x="60187" y="65484"/>
                  <a:pt x="65522" y="60149"/>
                  <a:pt x="65522" y="53578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59" name="Text 57"/>
          <p:cNvSpPr/>
          <p:nvPr/>
        </p:nvSpPr>
        <p:spPr>
          <a:xfrm>
            <a:off x="4297263" y="549592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302026" y="5686425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033939" y="5114925"/>
            <a:ext cx="1704975" cy="838200"/>
          </a:xfrm>
          <a:custGeom>
            <a:avLst/>
            <a:gdLst/>
            <a:ahLst/>
            <a:cxnLst/>
            <a:rect l="l" t="t" r="r" b="b"/>
            <a:pathLst>
              <a:path w="1704975" h="838200">
                <a:moveTo>
                  <a:pt x="76201" y="0"/>
                </a:moveTo>
                <a:lnTo>
                  <a:pt x="1628774" y="0"/>
                </a:lnTo>
                <a:cubicBezTo>
                  <a:pt x="1670859" y="0"/>
                  <a:pt x="1704975" y="34116"/>
                  <a:pt x="1704975" y="76201"/>
                </a:cubicBezTo>
                <a:lnTo>
                  <a:pt x="1704975" y="761999"/>
                </a:lnTo>
                <a:cubicBezTo>
                  <a:pt x="1704975" y="804084"/>
                  <a:pt x="1670859" y="838200"/>
                  <a:pt x="16287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766620" y="52292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63" name="Text 61"/>
          <p:cNvSpPr/>
          <p:nvPr/>
        </p:nvSpPr>
        <p:spPr>
          <a:xfrm>
            <a:off x="6114901" y="549592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119664" y="5686425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32713" y="1452563"/>
            <a:ext cx="3676650" cy="2143125"/>
          </a:xfrm>
          <a:custGeom>
            <a:avLst/>
            <a:gdLst/>
            <a:ahLst/>
            <a:cxnLst/>
            <a:rect l="l" t="t" r="r" b="b"/>
            <a:pathLst>
              <a:path w="3676650" h="2143125">
                <a:moveTo>
                  <a:pt x="114293" y="0"/>
                </a:moveTo>
                <a:lnTo>
                  <a:pt x="3562357" y="0"/>
                </a:lnTo>
                <a:cubicBezTo>
                  <a:pt x="3625479" y="0"/>
                  <a:pt x="3676650" y="51171"/>
                  <a:pt x="3676650" y="114293"/>
                </a:cubicBezTo>
                <a:lnTo>
                  <a:pt x="3676650" y="2028832"/>
                </a:lnTo>
                <a:cubicBezTo>
                  <a:pt x="3676650" y="2091954"/>
                  <a:pt x="3625479" y="2143125"/>
                  <a:pt x="3562357" y="2143125"/>
                </a:cubicBezTo>
                <a:lnTo>
                  <a:pt x="114293" y="2143125"/>
                </a:lnTo>
                <a:cubicBezTo>
                  <a:pt x="51171" y="2143125"/>
                  <a:pt x="0" y="2091954"/>
                  <a:pt x="0" y="202883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7975" y="1647825"/>
            <a:ext cx="3371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Metrics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27975" y="2066925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255276" y="20669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99.2%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327975" y="2333625"/>
            <a:ext cx="3286125" cy="76200"/>
          </a:xfrm>
          <a:custGeom>
            <a:avLst/>
            <a:gdLst/>
            <a:ahLst/>
            <a:cxnLst/>
            <a:rect l="l" t="t" r="r" b="b"/>
            <a:pathLst>
              <a:path w="3286125" h="76200">
                <a:moveTo>
                  <a:pt x="38100" y="0"/>
                </a:moveTo>
                <a:lnTo>
                  <a:pt x="3248025" y="0"/>
                </a:lnTo>
                <a:cubicBezTo>
                  <a:pt x="3269053" y="0"/>
                  <a:pt x="3286125" y="17072"/>
                  <a:pt x="3286125" y="38100"/>
                </a:cubicBezTo>
                <a:lnTo>
                  <a:pt x="3286125" y="38100"/>
                </a:lnTo>
                <a:cubicBezTo>
                  <a:pt x="3286125" y="59128"/>
                  <a:pt x="3269053" y="76200"/>
                  <a:pt x="3248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0" name="Shape 68"/>
          <p:cNvSpPr/>
          <p:nvPr/>
        </p:nvSpPr>
        <p:spPr>
          <a:xfrm>
            <a:off x="8327975" y="2333625"/>
            <a:ext cx="3257550" cy="76200"/>
          </a:xfrm>
          <a:custGeom>
            <a:avLst/>
            <a:gdLst/>
            <a:ahLst/>
            <a:cxnLst/>
            <a:rect l="l" t="t" r="r" b="b"/>
            <a:pathLst>
              <a:path w="3257550" h="76200">
                <a:moveTo>
                  <a:pt x="38100" y="0"/>
                </a:moveTo>
                <a:lnTo>
                  <a:pt x="3219450" y="0"/>
                </a:lnTo>
                <a:cubicBezTo>
                  <a:pt x="3240478" y="0"/>
                  <a:pt x="3257550" y="17072"/>
                  <a:pt x="3257550" y="38100"/>
                </a:cubicBezTo>
                <a:lnTo>
                  <a:pt x="3257550" y="38100"/>
                </a:lnTo>
                <a:cubicBezTo>
                  <a:pt x="3257550" y="59128"/>
                  <a:pt x="3240478" y="76200"/>
                  <a:pt x="32194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/>
              </a:gs>
              <a:gs pos="100000">
                <a:srgbClr val="D4A26A"/>
              </a:gs>
            </a:gsLst>
            <a:lin ang="0" scaled="1"/>
          </a:gradFill>
          <a:ln/>
        </p:spPr>
      </p:sp>
      <p:sp>
        <p:nvSpPr>
          <p:cNvPr id="71" name="Text 69"/>
          <p:cNvSpPr/>
          <p:nvPr/>
        </p:nvSpPr>
        <p:spPr>
          <a:xfrm>
            <a:off x="8327975" y="2562225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261378" y="25622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98.7%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27975" y="2828925"/>
            <a:ext cx="3286125" cy="76200"/>
          </a:xfrm>
          <a:custGeom>
            <a:avLst/>
            <a:gdLst/>
            <a:ahLst/>
            <a:cxnLst/>
            <a:rect l="l" t="t" r="r" b="b"/>
            <a:pathLst>
              <a:path w="3286125" h="76200">
                <a:moveTo>
                  <a:pt x="38100" y="0"/>
                </a:moveTo>
                <a:lnTo>
                  <a:pt x="3248025" y="0"/>
                </a:lnTo>
                <a:cubicBezTo>
                  <a:pt x="3269053" y="0"/>
                  <a:pt x="3286125" y="17072"/>
                  <a:pt x="3286125" y="38100"/>
                </a:cubicBezTo>
                <a:lnTo>
                  <a:pt x="3286125" y="38100"/>
                </a:lnTo>
                <a:cubicBezTo>
                  <a:pt x="3286125" y="59128"/>
                  <a:pt x="3269053" y="76200"/>
                  <a:pt x="3248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4" name="Shape 72"/>
          <p:cNvSpPr/>
          <p:nvPr/>
        </p:nvSpPr>
        <p:spPr>
          <a:xfrm>
            <a:off x="8327975" y="2828925"/>
            <a:ext cx="3238500" cy="76200"/>
          </a:xfrm>
          <a:custGeom>
            <a:avLst/>
            <a:gdLst/>
            <a:ahLst/>
            <a:cxnLst/>
            <a:rect l="l" t="t" r="r" b="b"/>
            <a:pathLst>
              <a:path w="3238500" h="76200">
                <a:moveTo>
                  <a:pt x="38100" y="0"/>
                </a:moveTo>
                <a:lnTo>
                  <a:pt x="3200400" y="0"/>
                </a:lnTo>
                <a:cubicBezTo>
                  <a:pt x="3221428" y="0"/>
                  <a:pt x="3238500" y="17072"/>
                  <a:pt x="3238500" y="38100"/>
                </a:cubicBezTo>
                <a:lnTo>
                  <a:pt x="3238500" y="38100"/>
                </a:lnTo>
                <a:cubicBezTo>
                  <a:pt x="3238500" y="59128"/>
                  <a:pt x="3221428" y="76200"/>
                  <a:pt x="32004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/>
              </a:gs>
              <a:gs pos="100000">
                <a:srgbClr val="D4A26A"/>
              </a:gs>
            </a:gsLst>
            <a:lin ang="0" scaled="1"/>
          </a:gradFill>
          <a:ln/>
        </p:spPr>
      </p:sp>
      <p:sp>
        <p:nvSpPr>
          <p:cNvPr id="75" name="Text 73"/>
          <p:cNvSpPr/>
          <p:nvPr/>
        </p:nvSpPr>
        <p:spPr>
          <a:xfrm>
            <a:off x="8327975" y="3057525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264057" y="305752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97.5%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27975" y="3324225"/>
            <a:ext cx="3286125" cy="76200"/>
          </a:xfrm>
          <a:custGeom>
            <a:avLst/>
            <a:gdLst/>
            <a:ahLst/>
            <a:cxnLst/>
            <a:rect l="l" t="t" r="r" b="b"/>
            <a:pathLst>
              <a:path w="3286125" h="76200">
                <a:moveTo>
                  <a:pt x="38100" y="0"/>
                </a:moveTo>
                <a:lnTo>
                  <a:pt x="3248025" y="0"/>
                </a:lnTo>
                <a:cubicBezTo>
                  <a:pt x="3269053" y="0"/>
                  <a:pt x="3286125" y="17072"/>
                  <a:pt x="3286125" y="38100"/>
                </a:cubicBezTo>
                <a:lnTo>
                  <a:pt x="3286125" y="38100"/>
                </a:lnTo>
                <a:cubicBezTo>
                  <a:pt x="3286125" y="59128"/>
                  <a:pt x="3269053" y="76200"/>
                  <a:pt x="32480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8" name="Shape 76"/>
          <p:cNvSpPr/>
          <p:nvPr/>
        </p:nvSpPr>
        <p:spPr>
          <a:xfrm>
            <a:off x="8327975" y="3324225"/>
            <a:ext cx="3200400" cy="76200"/>
          </a:xfrm>
          <a:custGeom>
            <a:avLst/>
            <a:gdLst/>
            <a:ahLst/>
            <a:cxnLst/>
            <a:rect l="l" t="t" r="r" b="b"/>
            <a:pathLst>
              <a:path w="3200400" h="76200">
                <a:moveTo>
                  <a:pt x="38100" y="0"/>
                </a:moveTo>
                <a:lnTo>
                  <a:pt x="3162300" y="0"/>
                </a:lnTo>
                <a:cubicBezTo>
                  <a:pt x="3183328" y="0"/>
                  <a:pt x="3200400" y="17072"/>
                  <a:pt x="3200400" y="38100"/>
                </a:cubicBezTo>
                <a:lnTo>
                  <a:pt x="3200400" y="38100"/>
                </a:lnTo>
                <a:cubicBezTo>
                  <a:pt x="3200400" y="59128"/>
                  <a:pt x="3183328" y="76200"/>
                  <a:pt x="31623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/>
              </a:gs>
              <a:gs pos="100000">
                <a:srgbClr val="D4A26A"/>
              </a:gs>
            </a:gsLst>
            <a:lin ang="0" scaled="1"/>
          </a:gradFill>
          <a:ln/>
        </p:spPr>
      </p:sp>
      <p:sp>
        <p:nvSpPr>
          <p:cNvPr id="79" name="Shape 77"/>
          <p:cNvSpPr/>
          <p:nvPr/>
        </p:nvSpPr>
        <p:spPr>
          <a:xfrm>
            <a:off x="8132713" y="3795713"/>
            <a:ext cx="3676650" cy="1724025"/>
          </a:xfrm>
          <a:custGeom>
            <a:avLst/>
            <a:gdLst/>
            <a:ahLst/>
            <a:cxnLst/>
            <a:rect l="l" t="t" r="r" b="b"/>
            <a:pathLst>
              <a:path w="3676650" h="1724025">
                <a:moveTo>
                  <a:pt x="114303" y="0"/>
                </a:moveTo>
                <a:lnTo>
                  <a:pt x="3562347" y="0"/>
                </a:lnTo>
                <a:cubicBezTo>
                  <a:pt x="3625433" y="0"/>
                  <a:pt x="3676650" y="51217"/>
                  <a:pt x="3676650" y="114303"/>
                </a:cubicBezTo>
                <a:lnTo>
                  <a:pt x="3676650" y="1609722"/>
                </a:lnTo>
                <a:cubicBezTo>
                  <a:pt x="3676650" y="1672808"/>
                  <a:pt x="3625433" y="1724025"/>
                  <a:pt x="3562347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27975" y="3990975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Analytical Tools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338691" y="43624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2" name="Text 80"/>
          <p:cNvSpPr/>
          <p:nvPr/>
        </p:nvSpPr>
        <p:spPr>
          <a:xfrm>
            <a:off x="8570863" y="4333875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(Pandas, NumPy)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347025" y="46291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4" name="Text 82"/>
          <p:cNvSpPr/>
          <p:nvPr/>
        </p:nvSpPr>
        <p:spPr>
          <a:xfrm>
            <a:off x="8570863" y="4600575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Matplotlib, Seaborn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347025" y="4895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6" name="Text 84"/>
          <p:cNvSpPr/>
          <p:nvPr/>
        </p:nvSpPr>
        <p:spPr>
          <a:xfrm>
            <a:off x="8570863" y="4867275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 ML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355360" y="5162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66675" y="41672"/>
                </a:moveTo>
                <a:lnTo>
                  <a:pt x="66675" y="66675"/>
                </a:lnTo>
                <a:lnTo>
                  <a:pt x="100013" y="66675"/>
                </a:lnTo>
                <a:lnTo>
                  <a:pt x="100013" y="41672"/>
                </a:lnTo>
                <a:lnTo>
                  <a:pt x="66675" y="41672"/>
                </a:lnTo>
                <a:close/>
                <a:moveTo>
                  <a:pt x="50006" y="41672"/>
                </a:moveTo>
                <a:lnTo>
                  <a:pt x="16669" y="41672"/>
                </a:lnTo>
                <a:lnTo>
                  <a:pt x="16669" y="66675"/>
                </a:lnTo>
                <a:lnTo>
                  <a:pt x="50006" y="66675"/>
                </a:lnTo>
                <a:lnTo>
                  <a:pt x="50006" y="41672"/>
                </a:lnTo>
                <a:close/>
                <a:moveTo>
                  <a:pt x="0" y="83344"/>
                </a:move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00013" y="8334"/>
                </a:lnTo>
                <a:cubicBezTo>
                  <a:pt x="109206" y="8334"/>
                  <a:pt x="116681" y="15809"/>
                  <a:pt x="116681" y="25003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83344"/>
                </a:lnTo>
                <a:close/>
                <a:moveTo>
                  <a:pt x="100013" y="83344"/>
                </a:moveTo>
                <a:lnTo>
                  <a:pt x="66675" y="83344"/>
                </a:lnTo>
                <a:lnTo>
                  <a:pt x="66675" y="108347"/>
                </a:lnTo>
                <a:lnTo>
                  <a:pt x="100013" y="108347"/>
                </a:lnTo>
                <a:lnTo>
                  <a:pt x="100013" y="83344"/>
                </a:lnTo>
                <a:close/>
                <a:moveTo>
                  <a:pt x="50006" y="108347"/>
                </a:moveTo>
                <a:lnTo>
                  <a:pt x="50006" y="83344"/>
                </a:lnTo>
                <a:lnTo>
                  <a:pt x="16669" y="83344"/>
                </a:lnTo>
                <a:lnTo>
                  <a:pt x="16669" y="108347"/>
                </a:lnTo>
                <a:lnTo>
                  <a:pt x="50006" y="108347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88" name="Text 86"/>
          <p:cNvSpPr/>
          <p:nvPr/>
        </p:nvSpPr>
        <p:spPr>
          <a:xfrm>
            <a:off x="8570863" y="513397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 Notebooks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99" y="333799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4380" y="383869"/>
            <a:ext cx="250349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1910" y="363006"/>
            <a:ext cx="1176641" cy="275384"/>
          </a:xfrm>
          <a:custGeom>
            <a:avLst/>
            <a:gdLst/>
            <a:ahLst/>
            <a:cxnLst/>
            <a:rect l="l" t="t" r="r" b="b"/>
            <a:pathLst>
              <a:path w="1176641" h="275384">
                <a:moveTo>
                  <a:pt x="137692" y="0"/>
                </a:moveTo>
                <a:lnTo>
                  <a:pt x="1038949" y="0"/>
                </a:lnTo>
                <a:cubicBezTo>
                  <a:pt x="1114994" y="0"/>
                  <a:pt x="1176641" y="61647"/>
                  <a:pt x="1176641" y="137692"/>
                </a:cubicBezTo>
                <a:lnTo>
                  <a:pt x="1176641" y="137692"/>
                </a:lnTo>
                <a:cubicBezTo>
                  <a:pt x="1176641" y="213737"/>
                  <a:pt x="1114994" y="275384"/>
                  <a:pt x="1038949" y="275384"/>
                </a:cubicBezTo>
                <a:lnTo>
                  <a:pt x="137692" y="275384"/>
                </a:lnTo>
                <a:cubicBezTo>
                  <a:pt x="61647" y="275384"/>
                  <a:pt x="0" y="213737"/>
                  <a:pt x="0" y="137692"/>
                </a:cubicBezTo>
                <a:lnTo>
                  <a:pt x="0" y="137692"/>
                </a:lnTo>
                <a:cubicBezTo>
                  <a:pt x="0" y="61647"/>
                  <a:pt x="61647" y="0"/>
                  <a:pt x="13769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222" y="458973"/>
            <a:ext cx="1016782" cy="10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9" b="1" kern="0" spc="39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DYNAMICS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99" y="734357"/>
            <a:ext cx="11674612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Landscape: Brand Distribution &amp; Market Share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4323" y="1252875"/>
            <a:ext cx="6322137" cy="4305655"/>
          </a:xfrm>
          <a:custGeom>
            <a:avLst/>
            <a:gdLst/>
            <a:ahLst/>
            <a:cxnLst/>
            <a:rect l="l" t="t" r="r" b="b"/>
            <a:pathLst>
              <a:path w="6851220" h="5599474">
                <a:moveTo>
                  <a:pt x="100119" y="0"/>
                </a:moveTo>
                <a:lnTo>
                  <a:pt x="6751101" y="0"/>
                </a:lnTo>
                <a:cubicBezTo>
                  <a:pt x="6806395" y="0"/>
                  <a:pt x="6851220" y="44825"/>
                  <a:pt x="6851220" y="100119"/>
                </a:cubicBezTo>
                <a:lnTo>
                  <a:pt x="6851220" y="5499356"/>
                </a:lnTo>
                <a:cubicBezTo>
                  <a:pt x="6851220" y="5554650"/>
                  <a:pt x="6806395" y="5599474"/>
                  <a:pt x="6751101" y="5599474"/>
                </a:cubicBezTo>
                <a:lnTo>
                  <a:pt x="100119" y="5599474"/>
                </a:lnTo>
                <a:cubicBezTo>
                  <a:pt x="44825" y="5599474"/>
                  <a:pt x="0" y="5554650"/>
                  <a:pt x="0" y="5499356"/>
                </a:cubicBezTo>
                <a:lnTo>
                  <a:pt x="0" y="100119"/>
                </a:lnTo>
                <a:cubicBezTo>
                  <a:pt x="0" y="44825"/>
                  <a:pt x="44825" y="0"/>
                  <a:pt x="10011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9043" y="1451244"/>
            <a:ext cx="6584181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Market Share Distribution</a:t>
            </a:r>
            <a:endParaRPr lang="en-US" sz="1600" dirty="0"/>
          </a:p>
        </p:txBody>
      </p:sp>
      <p:pic>
        <p:nvPicPr>
          <p:cNvPr id="9" name="Image 0" descr="https://kimi-img.moonshot.cn/pub/slides/26-02-02-19:33:40-d608n51n4ejt9ck3o5l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9043" y="1825987"/>
            <a:ext cx="5607819" cy="3171088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7334315" y="1239228"/>
            <a:ext cx="4522973" cy="3713511"/>
          </a:xfrm>
          <a:custGeom>
            <a:avLst/>
            <a:gdLst/>
            <a:ahLst/>
            <a:cxnLst/>
            <a:rect l="l" t="t" r="r" b="b"/>
            <a:pathLst>
              <a:path w="4522973" h="3713511">
                <a:moveTo>
                  <a:pt x="100153" y="0"/>
                </a:moveTo>
                <a:lnTo>
                  <a:pt x="4422820" y="0"/>
                </a:lnTo>
                <a:cubicBezTo>
                  <a:pt x="4478133" y="0"/>
                  <a:pt x="4522973" y="44840"/>
                  <a:pt x="4522973" y="100153"/>
                </a:cubicBezTo>
                <a:lnTo>
                  <a:pt x="4522973" y="3613358"/>
                </a:lnTo>
                <a:cubicBezTo>
                  <a:pt x="4522973" y="3668671"/>
                  <a:pt x="4478133" y="3713511"/>
                  <a:pt x="4422820" y="3713511"/>
                </a:cubicBezTo>
                <a:lnTo>
                  <a:pt x="100153" y="3713511"/>
                </a:lnTo>
                <a:cubicBezTo>
                  <a:pt x="44840" y="3713511"/>
                  <a:pt x="0" y="3668671"/>
                  <a:pt x="0" y="3613358"/>
                </a:cubicBezTo>
                <a:lnTo>
                  <a:pt x="0" y="100153"/>
                </a:lnTo>
                <a:cubicBezTo>
                  <a:pt x="0" y="44877"/>
                  <a:pt x="44877" y="0"/>
                  <a:pt x="1001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2007" y="1376920"/>
            <a:ext cx="4314349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6 Brands Performance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88697" y="1677339"/>
            <a:ext cx="4230899" cy="500698"/>
          </a:xfrm>
          <a:custGeom>
            <a:avLst/>
            <a:gdLst/>
            <a:ahLst/>
            <a:cxnLst/>
            <a:rect l="l" t="t" r="r" b="b"/>
            <a:pathLst>
              <a:path w="4230899" h="500698">
                <a:moveTo>
                  <a:pt x="33380" y="0"/>
                </a:moveTo>
                <a:lnTo>
                  <a:pt x="4164141" y="0"/>
                </a:lnTo>
                <a:cubicBezTo>
                  <a:pt x="4201011" y="0"/>
                  <a:pt x="4230899" y="29889"/>
                  <a:pt x="4230899" y="66758"/>
                </a:cubicBezTo>
                <a:lnTo>
                  <a:pt x="4230899" y="433940"/>
                </a:lnTo>
                <a:cubicBezTo>
                  <a:pt x="4230899" y="470810"/>
                  <a:pt x="4201011" y="500698"/>
                  <a:pt x="4164141" y="500698"/>
                </a:cubicBezTo>
                <a:lnTo>
                  <a:pt x="33380" y="500698"/>
                </a:lnTo>
                <a:cubicBezTo>
                  <a:pt x="14945" y="500698"/>
                  <a:pt x="0" y="485753"/>
                  <a:pt x="0" y="46731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488697" y="1677339"/>
            <a:ext cx="33380" cy="500698"/>
          </a:xfrm>
          <a:custGeom>
            <a:avLst/>
            <a:gdLst/>
            <a:ahLst/>
            <a:cxnLst/>
            <a:rect l="l" t="t" r="r" b="b"/>
            <a:pathLst>
              <a:path w="33380" h="500698">
                <a:moveTo>
                  <a:pt x="33380" y="0"/>
                </a:moveTo>
                <a:lnTo>
                  <a:pt x="33380" y="0"/>
                </a:lnTo>
                <a:lnTo>
                  <a:pt x="33380" y="500698"/>
                </a:lnTo>
                <a:lnTo>
                  <a:pt x="33380" y="500698"/>
                </a:lnTo>
                <a:cubicBezTo>
                  <a:pt x="14945" y="500698"/>
                  <a:pt x="0" y="485753"/>
                  <a:pt x="0" y="46731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4" name="Text 11"/>
          <p:cNvSpPr/>
          <p:nvPr/>
        </p:nvSpPr>
        <p:spPr>
          <a:xfrm>
            <a:off x="7572147" y="1777478"/>
            <a:ext cx="56745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ASUS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72147" y="1944378"/>
            <a:ext cx="559113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989 models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48208" y="1744099"/>
            <a:ext cx="70097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14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24.9%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81588" y="1977758"/>
            <a:ext cx="667598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Leader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488697" y="2244797"/>
            <a:ext cx="4230899" cy="500698"/>
          </a:xfrm>
          <a:custGeom>
            <a:avLst/>
            <a:gdLst/>
            <a:ahLst/>
            <a:cxnLst/>
            <a:rect l="l" t="t" r="r" b="b"/>
            <a:pathLst>
              <a:path w="4230899" h="500698">
                <a:moveTo>
                  <a:pt x="33380" y="0"/>
                </a:moveTo>
                <a:lnTo>
                  <a:pt x="4164141" y="0"/>
                </a:lnTo>
                <a:cubicBezTo>
                  <a:pt x="4201011" y="0"/>
                  <a:pt x="4230899" y="29889"/>
                  <a:pt x="4230899" y="66758"/>
                </a:cubicBezTo>
                <a:lnTo>
                  <a:pt x="4230899" y="433940"/>
                </a:lnTo>
                <a:cubicBezTo>
                  <a:pt x="4230899" y="470810"/>
                  <a:pt x="4201011" y="500698"/>
                  <a:pt x="4164141" y="500698"/>
                </a:cubicBezTo>
                <a:lnTo>
                  <a:pt x="33380" y="500698"/>
                </a:lnTo>
                <a:cubicBezTo>
                  <a:pt x="14945" y="500698"/>
                  <a:pt x="0" y="485753"/>
                  <a:pt x="0" y="46731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488697" y="2244797"/>
            <a:ext cx="33380" cy="500698"/>
          </a:xfrm>
          <a:custGeom>
            <a:avLst/>
            <a:gdLst/>
            <a:ahLst/>
            <a:cxnLst/>
            <a:rect l="l" t="t" r="r" b="b"/>
            <a:pathLst>
              <a:path w="33380" h="500698">
                <a:moveTo>
                  <a:pt x="33380" y="0"/>
                </a:moveTo>
                <a:lnTo>
                  <a:pt x="33380" y="0"/>
                </a:lnTo>
                <a:lnTo>
                  <a:pt x="33380" y="500698"/>
                </a:lnTo>
                <a:lnTo>
                  <a:pt x="33380" y="500698"/>
                </a:lnTo>
                <a:cubicBezTo>
                  <a:pt x="14945" y="500698"/>
                  <a:pt x="0" y="485753"/>
                  <a:pt x="0" y="46731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20" name="Text 17"/>
          <p:cNvSpPr/>
          <p:nvPr/>
        </p:nvSpPr>
        <p:spPr>
          <a:xfrm>
            <a:off x="7572147" y="2344936"/>
            <a:ext cx="52573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Lenovo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572147" y="2511836"/>
            <a:ext cx="517388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811 models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103503" y="2311556"/>
            <a:ext cx="550768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14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20.4%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136883" y="2545216"/>
            <a:ext cx="517388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#2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488697" y="2812255"/>
            <a:ext cx="4230899" cy="500698"/>
          </a:xfrm>
          <a:custGeom>
            <a:avLst/>
            <a:gdLst/>
            <a:ahLst/>
            <a:cxnLst/>
            <a:rect l="l" t="t" r="r" b="b"/>
            <a:pathLst>
              <a:path w="4230899" h="500698">
                <a:moveTo>
                  <a:pt x="33380" y="0"/>
                </a:moveTo>
                <a:lnTo>
                  <a:pt x="4164141" y="0"/>
                </a:lnTo>
                <a:cubicBezTo>
                  <a:pt x="4201011" y="0"/>
                  <a:pt x="4230899" y="29889"/>
                  <a:pt x="4230899" y="66758"/>
                </a:cubicBezTo>
                <a:lnTo>
                  <a:pt x="4230899" y="433940"/>
                </a:lnTo>
                <a:cubicBezTo>
                  <a:pt x="4230899" y="470810"/>
                  <a:pt x="4201011" y="500698"/>
                  <a:pt x="4164141" y="500698"/>
                </a:cubicBezTo>
                <a:lnTo>
                  <a:pt x="33380" y="500698"/>
                </a:lnTo>
                <a:cubicBezTo>
                  <a:pt x="14945" y="500698"/>
                  <a:pt x="0" y="485753"/>
                  <a:pt x="0" y="46731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488697" y="2812255"/>
            <a:ext cx="33380" cy="500698"/>
          </a:xfrm>
          <a:custGeom>
            <a:avLst/>
            <a:gdLst/>
            <a:ahLst/>
            <a:cxnLst/>
            <a:rect l="l" t="t" r="r" b="b"/>
            <a:pathLst>
              <a:path w="33380" h="500698">
                <a:moveTo>
                  <a:pt x="33380" y="0"/>
                </a:moveTo>
                <a:lnTo>
                  <a:pt x="33380" y="0"/>
                </a:lnTo>
                <a:lnTo>
                  <a:pt x="33380" y="500698"/>
                </a:lnTo>
                <a:lnTo>
                  <a:pt x="33380" y="500698"/>
                </a:lnTo>
                <a:cubicBezTo>
                  <a:pt x="14945" y="500698"/>
                  <a:pt x="0" y="485753"/>
                  <a:pt x="0" y="467318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26" name="Text 23"/>
          <p:cNvSpPr/>
          <p:nvPr/>
        </p:nvSpPr>
        <p:spPr>
          <a:xfrm>
            <a:off x="7572147" y="2912394"/>
            <a:ext cx="57580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572147" y="3079294"/>
            <a:ext cx="567458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803 models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113022" y="2879014"/>
            <a:ext cx="542423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14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20.2%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146401" y="3112674"/>
            <a:ext cx="509043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 #3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88697" y="3379713"/>
            <a:ext cx="4230899" cy="433938"/>
          </a:xfrm>
          <a:custGeom>
            <a:avLst/>
            <a:gdLst/>
            <a:ahLst/>
            <a:cxnLst/>
            <a:rect l="l" t="t" r="r" b="b"/>
            <a:pathLst>
              <a:path w="4230899" h="433938">
                <a:moveTo>
                  <a:pt x="33380" y="0"/>
                </a:moveTo>
                <a:lnTo>
                  <a:pt x="4164138" y="0"/>
                </a:lnTo>
                <a:cubicBezTo>
                  <a:pt x="4201009" y="0"/>
                  <a:pt x="4230899" y="29890"/>
                  <a:pt x="4230899" y="66761"/>
                </a:cubicBezTo>
                <a:lnTo>
                  <a:pt x="4230899" y="367177"/>
                </a:lnTo>
                <a:cubicBezTo>
                  <a:pt x="4230899" y="404048"/>
                  <a:pt x="4201009" y="433938"/>
                  <a:pt x="4164138" y="433938"/>
                </a:cubicBezTo>
                <a:lnTo>
                  <a:pt x="33380" y="433938"/>
                </a:lnTo>
                <a:cubicBezTo>
                  <a:pt x="14957" y="433938"/>
                  <a:pt x="0" y="418981"/>
                  <a:pt x="0" y="4005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488697" y="3379713"/>
            <a:ext cx="33380" cy="433938"/>
          </a:xfrm>
          <a:custGeom>
            <a:avLst/>
            <a:gdLst/>
            <a:ahLst/>
            <a:cxnLst/>
            <a:rect l="l" t="t" r="r" b="b"/>
            <a:pathLst>
              <a:path w="33380" h="433938">
                <a:moveTo>
                  <a:pt x="33380" y="0"/>
                </a:moveTo>
                <a:lnTo>
                  <a:pt x="33380" y="0"/>
                </a:lnTo>
                <a:lnTo>
                  <a:pt x="33380" y="433938"/>
                </a:lnTo>
                <a:lnTo>
                  <a:pt x="33380" y="433938"/>
                </a:lnTo>
                <a:cubicBezTo>
                  <a:pt x="14957" y="433938"/>
                  <a:pt x="0" y="418981"/>
                  <a:pt x="0" y="4005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5F6B7A">
              <a:alpha val="6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572147" y="3446472"/>
            <a:ext cx="56745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Dell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572147" y="3613372"/>
            <a:ext cx="559113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420 models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126713" y="3479852"/>
            <a:ext cx="525733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14" b="1" dirty="0">
                <a:solidFill>
                  <a:srgbClr val="E0E2E5">
                    <a:alpha val="8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10.6%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488697" y="3880411"/>
            <a:ext cx="4230899" cy="433938"/>
          </a:xfrm>
          <a:custGeom>
            <a:avLst/>
            <a:gdLst/>
            <a:ahLst/>
            <a:cxnLst/>
            <a:rect l="l" t="t" r="r" b="b"/>
            <a:pathLst>
              <a:path w="4230899" h="433938">
                <a:moveTo>
                  <a:pt x="33380" y="0"/>
                </a:moveTo>
                <a:lnTo>
                  <a:pt x="4164138" y="0"/>
                </a:lnTo>
                <a:cubicBezTo>
                  <a:pt x="4201009" y="0"/>
                  <a:pt x="4230899" y="29890"/>
                  <a:pt x="4230899" y="66761"/>
                </a:cubicBezTo>
                <a:lnTo>
                  <a:pt x="4230899" y="367177"/>
                </a:lnTo>
                <a:cubicBezTo>
                  <a:pt x="4230899" y="404048"/>
                  <a:pt x="4201009" y="433938"/>
                  <a:pt x="4164138" y="433938"/>
                </a:cubicBezTo>
                <a:lnTo>
                  <a:pt x="33380" y="433938"/>
                </a:lnTo>
                <a:cubicBezTo>
                  <a:pt x="14957" y="433938"/>
                  <a:pt x="0" y="418981"/>
                  <a:pt x="0" y="4005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488697" y="3880411"/>
            <a:ext cx="33380" cy="433938"/>
          </a:xfrm>
          <a:custGeom>
            <a:avLst/>
            <a:gdLst/>
            <a:ahLst/>
            <a:cxnLst/>
            <a:rect l="l" t="t" r="r" b="b"/>
            <a:pathLst>
              <a:path w="33380" h="433938">
                <a:moveTo>
                  <a:pt x="33380" y="0"/>
                </a:moveTo>
                <a:lnTo>
                  <a:pt x="33380" y="0"/>
                </a:lnTo>
                <a:lnTo>
                  <a:pt x="33380" y="433938"/>
                </a:lnTo>
                <a:lnTo>
                  <a:pt x="33380" y="433938"/>
                </a:lnTo>
                <a:cubicBezTo>
                  <a:pt x="14957" y="433938"/>
                  <a:pt x="0" y="418981"/>
                  <a:pt x="0" y="4005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5F6B7A">
              <a:alpha val="4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572147" y="3947170"/>
            <a:ext cx="55911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Acer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572147" y="4114070"/>
            <a:ext cx="550768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322 models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30633" y="3980550"/>
            <a:ext cx="425593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14" b="1" dirty="0">
                <a:solidFill>
                  <a:srgbClr val="E0E2E5">
                    <a:alpha val="6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8.1%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488697" y="4381109"/>
            <a:ext cx="4230899" cy="433938"/>
          </a:xfrm>
          <a:custGeom>
            <a:avLst/>
            <a:gdLst/>
            <a:ahLst/>
            <a:cxnLst/>
            <a:rect l="l" t="t" r="r" b="b"/>
            <a:pathLst>
              <a:path w="4230899" h="433938">
                <a:moveTo>
                  <a:pt x="33380" y="0"/>
                </a:moveTo>
                <a:lnTo>
                  <a:pt x="4164138" y="0"/>
                </a:lnTo>
                <a:cubicBezTo>
                  <a:pt x="4201009" y="0"/>
                  <a:pt x="4230899" y="29890"/>
                  <a:pt x="4230899" y="66761"/>
                </a:cubicBezTo>
                <a:lnTo>
                  <a:pt x="4230899" y="367177"/>
                </a:lnTo>
                <a:cubicBezTo>
                  <a:pt x="4230899" y="404048"/>
                  <a:pt x="4201009" y="433938"/>
                  <a:pt x="4164138" y="433938"/>
                </a:cubicBezTo>
                <a:lnTo>
                  <a:pt x="33380" y="433938"/>
                </a:lnTo>
                <a:cubicBezTo>
                  <a:pt x="14957" y="433938"/>
                  <a:pt x="0" y="418981"/>
                  <a:pt x="0" y="4005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7488697" y="4381109"/>
            <a:ext cx="33380" cy="433938"/>
          </a:xfrm>
          <a:custGeom>
            <a:avLst/>
            <a:gdLst/>
            <a:ahLst/>
            <a:cxnLst/>
            <a:rect l="l" t="t" r="r" b="b"/>
            <a:pathLst>
              <a:path w="33380" h="433938">
                <a:moveTo>
                  <a:pt x="33380" y="0"/>
                </a:moveTo>
                <a:lnTo>
                  <a:pt x="33380" y="0"/>
                </a:lnTo>
                <a:lnTo>
                  <a:pt x="33380" y="433938"/>
                </a:lnTo>
                <a:lnTo>
                  <a:pt x="33380" y="433938"/>
                </a:lnTo>
                <a:cubicBezTo>
                  <a:pt x="14957" y="433938"/>
                  <a:pt x="0" y="418981"/>
                  <a:pt x="0" y="400559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7572147" y="4447869"/>
            <a:ext cx="54242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MSI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572147" y="4614768"/>
            <a:ext cx="534078" cy="1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316 models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210684" y="4481248"/>
            <a:ext cx="442283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14" b="1" dirty="0">
                <a:solidFill>
                  <a:srgbClr val="E0E2E5">
                    <a:alpha val="5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7.9%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334315" y="5061224"/>
            <a:ext cx="4522973" cy="1143261"/>
          </a:xfrm>
          <a:custGeom>
            <a:avLst/>
            <a:gdLst/>
            <a:ahLst/>
            <a:cxnLst/>
            <a:rect l="l" t="t" r="r" b="b"/>
            <a:pathLst>
              <a:path w="4522973" h="1143261">
                <a:moveTo>
                  <a:pt x="100138" y="0"/>
                </a:moveTo>
                <a:lnTo>
                  <a:pt x="4422835" y="0"/>
                </a:lnTo>
                <a:cubicBezTo>
                  <a:pt x="4478140" y="0"/>
                  <a:pt x="4522973" y="44833"/>
                  <a:pt x="4522973" y="100138"/>
                </a:cubicBezTo>
                <a:lnTo>
                  <a:pt x="4522973" y="1043123"/>
                </a:lnTo>
                <a:cubicBezTo>
                  <a:pt x="4522973" y="1098427"/>
                  <a:pt x="4478140" y="1143261"/>
                  <a:pt x="4422835" y="1143261"/>
                </a:cubicBezTo>
                <a:lnTo>
                  <a:pt x="100138" y="1143261"/>
                </a:lnTo>
                <a:cubicBezTo>
                  <a:pt x="44833" y="1143261"/>
                  <a:pt x="0" y="1098427"/>
                  <a:pt x="0" y="1043123"/>
                </a:cubicBezTo>
                <a:lnTo>
                  <a:pt x="0" y="100138"/>
                </a:lnTo>
                <a:cubicBezTo>
                  <a:pt x="0" y="44870"/>
                  <a:pt x="44870" y="0"/>
                  <a:pt x="10013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72007" y="5198916"/>
            <a:ext cx="4306004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Concentration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472007" y="5432575"/>
            <a:ext cx="65925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3 Share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405878" y="5432575"/>
            <a:ext cx="375524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65.5%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472007" y="5666234"/>
            <a:ext cx="56745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HHI Index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1475637" y="5666234"/>
            <a:ext cx="300419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1,847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472007" y="5899893"/>
            <a:ext cx="684287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1230503" y="5899893"/>
            <a:ext cx="55076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337971" y="6950838"/>
            <a:ext cx="11516057" cy="542423"/>
          </a:xfrm>
          <a:custGeom>
            <a:avLst/>
            <a:gdLst/>
            <a:ahLst/>
            <a:cxnLst/>
            <a:rect l="l" t="t" r="r" b="b"/>
            <a:pathLst>
              <a:path w="11516057" h="542423">
                <a:moveTo>
                  <a:pt x="66761" y="0"/>
                </a:moveTo>
                <a:lnTo>
                  <a:pt x="11449296" y="0"/>
                </a:lnTo>
                <a:cubicBezTo>
                  <a:pt x="11486167" y="0"/>
                  <a:pt x="11516057" y="29890"/>
                  <a:pt x="11516057" y="66761"/>
                </a:cubicBezTo>
                <a:lnTo>
                  <a:pt x="11516057" y="475662"/>
                </a:lnTo>
                <a:cubicBezTo>
                  <a:pt x="11516057" y="512533"/>
                  <a:pt x="11486167" y="542423"/>
                  <a:pt x="11449296" y="542423"/>
                </a:cubicBezTo>
                <a:lnTo>
                  <a:pt x="66761" y="542423"/>
                </a:lnTo>
                <a:cubicBezTo>
                  <a:pt x="29915" y="542423"/>
                  <a:pt x="0" y="512508"/>
                  <a:pt x="0" y="475662"/>
                </a:cubicBezTo>
                <a:lnTo>
                  <a:pt x="0" y="66761"/>
                </a:lnTo>
                <a:cubicBezTo>
                  <a:pt x="0" y="29915"/>
                  <a:pt x="29915" y="0"/>
                  <a:pt x="66761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79836" y="7138600"/>
            <a:ext cx="125175" cy="166899"/>
          </a:xfrm>
          <a:custGeom>
            <a:avLst/>
            <a:gdLst/>
            <a:ahLst/>
            <a:cxnLst/>
            <a:rect l="l" t="t" r="r" b="b"/>
            <a:pathLst>
              <a:path w="125175" h="166899">
                <a:moveTo>
                  <a:pt x="95478" y="125175"/>
                </a:moveTo>
                <a:cubicBezTo>
                  <a:pt x="97858" y="117905"/>
                  <a:pt x="102617" y="111321"/>
                  <a:pt x="107996" y="105649"/>
                </a:cubicBezTo>
                <a:cubicBezTo>
                  <a:pt x="118655" y="94435"/>
                  <a:pt x="125175" y="79277"/>
                  <a:pt x="125175" y="62587"/>
                </a:cubicBezTo>
                <a:cubicBezTo>
                  <a:pt x="125175" y="28034"/>
                  <a:pt x="97141" y="0"/>
                  <a:pt x="62587" y="0"/>
                </a:cubicBezTo>
                <a:cubicBezTo>
                  <a:pt x="28034" y="0"/>
                  <a:pt x="0" y="28034"/>
                  <a:pt x="0" y="62587"/>
                </a:cubicBezTo>
                <a:cubicBezTo>
                  <a:pt x="0" y="79277"/>
                  <a:pt x="6520" y="94435"/>
                  <a:pt x="17179" y="105649"/>
                </a:cubicBezTo>
                <a:cubicBezTo>
                  <a:pt x="22557" y="111321"/>
                  <a:pt x="27349" y="117905"/>
                  <a:pt x="29696" y="125175"/>
                </a:cubicBezTo>
                <a:lnTo>
                  <a:pt x="95446" y="125175"/>
                </a:lnTo>
                <a:close/>
                <a:moveTo>
                  <a:pt x="93881" y="140821"/>
                </a:moveTo>
                <a:lnTo>
                  <a:pt x="31294" y="140821"/>
                </a:lnTo>
                <a:lnTo>
                  <a:pt x="31294" y="146037"/>
                </a:lnTo>
                <a:cubicBezTo>
                  <a:pt x="31294" y="160445"/>
                  <a:pt x="42964" y="172115"/>
                  <a:pt x="57372" y="172115"/>
                </a:cubicBezTo>
                <a:lnTo>
                  <a:pt x="67803" y="172115"/>
                </a:lnTo>
                <a:cubicBezTo>
                  <a:pt x="82211" y="172115"/>
                  <a:pt x="93881" y="160445"/>
                  <a:pt x="93881" y="146037"/>
                </a:cubicBezTo>
                <a:lnTo>
                  <a:pt x="93881" y="140821"/>
                </a:lnTo>
                <a:close/>
                <a:moveTo>
                  <a:pt x="59979" y="36509"/>
                </a:moveTo>
                <a:cubicBezTo>
                  <a:pt x="47006" y="36509"/>
                  <a:pt x="36509" y="47006"/>
                  <a:pt x="36509" y="59979"/>
                </a:cubicBezTo>
                <a:cubicBezTo>
                  <a:pt x="36509" y="64315"/>
                  <a:pt x="33021" y="67803"/>
                  <a:pt x="28686" y="67803"/>
                </a:cubicBezTo>
                <a:cubicBezTo>
                  <a:pt x="24350" y="67803"/>
                  <a:pt x="20862" y="64315"/>
                  <a:pt x="20862" y="59979"/>
                </a:cubicBezTo>
                <a:cubicBezTo>
                  <a:pt x="20862" y="38367"/>
                  <a:pt x="38367" y="20862"/>
                  <a:pt x="59979" y="20862"/>
                </a:cubicBezTo>
                <a:cubicBezTo>
                  <a:pt x="64315" y="20862"/>
                  <a:pt x="67803" y="24350"/>
                  <a:pt x="67803" y="28686"/>
                </a:cubicBezTo>
                <a:cubicBezTo>
                  <a:pt x="67803" y="33021"/>
                  <a:pt x="64315" y="36509"/>
                  <a:pt x="59979" y="3650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5" name="Text 52"/>
          <p:cNvSpPr/>
          <p:nvPr/>
        </p:nvSpPr>
        <p:spPr>
          <a:xfrm>
            <a:off x="741790" y="7055150"/>
            <a:ext cx="11065429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92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ASUS dominates with diverse portfolio spanning gaming (ROG), premium (ZenBook), and budget (VivoBook) segments. Lenovo and HP maintain strong positions through enterprise and consumer channels respectively.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0407" y="330407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0169" y="379967"/>
            <a:ext cx="247805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4065" y="359317"/>
            <a:ext cx="1098602" cy="272585"/>
          </a:xfrm>
          <a:custGeom>
            <a:avLst/>
            <a:gdLst/>
            <a:ahLst/>
            <a:cxnLst/>
            <a:rect l="l" t="t" r="r" b="b"/>
            <a:pathLst>
              <a:path w="1098602" h="272585">
                <a:moveTo>
                  <a:pt x="136293" y="0"/>
                </a:moveTo>
                <a:lnTo>
                  <a:pt x="962309" y="0"/>
                </a:lnTo>
                <a:cubicBezTo>
                  <a:pt x="1037581" y="0"/>
                  <a:pt x="1098602" y="61020"/>
                  <a:pt x="1098602" y="136293"/>
                </a:cubicBezTo>
                <a:lnTo>
                  <a:pt x="1098602" y="136293"/>
                </a:lnTo>
                <a:cubicBezTo>
                  <a:pt x="1098602" y="211565"/>
                  <a:pt x="1037581" y="272585"/>
                  <a:pt x="962309" y="272585"/>
                </a:cubicBezTo>
                <a:lnTo>
                  <a:pt x="136293" y="272585"/>
                </a:lnTo>
                <a:cubicBezTo>
                  <a:pt x="61071" y="272585"/>
                  <a:pt x="0" y="211515"/>
                  <a:pt x="0" y="136293"/>
                </a:cubicBezTo>
                <a:lnTo>
                  <a:pt x="0" y="136293"/>
                </a:lnTo>
                <a:cubicBezTo>
                  <a:pt x="0" y="61071"/>
                  <a:pt x="61071" y="0"/>
                  <a:pt x="136293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7317" y="454309"/>
            <a:ext cx="941142" cy="107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b="1" kern="0" spc="39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INSIGHTS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0407" y="726894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Distribution Analysis: Market Segmentation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4537" y="1226634"/>
            <a:ext cx="5674732" cy="2981919"/>
          </a:xfrm>
          <a:custGeom>
            <a:avLst/>
            <a:gdLst/>
            <a:ahLst/>
            <a:cxnLst/>
            <a:rect l="l" t="t" r="r" b="b"/>
            <a:pathLst>
              <a:path w="5674732" h="2981919">
                <a:moveTo>
                  <a:pt x="99119" y="0"/>
                </a:moveTo>
                <a:lnTo>
                  <a:pt x="5575613" y="0"/>
                </a:lnTo>
                <a:cubicBezTo>
                  <a:pt x="5630355" y="0"/>
                  <a:pt x="5674732" y="44377"/>
                  <a:pt x="5674732" y="99119"/>
                </a:cubicBezTo>
                <a:lnTo>
                  <a:pt x="5674732" y="2882800"/>
                </a:lnTo>
                <a:cubicBezTo>
                  <a:pt x="5674732" y="2937542"/>
                  <a:pt x="5630355" y="2981919"/>
                  <a:pt x="5575613" y="2981919"/>
                </a:cubicBezTo>
                <a:lnTo>
                  <a:pt x="99119" y="2981919"/>
                </a:lnTo>
                <a:cubicBezTo>
                  <a:pt x="44377" y="2981919"/>
                  <a:pt x="0" y="2937542"/>
                  <a:pt x="0" y="2882800"/>
                </a:cubicBezTo>
                <a:lnTo>
                  <a:pt x="0" y="99119"/>
                </a:lnTo>
                <a:cubicBezTo>
                  <a:pt x="0" y="44414"/>
                  <a:pt x="44414" y="0"/>
                  <a:pt x="9911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3870" y="1395967"/>
            <a:ext cx="5410407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Distribution Histogram</a:t>
            </a:r>
            <a:endParaRPr lang="en-US" sz="1600" dirty="0"/>
          </a:p>
        </p:txBody>
      </p:sp>
      <p:pic>
        <p:nvPicPr>
          <p:cNvPr id="9" name="Image 0" descr="https://kimi-img.moonshot.cn/pub/slides/26-02-02-19:33:41-d608n5asc5cmt5k48nb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870" y="1726374"/>
            <a:ext cx="4526569" cy="2312846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34537" y="4348976"/>
            <a:ext cx="5674732" cy="1858537"/>
          </a:xfrm>
          <a:custGeom>
            <a:avLst/>
            <a:gdLst/>
            <a:ahLst/>
            <a:cxnLst/>
            <a:rect l="l" t="t" r="r" b="b"/>
            <a:pathLst>
              <a:path w="5674732" h="1858537">
                <a:moveTo>
                  <a:pt x="99116" y="0"/>
                </a:moveTo>
                <a:lnTo>
                  <a:pt x="5575616" y="0"/>
                </a:lnTo>
                <a:cubicBezTo>
                  <a:pt x="5630356" y="0"/>
                  <a:pt x="5674732" y="44376"/>
                  <a:pt x="5674732" y="99116"/>
                </a:cubicBezTo>
                <a:lnTo>
                  <a:pt x="5674732" y="1759421"/>
                </a:lnTo>
                <a:cubicBezTo>
                  <a:pt x="5674732" y="1814161"/>
                  <a:pt x="5630356" y="1858537"/>
                  <a:pt x="5575616" y="1858537"/>
                </a:cubicBezTo>
                <a:lnTo>
                  <a:pt x="99116" y="1858537"/>
                </a:lnTo>
                <a:cubicBezTo>
                  <a:pt x="44376" y="1858537"/>
                  <a:pt x="0" y="1814161"/>
                  <a:pt x="0" y="1759421"/>
                </a:cubicBezTo>
                <a:lnTo>
                  <a:pt x="0" y="99116"/>
                </a:lnTo>
                <a:cubicBezTo>
                  <a:pt x="0" y="44412"/>
                  <a:pt x="44412" y="0"/>
                  <a:pt x="99116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829" y="4485268"/>
            <a:ext cx="546822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Summary (₹)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0829" y="4782634"/>
            <a:ext cx="2651512" cy="594732"/>
          </a:xfrm>
          <a:custGeom>
            <a:avLst/>
            <a:gdLst/>
            <a:ahLst/>
            <a:cxnLst/>
            <a:rect l="l" t="t" r="r" b="b"/>
            <a:pathLst>
              <a:path w="2651512" h="594732">
                <a:moveTo>
                  <a:pt x="66081" y="0"/>
                </a:moveTo>
                <a:lnTo>
                  <a:pt x="2585432" y="0"/>
                </a:lnTo>
                <a:cubicBezTo>
                  <a:pt x="2621927" y="0"/>
                  <a:pt x="2651512" y="29585"/>
                  <a:pt x="2651512" y="66081"/>
                </a:cubicBezTo>
                <a:lnTo>
                  <a:pt x="2651512" y="528651"/>
                </a:lnTo>
                <a:cubicBezTo>
                  <a:pt x="2651512" y="565146"/>
                  <a:pt x="2621927" y="594732"/>
                  <a:pt x="2585432" y="594732"/>
                </a:cubicBezTo>
                <a:lnTo>
                  <a:pt x="66081" y="594732"/>
                </a:lnTo>
                <a:cubicBezTo>
                  <a:pt x="29585" y="594732"/>
                  <a:pt x="0" y="565146"/>
                  <a:pt x="0" y="528651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20390" y="4881756"/>
            <a:ext cx="2552390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1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72,433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5171" y="5146081"/>
            <a:ext cx="2502829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20431" y="4782634"/>
            <a:ext cx="2651512" cy="594732"/>
          </a:xfrm>
          <a:custGeom>
            <a:avLst/>
            <a:gdLst/>
            <a:ahLst/>
            <a:cxnLst/>
            <a:rect l="l" t="t" r="r" b="b"/>
            <a:pathLst>
              <a:path w="2651512" h="594732">
                <a:moveTo>
                  <a:pt x="66081" y="0"/>
                </a:moveTo>
                <a:lnTo>
                  <a:pt x="2585432" y="0"/>
                </a:lnTo>
                <a:cubicBezTo>
                  <a:pt x="2621927" y="0"/>
                  <a:pt x="2651512" y="29585"/>
                  <a:pt x="2651512" y="66081"/>
                </a:cubicBezTo>
                <a:lnTo>
                  <a:pt x="2651512" y="528651"/>
                </a:lnTo>
                <a:cubicBezTo>
                  <a:pt x="2651512" y="565146"/>
                  <a:pt x="2621927" y="594732"/>
                  <a:pt x="2585432" y="594732"/>
                </a:cubicBezTo>
                <a:lnTo>
                  <a:pt x="66081" y="594732"/>
                </a:lnTo>
                <a:cubicBezTo>
                  <a:pt x="29585" y="594732"/>
                  <a:pt x="0" y="565146"/>
                  <a:pt x="0" y="528651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269992" y="4881756"/>
            <a:ext cx="2552390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1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58,990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94772" y="5146081"/>
            <a:ext cx="2502829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0829" y="5476488"/>
            <a:ext cx="2651512" cy="594732"/>
          </a:xfrm>
          <a:custGeom>
            <a:avLst/>
            <a:gdLst/>
            <a:ahLst/>
            <a:cxnLst/>
            <a:rect l="l" t="t" r="r" b="b"/>
            <a:pathLst>
              <a:path w="2651512" h="594732">
                <a:moveTo>
                  <a:pt x="66081" y="0"/>
                </a:moveTo>
                <a:lnTo>
                  <a:pt x="2585432" y="0"/>
                </a:lnTo>
                <a:cubicBezTo>
                  <a:pt x="2621927" y="0"/>
                  <a:pt x="2651512" y="29585"/>
                  <a:pt x="2651512" y="66081"/>
                </a:cubicBezTo>
                <a:lnTo>
                  <a:pt x="2651512" y="528651"/>
                </a:lnTo>
                <a:cubicBezTo>
                  <a:pt x="2651512" y="565146"/>
                  <a:pt x="2621927" y="594732"/>
                  <a:pt x="2585432" y="594732"/>
                </a:cubicBezTo>
                <a:lnTo>
                  <a:pt x="66081" y="594732"/>
                </a:lnTo>
                <a:cubicBezTo>
                  <a:pt x="29585" y="594732"/>
                  <a:pt x="0" y="565146"/>
                  <a:pt x="0" y="528651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20390" y="5575610"/>
            <a:ext cx="2552390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1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52,208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5171" y="5839935"/>
            <a:ext cx="2502829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 Dev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220431" y="5476488"/>
            <a:ext cx="2651512" cy="594732"/>
          </a:xfrm>
          <a:custGeom>
            <a:avLst/>
            <a:gdLst/>
            <a:ahLst/>
            <a:cxnLst/>
            <a:rect l="l" t="t" r="r" b="b"/>
            <a:pathLst>
              <a:path w="2651512" h="594732">
                <a:moveTo>
                  <a:pt x="66081" y="0"/>
                </a:moveTo>
                <a:lnTo>
                  <a:pt x="2585432" y="0"/>
                </a:lnTo>
                <a:cubicBezTo>
                  <a:pt x="2621927" y="0"/>
                  <a:pt x="2651512" y="29585"/>
                  <a:pt x="2651512" y="66081"/>
                </a:cubicBezTo>
                <a:lnTo>
                  <a:pt x="2651512" y="528651"/>
                </a:lnTo>
                <a:cubicBezTo>
                  <a:pt x="2651512" y="565146"/>
                  <a:pt x="2621927" y="594732"/>
                  <a:pt x="2585432" y="594732"/>
                </a:cubicBezTo>
                <a:lnTo>
                  <a:pt x="66081" y="594732"/>
                </a:lnTo>
                <a:cubicBezTo>
                  <a:pt x="29585" y="594732"/>
                  <a:pt x="0" y="565146"/>
                  <a:pt x="0" y="528651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269992" y="5575610"/>
            <a:ext cx="2552390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1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495,900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294772" y="5839935"/>
            <a:ext cx="2502829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80796" y="1226634"/>
            <a:ext cx="5674732" cy="4700033"/>
          </a:xfrm>
          <a:custGeom>
            <a:avLst/>
            <a:gdLst/>
            <a:ahLst/>
            <a:cxnLst/>
            <a:rect l="l" t="t" r="r" b="b"/>
            <a:pathLst>
              <a:path w="5674732" h="4700033">
                <a:moveTo>
                  <a:pt x="99124" y="0"/>
                </a:moveTo>
                <a:lnTo>
                  <a:pt x="5575608" y="0"/>
                </a:lnTo>
                <a:cubicBezTo>
                  <a:pt x="5630353" y="0"/>
                  <a:pt x="5674732" y="44379"/>
                  <a:pt x="5674732" y="99124"/>
                </a:cubicBezTo>
                <a:lnTo>
                  <a:pt x="5674732" y="4600909"/>
                </a:lnTo>
                <a:cubicBezTo>
                  <a:pt x="5674732" y="4655653"/>
                  <a:pt x="5630353" y="4700033"/>
                  <a:pt x="5575608" y="4700033"/>
                </a:cubicBezTo>
                <a:lnTo>
                  <a:pt x="99124" y="4700033"/>
                </a:lnTo>
                <a:cubicBezTo>
                  <a:pt x="44379" y="4700033"/>
                  <a:pt x="0" y="4655653"/>
                  <a:pt x="0" y="4600909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0129" y="1395967"/>
            <a:ext cx="5410407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Segments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66649" y="1759415"/>
            <a:ext cx="5319545" cy="925138"/>
          </a:xfrm>
          <a:custGeom>
            <a:avLst/>
            <a:gdLst/>
            <a:ahLst/>
            <a:cxnLst/>
            <a:rect l="l" t="t" r="r" b="b"/>
            <a:pathLst>
              <a:path w="5319545" h="925138">
                <a:moveTo>
                  <a:pt x="33041" y="0"/>
                </a:moveTo>
                <a:lnTo>
                  <a:pt x="5253462" y="0"/>
                </a:lnTo>
                <a:cubicBezTo>
                  <a:pt x="5289959" y="0"/>
                  <a:pt x="5319545" y="29586"/>
                  <a:pt x="5319545" y="66083"/>
                </a:cubicBezTo>
                <a:lnTo>
                  <a:pt x="5319545" y="859056"/>
                </a:lnTo>
                <a:cubicBezTo>
                  <a:pt x="5319545" y="895552"/>
                  <a:pt x="5289959" y="925138"/>
                  <a:pt x="5253462" y="925138"/>
                </a:cubicBezTo>
                <a:lnTo>
                  <a:pt x="33041" y="925138"/>
                </a:lnTo>
                <a:cubicBezTo>
                  <a:pt x="14793" y="925138"/>
                  <a:pt x="0" y="910345"/>
                  <a:pt x="0" y="89209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6366649" y="1759415"/>
            <a:ext cx="33041" cy="925138"/>
          </a:xfrm>
          <a:custGeom>
            <a:avLst/>
            <a:gdLst/>
            <a:ahLst/>
            <a:cxnLst/>
            <a:rect l="l" t="t" r="r" b="b"/>
            <a:pathLst>
              <a:path w="33041" h="925138">
                <a:moveTo>
                  <a:pt x="33041" y="0"/>
                </a:moveTo>
                <a:lnTo>
                  <a:pt x="33041" y="0"/>
                </a:lnTo>
                <a:lnTo>
                  <a:pt x="33041" y="925138"/>
                </a:lnTo>
                <a:lnTo>
                  <a:pt x="33041" y="925138"/>
                </a:lnTo>
                <a:cubicBezTo>
                  <a:pt x="14793" y="925138"/>
                  <a:pt x="0" y="910345"/>
                  <a:pt x="0" y="89209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28" name="Text 25"/>
          <p:cNvSpPr/>
          <p:nvPr/>
        </p:nvSpPr>
        <p:spPr>
          <a:xfrm>
            <a:off x="6515332" y="1908098"/>
            <a:ext cx="999480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Segment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083331" y="1891577"/>
            <a:ext cx="54517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&lt; ₹40K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15332" y="2188943"/>
            <a:ext cx="5096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Entry-level laptops for basic computing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15332" y="2420228"/>
            <a:ext cx="66907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 of market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971303" y="2420228"/>
            <a:ext cx="627772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Avg: ₹28,500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66649" y="2783675"/>
            <a:ext cx="5319545" cy="925138"/>
          </a:xfrm>
          <a:custGeom>
            <a:avLst/>
            <a:gdLst/>
            <a:ahLst/>
            <a:cxnLst/>
            <a:rect l="l" t="t" r="r" b="b"/>
            <a:pathLst>
              <a:path w="5319545" h="925138">
                <a:moveTo>
                  <a:pt x="33041" y="0"/>
                </a:moveTo>
                <a:lnTo>
                  <a:pt x="5253462" y="0"/>
                </a:lnTo>
                <a:cubicBezTo>
                  <a:pt x="5289959" y="0"/>
                  <a:pt x="5319545" y="29586"/>
                  <a:pt x="5319545" y="66083"/>
                </a:cubicBezTo>
                <a:lnTo>
                  <a:pt x="5319545" y="859056"/>
                </a:lnTo>
                <a:cubicBezTo>
                  <a:pt x="5319545" y="895552"/>
                  <a:pt x="5289959" y="925138"/>
                  <a:pt x="5253462" y="925138"/>
                </a:cubicBezTo>
                <a:lnTo>
                  <a:pt x="33041" y="925138"/>
                </a:lnTo>
                <a:cubicBezTo>
                  <a:pt x="14793" y="925138"/>
                  <a:pt x="0" y="910345"/>
                  <a:pt x="0" y="89209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4" name="Shape 31"/>
          <p:cNvSpPr/>
          <p:nvPr/>
        </p:nvSpPr>
        <p:spPr>
          <a:xfrm>
            <a:off x="6366649" y="2783675"/>
            <a:ext cx="33041" cy="925138"/>
          </a:xfrm>
          <a:custGeom>
            <a:avLst/>
            <a:gdLst/>
            <a:ahLst/>
            <a:cxnLst/>
            <a:rect l="l" t="t" r="r" b="b"/>
            <a:pathLst>
              <a:path w="33041" h="925138">
                <a:moveTo>
                  <a:pt x="33041" y="0"/>
                </a:moveTo>
                <a:lnTo>
                  <a:pt x="33041" y="0"/>
                </a:lnTo>
                <a:lnTo>
                  <a:pt x="33041" y="925138"/>
                </a:lnTo>
                <a:lnTo>
                  <a:pt x="33041" y="925138"/>
                </a:lnTo>
                <a:cubicBezTo>
                  <a:pt x="14793" y="925138"/>
                  <a:pt x="0" y="910345"/>
                  <a:pt x="0" y="89209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5" name="Text 32"/>
          <p:cNvSpPr/>
          <p:nvPr/>
        </p:nvSpPr>
        <p:spPr>
          <a:xfrm>
            <a:off x="6515332" y="2932358"/>
            <a:ext cx="123902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Mid-Range Segment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811520" y="2915837"/>
            <a:ext cx="817756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₹40K - 80K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515332" y="3213203"/>
            <a:ext cx="5096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performance for professionals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515332" y="3444488"/>
            <a:ext cx="67733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of market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0971303" y="3444488"/>
            <a:ext cx="627772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Avg: ₹58,200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66649" y="3807935"/>
            <a:ext cx="5319545" cy="925138"/>
          </a:xfrm>
          <a:custGeom>
            <a:avLst/>
            <a:gdLst/>
            <a:ahLst/>
            <a:cxnLst/>
            <a:rect l="l" t="t" r="r" b="b"/>
            <a:pathLst>
              <a:path w="5319545" h="925138">
                <a:moveTo>
                  <a:pt x="33041" y="0"/>
                </a:moveTo>
                <a:lnTo>
                  <a:pt x="5253462" y="0"/>
                </a:lnTo>
                <a:cubicBezTo>
                  <a:pt x="5289959" y="0"/>
                  <a:pt x="5319545" y="29586"/>
                  <a:pt x="5319545" y="66083"/>
                </a:cubicBezTo>
                <a:lnTo>
                  <a:pt x="5319545" y="859056"/>
                </a:lnTo>
                <a:cubicBezTo>
                  <a:pt x="5319545" y="895552"/>
                  <a:pt x="5289959" y="925138"/>
                  <a:pt x="5253462" y="925138"/>
                </a:cubicBezTo>
                <a:lnTo>
                  <a:pt x="33041" y="925138"/>
                </a:lnTo>
                <a:cubicBezTo>
                  <a:pt x="14793" y="925138"/>
                  <a:pt x="0" y="910345"/>
                  <a:pt x="0" y="89209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B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1" name="Shape 38"/>
          <p:cNvSpPr/>
          <p:nvPr/>
        </p:nvSpPr>
        <p:spPr>
          <a:xfrm>
            <a:off x="6366649" y="3807935"/>
            <a:ext cx="33041" cy="925138"/>
          </a:xfrm>
          <a:custGeom>
            <a:avLst/>
            <a:gdLst/>
            <a:ahLst/>
            <a:cxnLst/>
            <a:rect l="l" t="t" r="r" b="b"/>
            <a:pathLst>
              <a:path w="33041" h="925138">
                <a:moveTo>
                  <a:pt x="33041" y="0"/>
                </a:moveTo>
                <a:lnTo>
                  <a:pt x="33041" y="0"/>
                </a:lnTo>
                <a:lnTo>
                  <a:pt x="33041" y="925138"/>
                </a:lnTo>
                <a:lnTo>
                  <a:pt x="33041" y="925138"/>
                </a:lnTo>
                <a:cubicBezTo>
                  <a:pt x="14793" y="925138"/>
                  <a:pt x="0" y="910345"/>
                  <a:pt x="0" y="89209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2" name="Text 39"/>
          <p:cNvSpPr/>
          <p:nvPr/>
        </p:nvSpPr>
        <p:spPr>
          <a:xfrm>
            <a:off x="6515332" y="3956618"/>
            <a:ext cx="111512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Segment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757958" y="3940098"/>
            <a:ext cx="867317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₹80K - 150K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15332" y="4237463"/>
            <a:ext cx="5096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gaming &amp; creative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515332" y="4468748"/>
            <a:ext cx="66907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 of market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0928970" y="4468748"/>
            <a:ext cx="66907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Avg: ₹108,400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66649" y="4832195"/>
            <a:ext cx="5319545" cy="925138"/>
          </a:xfrm>
          <a:custGeom>
            <a:avLst/>
            <a:gdLst/>
            <a:ahLst/>
            <a:cxnLst/>
            <a:rect l="l" t="t" r="r" b="b"/>
            <a:pathLst>
              <a:path w="5319545" h="925138">
                <a:moveTo>
                  <a:pt x="33041" y="0"/>
                </a:moveTo>
                <a:lnTo>
                  <a:pt x="5253462" y="0"/>
                </a:lnTo>
                <a:cubicBezTo>
                  <a:pt x="5289959" y="0"/>
                  <a:pt x="5319545" y="29586"/>
                  <a:pt x="5319545" y="66083"/>
                </a:cubicBezTo>
                <a:lnTo>
                  <a:pt x="5319545" y="859056"/>
                </a:lnTo>
                <a:cubicBezTo>
                  <a:pt x="5319545" y="895552"/>
                  <a:pt x="5289959" y="925138"/>
                  <a:pt x="5253462" y="925138"/>
                </a:cubicBezTo>
                <a:lnTo>
                  <a:pt x="33041" y="925138"/>
                </a:lnTo>
                <a:cubicBezTo>
                  <a:pt x="14793" y="925138"/>
                  <a:pt x="0" y="910345"/>
                  <a:pt x="0" y="89209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8" name="Shape 45"/>
          <p:cNvSpPr/>
          <p:nvPr/>
        </p:nvSpPr>
        <p:spPr>
          <a:xfrm>
            <a:off x="6366649" y="4832195"/>
            <a:ext cx="33041" cy="925138"/>
          </a:xfrm>
          <a:custGeom>
            <a:avLst/>
            <a:gdLst/>
            <a:ahLst/>
            <a:cxnLst/>
            <a:rect l="l" t="t" r="r" b="b"/>
            <a:pathLst>
              <a:path w="33041" h="925138">
                <a:moveTo>
                  <a:pt x="33041" y="0"/>
                </a:moveTo>
                <a:lnTo>
                  <a:pt x="33041" y="0"/>
                </a:lnTo>
                <a:lnTo>
                  <a:pt x="33041" y="925138"/>
                </a:lnTo>
                <a:lnTo>
                  <a:pt x="33041" y="925138"/>
                </a:lnTo>
                <a:cubicBezTo>
                  <a:pt x="14793" y="925138"/>
                  <a:pt x="0" y="910345"/>
                  <a:pt x="0" y="892098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49" name="Text 46"/>
          <p:cNvSpPr/>
          <p:nvPr/>
        </p:nvSpPr>
        <p:spPr>
          <a:xfrm>
            <a:off x="6515332" y="4980878"/>
            <a:ext cx="92513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Ultra-Premium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1029769" y="4964358"/>
            <a:ext cx="59473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&gt; ₹150K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515332" y="5261724"/>
            <a:ext cx="5096520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Flagship gaming &amp; workstation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515332" y="5493008"/>
            <a:ext cx="66081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of market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0921613" y="5493008"/>
            <a:ext cx="677333" cy="132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Avg: ₹245,600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334537" y="7006683"/>
            <a:ext cx="11522927" cy="371707"/>
          </a:xfrm>
          <a:custGeom>
            <a:avLst/>
            <a:gdLst/>
            <a:ahLst/>
            <a:cxnLst/>
            <a:rect l="l" t="t" r="r" b="b"/>
            <a:pathLst>
              <a:path w="11522927" h="371707">
                <a:moveTo>
                  <a:pt x="66082" y="0"/>
                </a:moveTo>
                <a:lnTo>
                  <a:pt x="11456845" y="0"/>
                </a:lnTo>
                <a:cubicBezTo>
                  <a:pt x="11493341" y="0"/>
                  <a:pt x="11522927" y="29586"/>
                  <a:pt x="11522927" y="66082"/>
                </a:cubicBezTo>
                <a:lnTo>
                  <a:pt x="11522927" y="305625"/>
                </a:lnTo>
                <a:cubicBezTo>
                  <a:pt x="11522927" y="342121"/>
                  <a:pt x="11493341" y="371707"/>
                  <a:pt x="11456845" y="371707"/>
                </a:cubicBezTo>
                <a:lnTo>
                  <a:pt x="66082" y="371707"/>
                </a:lnTo>
                <a:cubicBezTo>
                  <a:pt x="29586" y="371707"/>
                  <a:pt x="0" y="342121"/>
                  <a:pt x="0" y="305625"/>
                </a:cubicBezTo>
                <a:lnTo>
                  <a:pt x="0" y="66082"/>
                </a:lnTo>
                <a:cubicBezTo>
                  <a:pt x="0" y="29586"/>
                  <a:pt x="29586" y="0"/>
                  <a:pt x="66082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58439" y="7109935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20650" y="20650"/>
                </a:moveTo>
                <a:cubicBezTo>
                  <a:pt x="20650" y="14939"/>
                  <a:pt x="16036" y="10325"/>
                  <a:pt x="10325" y="10325"/>
                </a:cubicBezTo>
                <a:cubicBezTo>
                  <a:pt x="4614" y="10325"/>
                  <a:pt x="0" y="14939"/>
                  <a:pt x="0" y="20650"/>
                </a:cubicBezTo>
                <a:lnTo>
                  <a:pt x="0" y="129065"/>
                </a:lnTo>
                <a:cubicBezTo>
                  <a:pt x="0" y="143327"/>
                  <a:pt x="11551" y="154878"/>
                  <a:pt x="25813" y="154878"/>
                </a:cubicBezTo>
                <a:lnTo>
                  <a:pt x="154878" y="154878"/>
                </a:lnTo>
                <a:cubicBezTo>
                  <a:pt x="160589" y="154878"/>
                  <a:pt x="165203" y="150264"/>
                  <a:pt x="165203" y="144553"/>
                </a:cubicBezTo>
                <a:cubicBezTo>
                  <a:pt x="165203" y="138842"/>
                  <a:pt x="160589" y="134228"/>
                  <a:pt x="154878" y="134228"/>
                </a:cubicBezTo>
                <a:lnTo>
                  <a:pt x="25813" y="134228"/>
                </a:lnTo>
                <a:cubicBezTo>
                  <a:pt x="22974" y="134228"/>
                  <a:pt x="20650" y="131904"/>
                  <a:pt x="20650" y="129065"/>
                </a:cubicBezTo>
                <a:lnTo>
                  <a:pt x="20650" y="20650"/>
                </a:lnTo>
                <a:close/>
                <a:moveTo>
                  <a:pt x="151845" y="48593"/>
                </a:moveTo>
                <a:cubicBezTo>
                  <a:pt x="155878" y="44560"/>
                  <a:pt x="155878" y="38010"/>
                  <a:pt x="151845" y="33976"/>
                </a:cubicBezTo>
                <a:cubicBezTo>
                  <a:pt x="147812" y="29943"/>
                  <a:pt x="141262" y="29943"/>
                  <a:pt x="137228" y="33976"/>
                </a:cubicBezTo>
                <a:lnTo>
                  <a:pt x="103252" y="67985"/>
                </a:lnTo>
                <a:lnTo>
                  <a:pt x="84731" y="49496"/>
                </a:lnTo>
                <a:cubicBezTo>
                  <a:pt x="80698" y="45463"/>
                  <a:pt x="74148" y="45463"/>
                  <a:pt x="70115" y="49496"/>
                </a:cubicBezTo>
                <a:lnTo>
                  <a:pt x="39139" y="80472"/>
                </a:lnTo>
                <a:cubicBezTo>
                  <a:pt x="35106" y="84505"/>
                  <a:pt x="35106" y="91055"/>
                  <a:pt x="39139" y="95089"/>
                </a:cubicBezTo>
                <a:cubicBezTo>
                  <a:pt x="43172" y="99122"/>
                  <a:pt x="49722" y="99122"/>
                  <a:pt x="53756" y="95089"/>
                </a:cubicBezTo>
                <a:lnTo>
                  <a:pt x="77439" y="71405"/>
                </a:lnTo>
                <a:lnTo>
                  <a:pt x="95960" y="89926"/>
                </a:lnTo>
                <a:cubicBezTo>
                  <a:pt x="99993" y="93959"/>
                  <a:pt x="106543" y="93959"/>
                  <a:pt x="110576" y="89926"/>
                </a:cubicBezTo>
                <a:lnTo>
                  <a:pt x="151877" y="4862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6" name="Text 53"/>
          <p:cNvSpPr/>
          <p:nvPr/>
        </p:nvSpPr>
        <p:spPr>
          <a:xfrm>
            <a:off x="743415" y="7109935"/>
            <a:ext cx="10060878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Pricing Insight:</a:t>
            </a:r>
            <a:r>
              <a:rPr lang="en-US" sz="91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Right-skewed distribution indicates majority of laptops cluster in budget-midrange segments. High variance (₹52,208) reflects diverse positioning strategies across brands and categories.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138" y="375138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75028" y="0"/>
                </a:moveTo>
                <a:lnTo>
                  <a:pt x="300111" y="0"/>
                </a:lnTo>
                <a:cubicBezTo>
                  <a:pt x="341547" y="0"/>
                  <a:pt x="375138" y="33591"/>
                  <a:pt x="375138" y="75028"/>
                </a:cubicBezTo>
                <a:lnTo>
                  <a:pt x="375138" y="300111"/>
                </a:lnTo>
                <a:cubicBezTo>
                  <a:pt x="375138" y="341547"/>
                  <a:pt x="341547" y="375138"/>
                  <a:pt x="300111" y="375138"/>
                </a:cubicBezTo>
                <a:lnTo>
                  <a:pt x="75028" y="375138"/>
                </a:lnTo>
                <a:cubicBezTo>
                  <a:pt x="33591" y="375138"/>
                  <a:pt x="0" y="341547"/>
                  <a:pt x="0" y="300111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63208" y="431409"/>
            <a:ext cx="281354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7508" y="407963"/>
            <a:ext cx="1481797" cy="309489"/>
          </a:xfrm>
          <a:custGeom>
            <a:avLst/>
            <a:gdLst/>
            <a:ahLst/>
            <a:cxnLst/>
            <a:rect l="l" t="t" r="r" b="b"/>
            <a:pathLst>
              <a:path w="1481797" h="309489">
                <a:moveTo>
                  <a:pt x="154745" y="0"/>
                </a:moveTo>
                <a:lnTo>
                  <a:pt x="1327052" y="0"/>
                </a:lnTo>
                <a:cubicBezTo>
                  <a:pt x="1412458" y="0"/>
                  <a:pt x="1481797" y="69339"/>
                  <a:pt x="1481797" y="154745"/>
                </a:cubicBezTo>
                <a:lnTo>
                  <a:pt x="1481797" y="154745"/>
                </a:lnTo>
                <a:cubicBezTo>
                  <a:pt x="1481797" y="240150"/>
                  <a:pt x="1412458" y="309489"/>
                  <a:pt x="1327052" y="309489"/>
                </a:cubicBezTo>
                <a:lnTo>
                  <a:pt x="154745" y="309489"/>
                </a:lnTo>
                <a:cubicBezTo>
                  <a:pt x="69282" y="309489"/>
                  <a:pt x="0" y="240208"/>
                  <a:pt x="0" y="154745"/>
                </a:cubicBezTo>
                <a:lnTo>
                  <a:pt x="0" y="154745"/>
                </a:lnTo>
                <a:cubicBezTo>
                  <a:pt x="0" y="69282"/>
                  <a:pt x="69282" y="0"/>
                  <a:pt x="154745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738" y="515815"/>
            <a:ext cx="1300675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b="1" kern="0" spc="44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PROCESSOR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5138" y="825305"/>
            <a:ext cx="11610535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Processor Ecosystem: Intel vs AMD vs Apple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9828" y="1392702"/>
            <a:ext cx="5617698" cy="3198055"/>
          </a:xfrm>
          <a:custGeom>
            <a:avLst/>
            <a:gdLst/>
            <a:ahLst/>
            <a:cxnLst/>
            <a:rect l="l" t="t" r="r" b="b"/>
            <a:pathLst>
              <a:path w="5617698" h="3198055">
                <a:moveTo>
                  <a:pt x="112540" y="0"/>
                </a:moveTo>
                <a:lnTo>
                  <a:pt x="5505159" y="0"/>
                </a:lnTo>
                <a:cubicBezTo>
                  <a:pt x="5567313" y="0"/>
                  <a:pt x="5617698" y="50386"/>
                  <a:pt x="5617698" y="112540"/>
                </a:cubicBezTo>
                <a:lnTo>
                  <a:pt x="5617698" y="3085516"/>
                </a:lnTo>
                <a:cubicBezTo>
                  <a:pt x="5617698" y="3147670"/>
                  <a:pt x="5567313" y="3198055"/>
                  <a:pt x="5505159" y="3198055"/>
                </a:cubicBezTo>
                <a:lnTo>
                  <a:pt x="112540" y="3198055"/>
                </a:lnTo>
                <a:cubicBezTo>
                  <a:pt x="50386" y="3198055"/>
                  <a:pt x="0" y="3147670"/>
                  <a:pt x="0" y="3085516"/>
                </a:cubicBezTo>
                <a:lnTo>
                  <a:pt x="0" y="112540"/>
                </a:lnTo>
                <a:cubicBezTo>
                  <a:pt x="0" y="50386"/>
                  <a:pt x="50386" y="0"/>
                  <a:pt x="112540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2086" y="1584960"/>
            <a:ext cx="531758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Processor Brand Distribution</a:t>
            </a:r>
            <a:endParaRPr lang="en-US" sz="1600" dirty="0"/>
          </a:p>
        </p:txBody>
      </p:sp>
      <p:pic>
        <p:nvPicPr>
          <p:cNvPr id="9" name="Image 0" descr="https://kimi-img.moonshot.cn/pub/slides/26-02-02-19:33:42-d608n5kpm1t9bi7d8be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2086" y="1960098"/>
            <a:ext cx="5139397" cy="24384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79828" y="4750191"/>
            <a:ext cx="5617698" cy="1697502"/>
          </a:xfrm>
          <a:custGeom>
            <a:avLst/>
            <a:gdLst/>
            <a:ahLst/>
            <a:cxnLst/>
            <a:rect l="l" t="t" r="r" b="b"/>
            <a:pathLst>
              <a:path w="5617698" h="1697502">
                <a:moveTo>
                  <a:pt x="112544" y="0"/>
                </a:moveTo>
                <a:lnTo>
                  <a:pt x="5505154" y="0"/>
                </a:lnTo>
                <a:cubicBezTo>
                  <a:pt x="5567311" y="0"/>
                  <a:pt x="5617698" y="50388"/>
                  <a:pt x="5617698" y="112544"/>
                </a:cubicBezTo>
                <a:lnTo>
                  <a:pt x="5617698" y="1584957"/>
                </a:lnTo>
                <a:cubicBezTo>
                  <a:pt x="5617698" y="1647114"/>
                  <a:pt x="5567311" y="1697502"/>
                  <a:pt x="5505154" y="1697502"/>
                </a:cubicBezTo>
                <a:lnTo>
                  <a:pt x="112544" y="1697502"/>
                </a:lnTo>
                <a:cubicBezTo>
                  <a:pt x="50388" y="1697502"/>
                  <a:pt x="0" y="1647114"/>
                  <a:pt x="0" y="1584957"/>
                </a:cubicBezTo>
                <a:lnTo>
                  <a:pt x="0" y="112544"/>
                </a:lnTo>
                <a:cubicBezTo>
                  <a:pt x="0" y="50429"/>
                  <a:pt x="50429" y="0"/>
                  <a:pt x="112544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572" y="4904935"/>
            <a:ext cx="538323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Clock Speed Distribution (GHz)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4572" y="5242560"/>
            <a:ext cx="309489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18588" y="5242560"/>
            <a:ext cx="787791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Avg: 2.8 GHz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4572" y="5467643"/>
            <a:ext cx="5308209" cy="75028"/>
          </a:xfrm>
          <a:custGeom>
            <a:avLst/>
            <a:gdLst/>
            <a:ahLst/>
            <a:cxnLst/>
            <a:rect l="l" t="t" r="r" b="b"/>
            <a:pathLst>
              <a:path w="5308209" h="75028">
                <a:moveTo>
                  <a:pt x="37514" y="0"/>
                </a:moveTo>
                <a:lnTo>
                  <a:pt x="5270695" y="0"/>
                </a:lnTo>
                <a:cubicBezTo>
                  <a:pt x="5291414" y="0"/>
                  <a:pt x="5308209" y="16796"/>
                  <a:pt x="5308209" y="37514"/>
                </a:cubicBezTo>
                <a:lnTo>
                  <a:pt x="5308209" y="37514"/>
                </a:lnTo>
                <a:cubicBezTo>
                  <a:pt x="5308209" y="58232"/>
                  <a:pt x="5291414" y="75028"/>
                  <a:pt x="5270695" y="75028"/>
                </a:cubicBezTo>
                <a:lnTo>
                  <a:pt x="37514" y="75028"/>
                </a:lnTo>
                <a:cubicBezTo>
                  <a:pt x="16809" y="75028"/>
                  <a:pt x="0" y="58218"/>
                  <a:pt x="0" y="37514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2"/>
          <p:cNvSpPr/>
          <p:nvPr/>
        </p:nvSpPr>
        <p:spPr>
          <a:xfrm>
            <a:off x="534572" y="5467643"/>
            <a:ext cx="3713871" cy="75028"/>
          </a:xfrm>
          <a:custGeom>
            <a:avLst/>
            <a:gdLst/>
            <a:ahLst/>
            <a:cxnLst/>
            <a:rect l="l" t="t" r="r" b="b"/>
            <a:pathLst>
              <a:path w="3713871" h="75028">
                <a:moveTo>
                  <a:pt x="37514" y="0"/>
                </a:moveTo>
                <a:lnTo>
                  <a:pt x="3676357" y="0"/>
                </a:lnTo>
                <a:cubicBezTo>
                  <a:pt x="3697075" y="0"/>
                  <a:pt x="3713871" y="16796"/>
                  <a:pt x="3713871" y="37514"/>
                </a:cubicBezTo>
                <a:lnTo>
                  <a:pt x="3713871" y="37514"/>
                </a:lnTo>
                <a:cubicBezTo>
                  <a:pt x="3713871" y="58232"/>
                  <a:pt x="3697075" y="75028"/>
                  <a:pt x="3676357" y="75028"/>
                </a:cubicBezTo>
                <a:lnTo>
                  <a:pt x="37514" y="75028"/>
                </a:lnTo>
                <a:cubicBezTo>
                  <a:pt x="16809" y="75028"/>
                  <a:pt x="0" y="58218"/>
                  <a:pt x="0" y="37514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16" name="Text 13"/>
          <p:cNvSpPr/>
          <p:nvPr/>
        </p:nvSpPr>
        <p:spPr>
          <a:xfrm>
            <a:off x="534572" y="5617698"/>
            <a:ext cx="35638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21666" y="5617698"/>
            <a:ext cx="787791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Avg: 3.2 GHz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4572" y="5842782"/>
            <a:ext cx="5308209" cy="75028"/>
          </a:xfrm>
          <a:custGeom>
            <a:avLst/>
            <a:gdLst/>
            <a:ahLst/>
            <a:cxnLst/>
            <a:rect l="l" t="t" r="r" b="b"/>
            <a:pathLst>
              <a:path w="5308209" h="75028">
                <a:moveTo>
                  <a:pt x="37514" y="0"/>
                </a:moveTo>
                <a:lnTo>
                  <a:pt x="5270695" y="0"/>
                </a:lnTo>
                <a:cubicBezTo>
                  <a:pt x="5291414" y="0"/>
                  <a:pt x="5308209" y="16796"/>
                  <a:pt x="5308209" y="37514"/>
                </a:cubicBezTo>
                <a:lnTo>
                  <a:pt x="5308209" y="37514"/>
                </a:lnTo>
                <a:cubicBezTo>
                  <a:pt x="5308209" y="58232"/>
                  <a:pt x="5291414" y="75028"/>
                  <a:pt x="5270695" y="75028"/>
                </a:cubicBezTo>
                <a:lnTo>
                  <a:pt x="37514" y="75028"/>
                </a:lnTo>
                <a:cubicBezTo>
                  <a:pt x="16809" y="75028"/>
                  <a:pt x="0" y="58218"/>
                  <a:pt x="0" y="37514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6"/>
          <p:cNvSpPr/>
          <p:nvPr/>
        </p:nvSpPr>
        <p:spPr>
          <a:xfrm>
            <a:off x="534572" y="5842782"/>
            <a:ext cx="4248443" cy="75028"/>
          </a:xfrm>
          <a:custGeom>
            <a:avLst/>
            <a:gdLst/>
            <a:ahLst/>
            <a:cxnLst/>
            <a:rect l="l" t="t" r="r" b="b"/>
            <a:pathLst>
              <a:path w="4248443" h="75028">
                <a:moveTo>
                  <a:pt x="37514" y="0"/>
                </a:moveTo>
                <a:lnTo>
                  <a:pt x="4210929" y="0"/>
                </a:lnTo>
                <a:cubicBezTo>
                  <a:pt x="4231648" y="0"/>
                  <a:pt x="4248443" y="16796"/>
                  <a:pt x="4248443" y="37514"/>
                </a:cubicBezTo>
                <a:lnTo>
                  <a:pt x="4248443" y="37514"/>
                </a:lnTo>
                <a:cubicBezTo>
                  <a:pt x="4248443" y="58232"/>
                  <a:pt x="4231648" y="75028"/>
                  <a:pt x="4210929" y="75028"/>
                </a:cubicBezTo>
                <a:lnTo>
                  <a:pt x="37514" y="75028"/>
                </a:lnTo>
                <a:cubicBezTo>
                  <a:pt x="16809" y="75028"/>
                  <a:pt x="0" y="58218"/>
                  <a:pt x="0" y="37514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0" name="Text 17"/>
          <p:cNvSpPr/>
          <p:nvPr/>
        </p:nvSpPr>
        <p:spPr>
          <a:xfrm>
            <a:off x="534572" y="5992837"/>
            <a:ext cx="947225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Apple M-Series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21666" y="5992837"/>
            <a:ext cx="787791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Avg: 3.2 GHz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34572" y="6217920"/>
            <a:ext cx="5308209" cy="75028"/>
          </a:xfrm>
          <a:custGeom>
            <a:avLst/>
            <a:gdLst/>
            <a:ahLst/>
            <a:cxnLst/>
            <a:rect l="l" t="t" r="r" b="b"/>
            <a:pathLst>
              <a:path w="5308209" h="75028">
                <a:moveTo>
                  <a:pt x="37514" y="0"/>
                </a:moveTo>
                <a:lnTo>
                  <a:pt x="5270695" y="0"/>
                </a:lnTo>
                <a:cubicBezTo>
                  <a:pt x="5291414" y="0"/>
                  <a:pt x="5308209" y="16796"/>
                  <a:pt x="5308209" y="37514"/>
                </a:cubicBezTo>
                <a:lnTo>
                  <a:pt x="5308209" y="37514"/>
                </a:lnTo>
                <a:cubicBezTo>
                  <a:pt x="5308209" y="58232"/>
                  <a:pt x="5291414" y="75028"/>
                  <a:pt x="5270695" y="75028"/>
                </a:cubicBezTo>
                <a:lnTo>
                  <a:pt x="37514" y="75028"/>
                </a:lnTo>
                <a:cubicBezTo>
                  <a:pt x="16809" y="75028"/>
                  <a:pt x="0" y="58218"/>
                  <a:pt x="0" y="37514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0"/>
          <p:cNvSpPr/>
          <p:nvPr/>
        </p:nvSpPr>
        <p:spPr>
          <a:xfrm>
            <a:off x="534572" y="6217920"/>
            <a:ext cx="4248443" cy="75028"/>
          </a:xfrm>
          <a:custGeom>
            <a:avLst/>
            <a:gdLst/>
            <a:ahLst/>
            <a:cxnLst/>
            <a:rect l="l" t="t" r="r" b="b"/>
            <a:pathLst>
              <a:path w="4248443" h="75028">
                <a:moveTo>
                  <a:pt x="37514" y="0"/>
                </a:moveTo>
                <a:lnTo>
                  <a:pt x="4210929" y="0"/>
                </a:lnTo>
                <a:cubicBezTo>
                  <a:pt x="4231648" y="0"/>
                  <a:pt x="4248443" y="16796"/>
                  <a:pt x="4248443" y="37514"/>
                </a:cubicBezTo>
                <a:lnTo>
                  <a:pt x="4248443" y="37514"/>
                </a:lnTo>
                <a:cubicBezTo>
                  <a:pt x="4248443" y="58232"/>
                  <a:pt x="4231648" y="75028"/>
                  <a:pt x="4210929" y="75028"/>
                </a:cubicBezTo>
                <a:lnTo>
                  <a:pt x="37514" y="75028"/>
                </a:lnTo>
                <a:cubicBezTo>
                  <a:pt x="16809" y="75028"/>
                  <a:pt x="0" y="58218"/>
                  <a:pt x="0" y="37514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24" name="Shape 21"/>
          <p:cNvSpPr/>
          <p:nvPr/>
        </p:nvSpPr>
        <p:spPr>
          <a:xfrm>
            <a:off x="6192276" y="1392702"/>
            <a:ext cx="5617698" cy="5458265"/>
          </a:xfrm>
          <a:custGeom>
            <a:avLst/>
            <a:gdLst/>
            <a:ahLst/>
            <a:cxnLst/>
            <a:rect l="l" t="t" r="r" b="b"/>
            <a:pathLst>
              <a:path w="5617698" h="5458265">
                <a:moveTo>
                  <a:pt x="112549" y="0"/>
                </a:moveTo>
                <a:lnTo>
                  <a:pt x="5505149" y="0"/>
                </a:lnTo>
                <a:cubicBezTo>
                  <a:pt x="5567308" y="0"/>
                  <a:pt x="5617698" y="50390"/>
                  <a:pt x="5617698" y="112549"/>
                </a:cubicBezTo>
                <a:lnTo>
                  <a:pt x="5617698" y="5345715"/>
                </a:lnTo>
                <a:cubicBezTo>
                  <a:pt x="5617698" y="5407875"/>
                  <a:pt x="5567308" y="5458265"/>
                  <a:pt x="5505149" y="5458265"/>
                </a:cubicBezTo>
                <a:lnTo>
                  <a:pt x="112549" y="5458265"/>
                </a:lnTo>
                <a:cubicBezTo>
                  <a:pt x="50390" y="5458265"/>
                  <a:pt x="0" y="5407875"/>
                  <a:pt x="0" y="5345715"/>
                </a:cubicBezTo>
                <a:lnTo>
                  <a:pt x="0" y="112549"/>
                </a:lnTo>
                <a:cubicBezTo>
                  <a:pt x="0" y="50432"/>
                  <a:pt x="50432" y="0"/>
                  <a:pt x="11254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84534" y="1584960"/>
            <a:ext cx="531758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Positioning Analysis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03291" y="1997612"/>
            <a:ext cx="5214425" cy="1481797"/>
          </a:xfrm>
          <a:custGeom>
            <a:avLst/>
            <a:gdLst/>
            <a:ahLst/>
            <a:cxnLst/>
            <a:rect l="l" t="t" r="r" b="b"/>
            <a:pathLst>
              <a:path w="5214425" h="1481797">
                <a:moveTo>
                  <a:pt x="37514" y="0"/>
                </a:moveTo>
                <a:lnTo>
                  <a:pt x="5139401" y="0"/>
                </a:lnTo>
                <a:cubicBezTo>
                  <a:pt x="5180836" y="0"/>
                  <a:pt x="5214425" y="33589"/>
                  <a:pt x="5214425" y="75023"/>
                </a:cubicBezTo>
                <a:lnTo>
                  <a:pt x="5214425" y="1406774"/>
                </a:lnTo>
                <a:cubicBezTo>
                  <a:pt x="5214425" y="1448208"/>
                  <a:pt x="5180836" y="1481797"/>
                  <a:pt x="5139401" y="1481797"/>
                </a:cubicBezTo>
                <a:lnTo>
                  <a:pt x="37514" y="1481797"/>
                </a:lnTo>
                <a:cubicBezTo>
                  <a:pt x="16796" y="1481797"/>
                  <a:pt x="0" y="1465001"/>
                  <a:pt x="0" y="1444283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6403291" y="1997612"/>
            <a:ext cx="37514" cy="1481797"/>
          </a:xfrm>
          <a:custGeom>
            <a:avLst/>
            <a:gdLst/>
            <a:ahLst/>
            <a:cxnLst/>
            <a:rect l="l" t="t" r="r" b="b"/>
            <a:pathLst>
              <a:path w="37514" h="1481797">
                <a:moveTo>
                  <a:pt x="37514" y="0"/>
                </a:moveTo>
                <a:lnTo>
                  <a:pt x="37514" y="0"/>
                </a:lnTo>
                <a:lnTo>
                  <a:pt x="37514" y="1481797"/>
                </a:lnTo>
                <a:lnTo>
                  <a:pt x="37514" y="1481797"/>
                </a:lnTo>
                <a:cubicBezTo>
                  <a:pt x="16796" y="1481797"/>
                  <a:pt x="0" y="1465001"/>
                  <a:pt x="0" y="1444283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0071C5"/>
          </a:solidFill>
          <a:ln/>
        </p:spPr>
      </p:sp>
      <p:sp>
        <p:nvSpPr>
          <p:cNvPr id="28" name="Shape 25"/>
          <p:cNvSpPr/>
          <p:nvPr/>
        </p:nvSpPr>
        <p:spPr>
          <a:xfrm>
            <a:off x="6572103" y="2147668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75028" y="0"/>
                </a:moveTo>
                <a:lnTo>
                  <a:pt x="300111" y="0"/>
                </a:lnTo>
                <a:cubicBezTo>
                  <a:pt x="341547" y="0"/>
                  <a:pt x="375138" y="33591"/>
                  <a:pt x="375138" y="75028"/>
                </a:cubicBezTo>
                <a:lnTo>
                  <a:pt x="375138" y="300111"/>
                </a:lnTo>
                <a:cubicBezTo>
                  <a:pt x="375138" y="341547"/>
                  <a:pt x="341547" y="375138"/>
                  <a:pt x="300111" y="375138"/>
                </a:cubicBezTo>
                <a:lnTo>
                  <a:pt x="75028" y="375138"/>
                </a:lnTo>
                <a:cubicBezTo>
                  <a:pt x="33591" y="375138"/>
                  <a:pt x="0" y="341547"/>
                  <a:pt x="0" y="300111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0071C5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677611" y="2250831"/>
            <a:ext cx="168812" cy="168812"/>
          </a:xfrm>
          <a:custGeom>
            <a:avLst/>
            <a:gdLst/>
            <a:ahLst/>
            <a:cxnLst/>
            <a:rect l="l" t="t" r="r" b="b"/>
            <a:pathLst>
              <a:path w="168812" h="168812">
                <a:moveTo>
                  <a:pt x="58029" y="7913"/>
                </a:moveTo>
                <a:cubicBezTo>
                  <a:pt x="58029" y="3528"/>
                  <a:pt x="54501" y="0"/>
                  <a:pt x="50116" y="0"/>
                </a:cubicBezTo>
                <a:cubicBezTo>
                  <a:pt x="45731" y="0"/>
                  <a:pt x="42203" y="3528"/>
                  <a:pt x="42203" y="7913"/>
                </a:cubicBezTo>
                <a:lnTo>
                  <a:pt x="42203" y="21102"/>
                </a:lnTo>
                <a:cubicBezTo>
                  <a:pt x="30564" y="21102"/>
                  <a:pt x="21102" y="30564"/>
                  <a:pt x="21102" y="42203"/>
                </a:cubicBezTo>
                <a:lnTo>
                  <a:pt x="7913" y="42203"/>
                </a:lnTo>
                <a:cubicBezTo>
                  <a:pt x="3528" y="42203"/>
                  <a:pt x="0" y="45731"/>
                  <a:pt x="0" y="50116"/>
                </a:cubicBezTo>
                <a:cubicBezTo>
                  <a:pt x="0" y="54501"/>
                  <a:pt x="3528" y="58029"/>
                  <a:pt x="7913" y="58029"/>
                </a:cubicBezTo>
                <a:lnTo>
                  <a:pt x="21102" y="58029"/>
                </a:lnTo>
                <a:lnTo>
                  <a:pt x="21102" y="76493"/>
                </a:lnTo>
                <a:lnTo>
                  <a:pt x="7913" y="76493"/>
                </a:lnTo>
                <a:cubicBezTo>
                  <a:pt x="3528" y="76493"/>
                  <a:pt x="0" y="80021"/>
                  <a:pt x="0" y="84406"/>
                </a:cubicBezTo>
                <a:cubicBezTo>
                  <a:pt x="0" y="88791"/>
                  <a:pt x="3528" y="92319"/>
                  <a:pt x="7913" y="92319"/>
                </a:cubicBezTo>
                <a:lnTo>
                  <a:pt x="21102" y="92319"/>
                </a:lnTo>
                <a:lnTo>
                  <a:pt x="21102" y="110783"/>
                </a:lnTo>
                <a:lnTo>
                  <a:pt x="7913" y="110783"/>
                </a:lnTo>
                <a:cubicBezTo>
                  <a:pt x="3528" y="110783"/>
                  <a:pt x="0" y="114311"/>
                  <a:pt x="0" y="118696"/>
                </a:cubicBezTo>
                <a:cubicBezTo>
                  <a:pt x="0" y="123081"/>
                  <a:pt x="3528" y="126609"/>
                  <a:pt x="7913" y="126609"/>
                </a:cubicBezTo>
                <a:lnTo>
                  <a:pt x="21102" y="126609"/>
                </a:lnTo>
                <a:cubicBezTo>
                  <a:pt x="21102" y="138248"/>
                  <a:pt x="30564" y="147711"/>
                  <a:pt x="42203" y="147711"/>
                </a:cubicBezTo>
                <a:lnTo>
                  <a:pt x="42203" y="160899"/>
                </a:lnTo>
                <a:cubicBezTo>
                  <a:pt x="42203" y="165284"/>
                  <a:pt x="45731" y="168812"/>
                  <a:pt x="50116" y="168812"/>
                </a:cubicBezTo>
                <a:cubicBezTo>
                  <a:pt x="54501" y="168812"/>
                  <a:pt x="58029" y="165284"/>
                  <a:pt x="58029" y="160899"/>
                </a:cubicBezTo>
                <a:lnTo>
                  <a:pt x="58029" y="147711"/>
                </a:lnTo>
                <a:lnTo>
                  <a:pt x="76493" y="147711"/>
                </a:lnTo>
                <a:lnTo>
                  <a:pt x="76493" y="160899"/>
                </a:lnTo>
                <a:cubicBezTo>
                  <a:pt x="76493" y="165284"/>
                  <a:pt x="80021" y="168812"/>
                  <a:pt x="84406" y="168812"/>
                </a:cubicBezTo>
                <a:cubicBezTo>
                  <a:pt x="88791" y="168812"/>
                  <a:pt x="92319" y="165284"/>
                  <a:pt x="92319" y="160899"/>
                </a:cubicBezTo>
                <a:lnTo>
                  <a:pt x="92319" y="147711"/>
                </a:lnTo>
                <a:lnTo>
                  <a:pt x="110783" y="147711"/>
                </a:lnTo>
                <a:lnTo>
                  <a:pt x="110783" y="160899"/>
                </a:lnTo>
                <a:cubicBezTo>
                  <a:pt x="110783" y="165284"/>
                  <a:pt x="114311" y="168812"/>
                  <a:pt x="118696" y="168812"/>
                </a:cubicBezTo>
                <a:cubicBezTo>
                  <a:pt x="123081" y="168812"/>
                  <a:pt x="126609" y="165284"/>
                  <a:pt x="126609" y="160899"/>
                </a:cubicBezTo>
                <a:lnTo>
                  <a:pt x="126609" y="147711"/>
                </a:lnTo>
                <a:cubicBezTo>
                  <a:pt x="138248" y="147711"/>
                  <a:pt x="147711" y="138248"/>
                  <a:pt x="147711" y="126609"/>
                </a:cubicBezTo>
                <a:lnTo>
                  <a:pt x="160899" y="126609"/>
                </a:lnTo>
                <a:cubicBezTo>
                  <a:pt x="165284" y="126609"/>
                  <a:pt x="168812" y="123081"/>
                  <a:pt x="168812" y="118696"/>
                </a:cubicBezTo>
                <a:cubicBezTo>
                  <a:pt x="168812" y="114311"/>
                  <a:pt x="165284" y="110783"/>
                  <a:pt x="160899" y="110783"/>
                </a:cubicBezTo>
                <a:lnTo>
                  <a:pt x="147711" y="110783"/>
                </a:lnTo>
                <a:lnTo>
                  <a:pt x="147711" y="92319"/>
                </a:lnTo>
                <a:lnTo>
                  <a:pt x="160899" y="92319"/>
                </a:lnTo>
                <a:cubicBezTo>
                  <a:pt x="165284" y="92319"/>
                  <a:pt x="168812" y="88791"/>
                  <a:pt x="168812" y="84406"/>
                </a:cubicBezTo>
                <a:cubicBezTo>
                  <a:pt x="168812" y="80021"/>
                  <a:pt x="165284" y="76493"/>
                  <a:pt x="160899" y="76493"/>
                </a:cubicBezTo>
                <a:lnTo>
                  <a:pt x="147711" y="76493"/>
                </a:lnTo>
                <a:lnTo>
                  <a:pt x="147711" y="58029"/>
                </a:lnTo>
                <a:lnTo>
                  <a:pt x="160899" y="58029"/>
                </a:lnTo>
                <a:cubicBezTo>
                  <a:pt x="165284" y="58029"/>
                  <a:pt x="168812" y="54501"/>
                  <a:pt x="168812" y="50116"/>
                </a:cubicBezTo>
                <a:cubicBezTo>
                  <a:pt x="168812" y="45731"/>
                  <a:pt x="165284" y="42203"/>
                  <a:pt x="160899" y="42203"/>
                </a:cubicBezTo>
                <a:lnTo>
                  <a:pt x="147711" y="42203"/>
                </a:lnTo>
                <a:cubicBezTo>
                  <a:pt x="147711" y="30564"/>
                  <a:pt x="138248" y="21102"/>
                  <a:pt x="126609" y="21102"/>
                </a:cubicBezTo>
                <a:lnTo>
                  <a:pt x="126609" y="7913"/>
                </a:lnTo>
                <a:cubicBezTo>
                  <a:pt x="126609" y="3528"/>
                  <a:pt x="123081" y="0"/>
                  <a:pt x="118696" y="0"/>
                </a:cubicBezTo>
                <a:cubicBezTo>
                  <a:pt x="114311" y="0"/>
                  <a:pt x="110783" y="3528"/>
                  <a:pt x="110783" y="7913"/>
                </a:cubicBezTo>
                <a:lnTo>
                  <a:pt x="110783" y="21102"/>
                </a:lnTo>
                <a:lnTo>
                  <a:pt x="92319" y="21102"/>
                </a:lnTo>
                <a:lnTo>
                  <a:pt x="92319" y="7913"/>
                </a:lnTo>
                <a:cubicBezTo>
                  <a:pt x="92319" y="3528"/>
                  <a:pt x="88791" y="0"/>
                  <a:pt x="84406" y="0"/>
                </a:cubicBezTo>
                <a:cubicBezTo>
                  <a:pt x="80021" y="0"/>
                  <a:pt x="76493" y="3528"/>
                  <a:pt x="76493" y="7913"/>
                </a:cubicBezTo>
                <a:lnTo>
                  <a:pt x="76493" y="21102"/>
                </a:lnTo>
                <a:lnTo>
                  <a:pt x="58029" y="21102"/>
                </a:lnTo>
                <a:lnTo>
                  <a:pt x="58029" y="7913"/>
                </a:lnTo>
                <a:close/>
                <a:moveTo>
                  <a:pt x="52754" y="42203"/>
                </a:moveTo>
                <a:lnTo>
                  <a:pt x="116058" y="42203"/>
                </a:lnTo>
                <a:cubicBezTo>
                  <a:pt x="121894" y="42203"/>
                  <a:pt x="126609" y="46918"/>
                  <a:pt x="126609" y="52754"/>
                </a:cubicBezTo>
                <a:lnTo>
                  <a:pt x="126609" y="116058"/>
                </a:lnTo>
                <a:cubicBezTo>
                  <a:pt x="126609" y="121894"/>
                  <a:pt x="121894" y="126609"/>
                  <a:pt x="116058" y="126609"/>
                </a:cubicBezTo>
                <a:lnTo>
                  <a:pt x="52754" y="126609"/>
                </a:lnTo>
                <a:cubicBezTo>
                  <a:pt x="46918" y="126609"/>
                  <a:pt x="42203" y="121894"/>
                  <a:pt x="42203" y="116058"/>
                </a:cubicBezTo>
                <a:lnTo>
                  <a:pt x="42203" y="52754"/>
                </a:lnTo>
                <a:cubicBezTo>
                  <a:pt x="42203" y="46918"/>
                  <a:pt x="46918" y="42203"/>
                  <a:pt x="52754" y="42203"/>
                </a:cubicBezTo>
                <a:close/>
                <a:moveTo>
                  <a:pt x="58029" y="58029"/>
                </a:moveTo>
                <a:lnTo>
                  <a:pt x="58029" y="110783"/>
                </a:lnTo>
                <a:lnTo>
                  <a:pt x="110783" y="110783"/>
                </a:lnTo>
                <a:lnTo>
                  <a:pt x="110783" y="58029"/>
                </a:lnTo>
                <a:lnTo>
                  <a:pt x="58029" y="58029"/>
                </a:lnTo>
                <a:close/>
              </a:path>
            </a:pathLst>
          </a:custGeom>
          <a:solidFill>
            <a:srgbClr val="0071C5"/>
          </a:solidFill>
          <a:ln/>
        </p:spPr>
      </p:sp>
      <p:sp>
        <p:nvSpPr>
          <p:cNvPr id="30" name="Text 27"/>
          <p:cNvSpPr/>
          <p:nvPr/>
        </p:nvSpPr>
        <p:spPr>
          <a:xfrm>
            <a:off x="7059783" y="2147668"/>
            <a:ext cx="769034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059783" y="2372751"/>
            <a:ext cx="750277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Leader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72103" y="2597834"/>
            <a:ext cx="4961206" cy="43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Dominates with broad portfolio from Celeron (budget) to Core i9 (premium). Strong enterprise presence. 12th/13th gen showing significant performance gains.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572103" y="3099582"/>
            <a:ext cx="665871" cy="225083"/>
          </a:xfrm>
          <a:custGeom>
            <a:avLst/>
            <a:gdLst/>
            <a:ahLst/>
            <a:cxnLst/>
            <a:rect l="l" t="t" r="r" b="b"/>
            <a:pathLst>
              <a:path w="665871" h="225083">
                <a:moveTo>
                  <a:pt x="37515" y="0"/>
                </a:moveTo>
                <a:lnTo>
                  <a:pt x="628356" y="0"/>
                </a:lnTo>
                <a:cubicBezTo>
                  <a:pt x="649061" y="0"/>
                  <a:pt x="665871" y="16810"/>
                  <a:pt x="665871" y="37515"/>
                </a:cubicBezTo>
                <a:lnTo>
                  <a:pt x="665871" y="187568"/>
                </a:lnTo>
                <a:cubicBezTo>
                  <a:pt x="665871" y="208287"/>
                  <a:pt x="649075" y="225083"/>
                  <a:pt x="628356" y="225083"/>
                </a:cubicBezTo>
                <a:lnTo>
                  <a:pt x="37515" y="225083"/>
                </a:lnTo>
                <a:cubicBezTo>
                  <a:pt x="16810" y="225083"/>
                  <a:pt x="0" y="208273"/>
                  <a:pt x="0" y="187568"/>
                </a:cubicBezTo>
                <a:lnTo>
                  <a:pt x="0" y="37515"/>
                </a:lnTo>
                <a:cubicBezTo>
                  <a:pt x="0" y="16796"/>
                  <a:pt x="16796" y="0"/>
                  <a:pt x="37515" y="0"/>
                </a:cubicBezTo>
                <a:close/>
              </a:path>
            </a:pathLst>
          </a:custGeom>
          <a:solidFill>
            <a:srgbClr val="0071C5">
              <a:alpha val="2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572103" y="3099582"/>
            <a:ext cx="722142" cy="225083"/>
          </a:xfrm>
          <a:prstGeom prst="rect">
            <a:avLst/>
          </a:prstGeom>
          <a:noFill/>
          <a:ln/>
        </p:spPr>
        <p:txBody>
          <a:bodyPr wrap="square" lIns="75028" tIns="37514" rIns="75028" bIns="37514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62% Share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313881" y="3099582"/>
            <a:ext cx="769034" cy="225083"/>
          </a:xfrm>
          <a:custGeom>
            <a:avLst/>
            <a:gdLst/>
            <a:ahLst/>
            <a:cxnLst/>
            <a:rect l="l" t="t" r="r" b="b"/>
            <a:pathLst>
              <a:path w="769034" h="225083">
                <a:moveTo>
                  <a:pt x="37515" y="0"/>
                </a:moveTo>
                <a:lnTo>
                  <a:pt x="731519" y="0"/>
                </a:lnTo>
                <a:cubicBezTo>
                  <a:pt x="752224" y="0"/>
                  <a:pt x="769034" y="16810"/>
                  <a:pt x="769034" y="37515"/>
                </a:cubicBezTo>
                <a:lnTo>
                  <a:pt x="769034" y="187568"/>
                </a:lnTo>
                <a:cubicBezTo>
                  <a:pt x="769034" y="208287"/>
                  <a:pt x="752238" y="225083"/>
                  <a:pt x="731519" y="225083"/>
                </a:cubicBezTo>
                <a:lnTo>
                  <a:pt x="37515" y="225083"/>
                </a:lnTo>
                <a:cubicBezTo>
                  <a:pt x="16810" y="225083"/>
                  <a:pt x="0" y="208273"/>
                  <a:pt x="0" y="187568"/>
                </a:cubicBezTo>
                <a:lnTo>
                  <a:pt x="0" y="37515"/>
                </a:lnTo>
                <a:cubicBezTo>
                  <a:pt x="0" y="16796"/>
                  <a:pt x="16796" y="0"/>
                  <a:pt x="37515" y="0"/>
                </a:cubicBezTo>
                <a:close/>
              </a:path>
            </a:pathLst>
          </a:custGeom>
          <a:solidFill>
            <a:srgbClr val="0071C5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7313881" y="3099582"/>
            <a:ext cx="825305" cy="225083"/>
          </a:xfrm>
          <a:prstGeom prst="rect">
            <a:avLst/>
          </a:prstGeom>
          <a:noFill/>
          <a:ln/>
        </p:spPr>
        <p:txBody>
          <a:bodyPr wrap="square" lIns="75028" tIns="37514" rIns="75028" bIns="37514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 Range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03291" y="3587262"/>
            <a:ext cx="5214425" cy="1481797"/>
          </a:xfrm>
          <a:custGeom>
            <a:avLst/>
            <a:gdLst/>
            <a:ahLst/>
            <a:cxnLst/>
            <a:rect l="l" t="t" r="r" b="b"/>
            <a:pathLst>
              <a:path w="5214425" h="1481797">
                <a:moveTo>
                  <a:pt x="37514" y="0"/>
                </a:moveTo>
                <a:lnTo>
                  <a:pt x="5139401" y="0"/>
                </a:lnTo>
                <a:cubicBezTo>
                  <a:pt x="5180836" y="0"/>
                  <a:pt x="5214425" y="33589"/>
                  <a:pt x="5214425" y="75023"/>
                </a:cubicBezTo>
                <a:lnTo>
                  <a:pt x="5214425" y="1406774"/>
                </a:lnTo>
                <a:cubicBezTo>
                  <a:pt x="5214425" y="1448208"/>
                  <a:pt x="5180836" y="1481797"/>
                  <a:pt x="5139401" y="1481797"/>
                </a:cubicBezTo>
                <a:lnTo>
                  <a:pt x="37514" y="1481797"/>
                </a:lnTo>
                <a:cubicBezTo>
                  <a:pt x="16796" y="1481797"/>
                  <a:pt x="0" y="1465001"/>
                  <a:pt x="0" y="1444283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gradFill flip="none" rotWithShape="1">
            <a:gsLst>
              <a:gs pos="0">
                <a:srgbClr val="ED1C2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8" name="Shape 35"/>
          <p:cNvSpPr/>
          <p:nvPr/>
        </p:nvSpPr>
        <p:spPr>
          <a:xfrm>
            <a:off x="6403291" y="3587262"/>
            <a:ext cx="37514" cy="1481797"/>
          </a:xfrm>
          <a:custGeom>
            <a:avLst/>
            <a:gdLst/>
            <a:ahLst/>
            <a:cxnLst/>
            <a:rect l="l" t="t" r="r" b="b"/>
            <a:pathLst>
              <a:path w="37514" h="1481797">
                <a:moveTo>
                  <a:pt x="37514" y="0"/>
                </a:moveTo>
                <a:lnTo>
                  <a:pt x="37514" y="0"/>
                </a:lnTo>
                <a:lnTo>
                  <a:pt x="37514" y="1481797"/>
                </a:lnTo>
                <a:lnTo>
                  <a:pt x="37514" y="1481797"/>
                </a:lnTo>
                <a:cubicBezTo>
                  <a:pt x="16796" y="1481797"/>
                  <a:pt x="0" y="1465001"/>
                  <a:pt x="0" y="1444283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ED1C24"/>
          </a:solidFill>
          <a:ln/>
        </p:spPr>
      </p:sp>
      <p:sp>
        <p:nvSpPr>
          <p:cNvPr id="39" name="Shape 36"/>
          <p:cNvSpPr/>
          <p:nvPr/>
        </p:nvSpPr>
        <p:spPr>
          <a:xfrm>
            <a:off x="6572103" y="3737317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75028" y="0"/>
                </a:moveTo>
                <a:lnTo>
                  <a:pt x="300111" y="0"/>
                </a:lnTo>
                <a:cubicBezTo>
                  <a:pt x="341547" y="0"/>
                  <a:pt x="375138" y="33591"/>
                  <a:pt x="375138" y="75028"/>
                </a:cubicBezTo>
                <a:lnTo>
                  <a:pt x="375138" y="300111"/>
                </a:lnTo>
                <a:cubicBezTo>
                  <a:pt x="375138" y="341547"/>
                  <a:pt x="341547" y="375138"/>
                  <a:pt x="300111" y="375138"/>
                </a:cubicBezTo>
                <a:lnTo>
                  <a:pt x="75028" y="375138"/>
                </a:lnTo>
                <a:cubicBezTo>
                  <a:pt x="33591" y="375138"/>
                  <a:pt x="0" y="341547"/>
                  <a:pt x="0" y="300111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ED1C24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677611" y="3840480"/>
            <a:ext cx="168812" cy="168812"/>
          </a:xfrm>
          <a:custGeom>
            <a:avLst/>
            <a:gdLst/>
            <a:ahLst/>
            <a:cxnLst/>
            <a:rect l="l" t="t" r="r" b="b"/>
            <a:pathLst>
              <a:path w="168812" h="168812">
                <a:moveTo>
                  <a:pt x="58029" y="7913"/>
                </a:moveTo>
                <a:cubicBezTo>
                  <a:pt x="58029" y="3528"/>
                  <a:pt x="54501" y="0"/>
                  <a:pt x="50116" y="0"/>
                </a:cubicBezTo>
                <a:cubicBezTo>
                  <a:pt x="45731" y="0"/>
                  <a:pt x="42203" y="3528"/>
                  <a:pt x="42203" y="7913"/>
                </a:cubicBezTo>
                <a:lnTo>
                  <a:pt x="42203" y="21102"/>
                </a:lnTo>
                <a:cubicBezTo>
                  <a:pt x="30564" y="21102"/>
                  <a:pt x="21102" y="30564"/>
                  <a:pt x="21102" y="42203"/>
                </a:cubicBezTo>
                <a:lnTo>
                  <a:pt x="7913" y="42203"/>
                </a:lnTo>
                <a:cubicBezTo>
                  <a:pt x="3528" y="42203"/>
                  <a:pt x="0" y="45731"/>
                  <a:pt x="0" y="50116"/>
                </a:cubicBezTo>
                <a:cubicBezTo>
                  <a:pt x="0" y="54501"/>
                  <a:pt x="3528" y="58029"/>
                  <a:pt x="7913" y="58029"/>
                </a:cubicBezTo>
                <a:lnTo>
                  <a:pt x="21102" y="58029"/>
                </a:lnTo>
                <a:lnTo>
                  <a:pt x="21102" y="76493"/>
                </a:lnTo>
                <a:lnTo>
                  <a:pt x="7913" y="76493"/>
                </a:lnTo>
                <a:cubicBezTo>
                  <a:pt x="3528" y="76493"/>
                  <a:pt x="0" y="80021"/>
                  <a:pt x="0" y="84406"/>
                </a:cubicBezTo>
                <a:cubicBezTo>
                  <a:pt x="0" y="88791"/>
                  <a:pt x="3528" y="92319"/>
                  <a:pt x="7913" y="92319"/>
                </a:cubicBezTo>
                <a:lnTo>
                  <a:pt x="21102" y="92319"/>
                </a:lnTo>
                <a:lnTo>
                  <a:pt x="21102" y="110783"/>
                </a:lnTo>
                <a:lnTo>
                  <a:pt x="7913" y="110783"/>
                </a:lnTo>
                <a:cubicBezTo>
                  <a:pt x="3528" y="110783"/>
                  <a:pt x="0" y="114311"/>
                  <a:pt x="0" y="118696"/>
                </a:cubicBezTo>
                <a:cubicBezTo>
                  <a:pt x="0" y="123081"/>
                  <a:pt x="3528" y="126609"/>
                  <a:pt x="7913" y="126609"/>
                </a:cubicBezTo>
                <a:lnTo>
                  <a:pt x="21102" y="126609"/>
                </a:lnTo>
                <a:cubicBezTo>
                  <a:pt x="21102" y="138248"/>
                  <a:pt x="30564" y="147711"/>
                  <a:pt x="42203" y="147711"/>
                </a:cubicBezTo>
                <a:lnTo>
                  <a:pt x="42203" y="160899"/>
                </a:lnTo>
                <a:cubicBezTo>
                  <a:pt x="42203" y="165284"/>
                  <a:pt x="45731" y="168812"/>
                  <a:pt x="50116" y="168812"/>
                </a:cubicBezTo>
                <a:cubicBezTo>
                  <a:pt x="54501" y="168812"/>
                  <a:pt x="58029" y="165284"/>
                  <a:pt x="58029" y="160899"/>
                </a:cubicBezTo>
                <a:lnTo>
                  <a:pt x="58029" y="147711"/>
                </a:lnTo>
                <a:lnTo>
                  <a:pt x="76493" y="147711"/>
                </a:lnTo>
                <a:lnTo>
                  <a:pt x="76493" y="160899"/>
                </a:lnTo>
                <a:cubicBezTo>
                  <a:pt x="76493" y="165284"/>
                  <a:pt x="80021" y="168812"/>
                  <a:pt x="84406" y="168812"/>
                </a:cubicBezTo>
                <a:cubicBezTo>
                  <a:pt x="88791" y="168812"/>
                  <a:pt x="92319" y="165284"/>
                  <a:pt x="92319" y="160899"/>
                </a:cubicBezTo>
                <a:lnTo>
                  <a:pt x="92319" y="147711"/>
                </a:lnTo>
                <a:lnTo>
                  <a:pt x="110783" y="147711"/>
                </a:lnTo>
                <a:lnTo>
                  <a:pt x="110783" y="160899"/>
                </a:lnTo>
                <a:cubicBezTo>
                  <a:pt x="110783" y="165284"/>
                  <a:pt x="114311" y="168812"/>
                  <a:pt x="118696" y="168812"/>
                </a:cubicBezTo>
                <a:cubicBezTo>
                  <a:pt x="123081" y="168812"/>
                  <a:pt x="126609" y="165284"/>
                  <a:pt x="126609" y="160899"/>
                </a:cubicBezTo>
                <a:lnTo>
                  <a:pt x="126609" y="147711"/>
                </a:lnTo>
                <a:cubicBezTo>
                  <a:pt x="138248" y="147711"/>
                  <a:pt x="147711" y="138248"/>
                  <a:pt x="147711" y="126609"/>
                </a:cubicBezTo>
                <a:lnTo>
                  <a:pt x="160899" y="126609"/>
                </a:lnTo>
                <a:cubicBezTo>
                  <a:pt x="165284" y="126609"/>
                  <a:pt x="168812" y="123081"/>
                  <a:pt x="168812" y="118696"/>
                </a:cubicBezTo>
                <a:cubicBezTo>
                  <a:pt x="168812" y="114311"/>
                  <a:pt x="165284" y="110783"/>
                  <a:pt x="160899" y="110783"/>
                </a:cubicBezTo>
                <a:lnTo>
                  <a:pt x="147711" y="110783"/>
                </a:lnTo>
                <a:lnTo>
                  <a:pt x="147711" y="92319"/>
                </a:lnTo>
                <a:lnTo>
                  <a:pt x="160899" y="92319"/>
                </a:lnTo>
                <a:cubicBezTo>
                  <a:pt x="165284" y="92319"/>
                  <a:pt x="168812" y="88791"/>
                  <a:pt x="168812" y="84406"/>
                </a:cubicBezTo>
                <a:cubicBezTo>
                  <a:pt x="168812" y="80021"/>
                  <a:pt x="165284" y="76493"/>
                  <a:pt x="160899" y="76493"/>
                </a:cubicBezTo>
                <a:lnTo>
                  <a:pt x="147711" y="76493"/>
                </a:lnTo>
                <a:lnTo>
                  <a:pt x="147711" y="58029"/>
                </a:lnTo>
                <a:lnTo>
                  <a:pt x="160899" y="58029"/>
                </a:lnTo>
                <a:cubicBezTo>
                  <a:pt x="165284" y="58029"/>
                  <a:pt x="168812" y="54501"/>
                  <a:pt x="168812" y="50116"/>
                </a:cubicBezTo>
                <a:cubicBezTo>
                  <a:pt x="168812" y="45731"/>
                  <a:pt x="165284" y="42203"/>
                  <a:pt x="160899" y="42203"/>
                </a:cubicBezTo>
                <a:lnTo>
                  <a:pt x="147711" y="42203"/>
                </a:lnTo>
                <a:cubicBezTo>
                  <a:pt x="147711" y="30564"/>
                  <a:pt x="138248" y="21102"/>
                  <a:pt x="126609" y="21102"/>
                </a:cubicBezTo>
                <a:lnTo>
                  <a:pt x="126609" y="7913"/>
                </a:lnTo>
                <a:cubicBezTo>
                  <a:pt x="126609" y="3528"/>
                  <a:pt x="123081" y="0"/>
                  <a:pt x="118696" y="0"/>
                </a:cubicBezTo>
                <a:cubicBezTo>
                  <a:pt x="114311" y="0"/>
                  <a:pt x="110783" y="3528"/>
                  <a:pt x="110783" y="7913"/>
                </a:cubicBezTo>
                <a:lnTo>
                  <a:pt x="110783" y="21102"/>
                </a:lnTo>
                <a:lnTo>
                  <a:pt x="92319" y="21102"/>
                </a:lnTo>
                <a:lnTo>
                  <a:pt x="92319" y="7913"/>
                </a:lnTo>
                <a:cubicBezTo>
                  <a:pt x="92319" y="3528"/>
                  <a:pt x="88791" y="0"/>
                  <a:pt x="84406" y="0"/>
                </a:cubicBezTo>
                <a:cubicBezTo>
                  <a:pt x="80021" y="0"/>
                  <a:pt x="76493" y="3528"/>
                  <a:pt x="76493" y="7913"/>
                </a:cubicBezTo>
                <a:lnTo>
                  <a:pt x="76493" y="21102"/>
                </a:lnTo>
                <a:lnTo>
                  <a:pt x="58029" y="21102"/>
                </a:lnTo>
                <a:lnTo>
                  <a:pt x="58029" y="7913"/>
                </a:lnTo>
                <a:close/>
                <a:moveTo>
                  <a:pt x="52754" y="42203"/>
                </a:moveTo>
                <a:lnTo>
                  <a:pt x="116058" y="42203"/>
                </a:lnTo>
                <a:cubicBezTo>
                  <a:pt x="121894" y="42203"/>
                  <a:pt x="126609" y="46918"/>
                  <a:pt x="126609" y="52754"/>
                </a:cubicBezTo>
                <a:lnTo>
                  <a:pt x="126609" y="116058"/>
                </a:lnTo>
                <a:cubicBezTo>
                  <a:pt x="126609" y="121894"/>
                  <a:pt x="121894" y="126609"/>
                  <a:pt x="116058" y="126609"/>
                </a:cubicBezTo>
                <a:lnTo>
                  <a:pt x="52754" y="126609"/>
                </a:lnTo>
                <a:cubicBezTo>
                  <a:pt x="46918" y="126609"/>
                  <a:pt x="42203" y="121894"/>
                  <a:pt x="42203" y="116058"/>
                </a:cubicBezTo>
                <a:lnTo>
                  <a:pt x="42203" y="52754"/>
                </a:lnTo>
                <a:cubicBezTo>
                  <a:pt x="42203" y="46918"/>
                  <a:pt x="46918" y="42203"/>
                  <a:pt x="52754" y="42203"/>
                </a:cubicBezTo>
                <a:close/>
                <a:moveTo>
                  <a:pt x="58029" y="58029"/>
                </a:moveTo>
                <a:lnTo>
                  <a:pt x="58029" y="110783"/>
                </a:lnTo>
                <a:lnTo>
                  <a:pt x="110783" y="110783"/>
                </a:lnTo>
                <a:lnTo>
                  <a:pt x="110783" y="58029"/>
                </a:lnTo>
                <a:lnTo>
                  <a:pt x="58029" y="58029"/>
                </a:lnTo>
                <a:close/>
              </a:path>
            </a:pathLst>
          </a:custGeom>
          <a:solidFill>
            <a:srgbClr val="ED1C24"/>
          </a:solidFill>
          <a:ln/>
        </p:spPr>
      </p:sp>
      <p:sp>
        <p:nvSpPr>
          <p:cNvPr id="41" name="Text 38"/>
          <p:cNvSpPr/>
          <p:nvPr/>
        </p:nvSpPr>
        <p:spPr>
          <a:xfrm>
            <a:off x="7059783" y="3737317"/>
            <a:ext cx="88157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AMD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059783" y="3962400"/>
            <a:ext cx="862818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Champion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572103" y="4187483"/>
            <a:ext cx="4961206" cy="43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value proposition with Ryzen 5/7 series. Competitive multi-core performance. Growing presence in gaming laptops with Ryzen 9 flagship.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572103" y="4689231"/>
            <a:ext cx="665871" cy="225083"/>
          </a:xfrm>
          <a:custGeom>
            <a:avLst/>
            <a:gdLst/>
            <a:ahLst/>
            <a:cxnLst/>
            <a:rect l="l" t="t" r="r" b="b"/>
            <a:pathLst>
              <a:path w="665871" h="225083">
                <a:moveTo>
                  <a:pt x="37515" y="0"/>
                </a:moveTo>
                <a:lnTo>
                  <a:pt x="628356" y="0"/>
                </a:lnTo>
                <a:cubicBezTo>
                  <a:pt x="649061" y="0"/>
                  <a:pt x="665871" y="16810"/>
                  <a:pt x="665871" y="37515"/>
                </a:cubicBezTo>
                <a:lnTo>
                  <a:pt x="665871" y="187568"/>
                </a:lnTo>
                <a:cubicBezTo>
                  <a:pt x="665871" y="208287"/>
                  <a:pt x="649075" y="225083"/>
                  <a:pt x="628356" y="225083"/>
                </a:cubicBezTo>
                <a:lnTo>
                  <a:pt x="37515" y="225083"/>
                </a:lnTo>
                <a:cubicBezTo>
                  <a:pt x="16810" y="225083"/>
                  <a:pt x="0" y="208273"/>
                  <a:pt x="0" y="187568"/>
                </a:cubicBezTo>
                <a:lnTo>
                  <a:pt x="0" y="37515"/>
                </a:lnTo>
                <a:cubicBezTo>
                  <a:pt x="0" y="16796"/>
                  <a:pt x="16796" y="0"/>
                  <a:pt x="37515" y="0"/>
                </a:cubicBezTo>
                <a:close/>
              </a:path>
            </a:pathLst>
          </a:custGeom>
          <a:solidFill>
            <a:srgbClr val="ED1C24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572103" y="4689231"/>
            <a:ext cx="722142" cy="225083"/>
          </a:xfrm>
          <a:prstGeom prst="rect">
            <a:avLst/>
          </a:prstGeom>
          <a:noFill/>
          <a:ln/>
        </p:spPr>
        <p:txBody>
          <a:bodyPr wrap="square" lIns="75028" tIns="37514" rIns="75028" bIns="37514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 Share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314760" y="4689231"/>
            <a:ext cx="656492" cy="225083"/>
          </a:xfrm>
          <a:custGeom>
            <a:avLst/>
            <a:gdLst/>
            <a:ahLst/>
            <a:cxnLst/>
            <a:rect l="l" t="t" r="r" b="b"/>
            <a:pathLst>
              <a:path w="656492" h="225083">
                <a:moveTo>
                  <a:pt x="37515" y="0"/>
                </a:moveTo>
                <a:lnTo>
                  <a:pt x="618978" y="0"/>
                </a:lnTo>
                <a:cubicBezTo>
                  <a:pt x="639683" y="0"/>
                  <a:pt x="656492" y="16810"/>
                  <a:pt x="656492" y="37515"/>
                </a:cubicBezTo>
                <a:lnTo>
                  <a:pt x="656492" y="187568"/>
                </a:lnTo>
                <a:cubicBezTo>
                  <a:pt x="656492" y="208287"/>
                  <a:pt x="639696" y="225083"/>
                  <a:pt x="618978" y="225083"/>
                </a:cubicBezTo>
                <a:lnTo>
                  <a:pt x="37515" y="225083"/>
                </a:lnTo>
                <a:cubicBezTo>
                  <a:pt x="16810" y="225083"/>
                  <a:pt x="0" y="208273"/>
                  <a:pt x="0" y="187568"/>
                </a:cubicBezTo>
                <a:lnTo>
                  <a:pt x="0" y="37515"/>
                </a:lnTo>
                <a:cubicBezTo>
                  <a:pt x="0" y="16796"/>
                  <a:pt x="16796" y="0"/>
                  <a:pt x="37515" y="0"/>
                </a:cubicBezTo>
                <a:close/>
              </a:path>
            </a:pathLst>
          </a:custGeom>
          <a:solidFill>
            <a:srgbClr val="ED1C24">
              <a:alpha val="2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7314760" y="4689231"/>
            <a:ext cx="712763" cy="225083"/>
          </a:xfrm>
          <a:prstGeom prst="rect">
            <a:avLst/>
          </a:prstGeom>
          <a:noFill/>
          <a:ln/>
        </p:spPr>
        <p:txBody>
          <a:bodyPr wrap="square" lIns="75028" tIns="37514" rIns="75028" bIns="37514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Value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03291" y="5176911"/>
            <a:ext cx="5214425" cy="1481797"/>
          </a:xfrm>
          <a:custGeom>
            <a:avLst/>
            <a:gdLst/>
            <a:ahLst/>
            <a:cxnLst/>
            <a:rect l="l" t="t" r="r" b="b"/>
            <a:pathLst>
              <a:path w="5214425" h="1481797">
                <a:moveTo>
                  <a:pt x="37514" y="0"/>
                </a:moveTo>
                <a:lnTo>
                  <a:pt x="5139401" y="0"/>
                </a:lnTo>
                <a:cubicBezTo>
                  <a:pt x="5180836" y="0"/>
                  <a:pt x="5214425" y="33589"/>
                  <a:pt x="5214425" y="75023"/>
                </a:cubicBezTo>
                <a:lnTo>
                  <a:pt x="5214425" y="1406774"/>
                </a:lnTo>
                <a:cubicBezTo>
                  <a:pt x="5214425" y="1448208"/>
                  <a:pt x="5180836" y="1481797"/>
                  <a:pt x="5139401" y="1481797"/>
                </a:cubicBezTo>
                <a:lnTo>
                  <a:pt x="37514" y="1481797"/>
                </a:lnTo>
                <a:cubicBezTo>
                  <a:pt x="16796" y="1481797"/>
                  <a:pt x="0" y="1465001"/>
                  <a:pt x="0" y="1444283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gradFill flip="none" rotWithShape="1">
            <a:gsLst>
              <a:gs pos="0">
                <a:srgbClr val="A2AAAD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9" name="Shape 46"/>
          <p:cNvSpPr/>
          <p:nvPr/>
        </p:nvSpPr>
        <p:spPr>
          <a:xfrm>
            <a:off x="6403291" y="5176911"/>
            <a:ext cx="37514" cy="1481797"/>
          </a:xfrm>
          <a:custGeom>
            <a:avLst/>
            <a:gdLst/>
            <a:ahLst/>
            <a:cxnLst/>
            <a:rect l="l" t="t" r="r" b="b"/>
            <a:pathLst>
              <a:path w="37514" h="1481797">
                <a:moveTo>
                  <a:pt x="37514" y="0"/>
                </a:moveTo>
                <a:lnTo>
                  <a:pt x="37514" y="0"/>
                </a:lnTo>
                <a:lnTo>
                  <a:pt x="37514" y="1481797"/>
                </a:lnTo>
                <a:lnTo>
                  <a:pt x="37514" y="1481797"/>
                </a:lnTo>
                <a:cubicBezTo>
                  <a:pt x="16796" y="1481797"/>
                  <a:pt x="0" y="1465001"/>
                  <a:pt x="0" y="1444283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A2AAAD"/>
          </a:solidFill>
          <a:ln/>
        </p:spPr>
      </p:sp>
      <p:sp>
        <p:nvSpPr>
          <p:cNvPr id="50" name="Shape 47"/>
          <p:cNvSpPr/>
          <p:nvPr/>
        </p:nvSpPr>
        <p:spPr>
          <a:xfrm>
            <a:off x="6572103" y="5326966"/>
            <a:ext cx="375138" cy="375138"/>
          </a:xfrm>
          <a:custGeom>
            <a:avLst/>
            <a:gdLst/>
            <a:ahLst/>
            <a:cxnLst/>
            <a:rect l="l" t="t" r="r" b="b"/>
            <a:pathLst>
              <a:path w="375138" h="375138">
                <a:moveTo>
                  <a:pt x="75028" y="0"/>
                </a:moveTo>
                <a:lnTo>
                  <a:pt x="300111" y="0"/>
                </a:lnTo>
                <a:cubicBezTo>
                  <a:pt x="341547" y="0"/>
                  <a:pt x="375138" y="33591"/>
                  <a:pt x="375138" y="75028"/>
                </a:cubicBezTo>
                <a:lnTo>
                  <a:pt x="375138" y="300111"/>
                </a:lnTo>
                <a:cubicBezTo>
                  <a:pt x="375138" y="341547"/>
                  <a:pt x="341547" y="375138"/>
                  <a:pt x="300111" y="375138"/>
                </a:cubicBezTo>
                <a:lnTo>
                  <a:pt x="75028" y="375138"/>
                </a:lnTo>
                <a:cubicBezTo>
                  <a:pt x="33591" y="375138"/>
                  <a:pt x="0" y="341547"/>
                  <a:pt x="0" y="300111"/>
                </a:cubicBezTo>
                <a:lnTo>
                  <a:pt x="0" y="75028"/>
                </a:lnTo>
                <a:cubicBezTo>
                  <a:pt x="0" y="33619"/>
                  <a:pt x="33619" y="0"/>
                  <a:pt x="75028" y="0"/>
                </a:cubicBezTo>
                <a:close/>
              </a:path>
            </a:pathLst>
          </a:custGeom>
          <a:solidFill>
            <a:srgbClr val="A2AAAD">
              <a:alpha val="2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688162" y="5430129"/>
            <a:ext cx="147711" cy="168812"/>
          </a:xfrm>
          <a:custGeom>
            <a:avLst/>
            <a:gdLst/>
            <a:ahLst/>
            <a:cxnLst/>
            <a:rect l="l" t="t" r="r" b="b"/>
            <a:pathLst>
              <a:path w="147711" h="168812">
                <a:moveTo>
                  <a:pt x="73855" y="36928"/>
                </a:moveTo>
                <a:cubicBezTo>
                  <a:pt x="70954" y="36928"/>
                  <a:pt x="68580" y="34554"/>
                  <a:pt x="68580" y="31652"/>
                </a:cubicBezTo>
                <a:lnTo>
                  <a:pt x="68580" y="26377"/>
                </a:lnTo>
                <a:cubicBezTo>
                  <a:pt x="68580" y="11804"/>
                  <a:pt x="80384" y="0"/>
                  <a:pt x="94957" y="0"/>
                </a:cubicBezTo>
                <a:lnTo>
                  <a:pt x="100232" y="0"/>
                </a:lnTo>
                <a:cubicBezTo>
                  <a:pt x="103134" y="0"/>
                  <a:pt x="105508" y="2374"/>
                  <a:pt x="105508" y="5275"/>
                </a:cubicBezTo>
                <a:lnTo>
                  <a:pt x="105508" y="10551"/>
                </a:lnTo>
                <a:cubicBezTo>
                  <a:pt x="105508" y="25124"/>
                  <a:pt x="93704" y="36928"/>
                  <a:pt x="79131" y="36928"/>
                </a:cubicBezTo>
                <a:lnTo>
                  <a:pt x="73855" y="36928"/>
                </a:lnTo>
                <a:close/>
                <a:moveTo>
                  <a:pt x="0" y="94957"/>
                </a:moveTo>
                <a:cubicBezTo>
                  <a:pt x="0" y="69800"/>
                  <a:pt x="11771" y="42203"/>
                  <a:pt x="36928" y="42203"/>
                </a:cubicBezTo>
                <a:cubicBezTo>
                  <a:pt x="45929" y="42203"/>
                  <a:pt x="56611" y="45599"/>
                  <a:pt x="64195" y="48567"/>
                </a:cubicBezTo>
                <a:cubicBezTo>
                  <a:pt x="70393" y="50973"/>
                  <a:pt x="77350" y="50973"/>
                  <a:pt x="83549" y="48567"/>
                </a:cubicBezTo>
                <a:cubicBezTo>
                  <a:pt x="91099" y="45632"/>
                  <a:pt x="101815" y="42203"/>
                  <a:pt x="110816" y="42203"/>
                </a:cubicBezTo>
                <a:cubicBezTo>
                  <a:pt x="135973" y="42203"/>
                  <a:pt x="147744" y="69800"/>
                  <a:pt x="147744" y="94957"/>
                </a:cubicBezTo>
                <a:cubicBezTo>
                  <a:pt x="147744" y="137160"/>
                  <a:pt x="121367" y="168812"/>
                  <a:pt x="94990" y="168812"/>
                </a:cubicBezTo>
                <a:cubicBezTo>
                  <a:pt x="89550" y="168812"/>
                  <a:pt x="82428" y="166636"/>
                  <a:pt x="78010" y="165087"/>
                </a:cubicBezTo>
                <a:cubicBezTo>
                  <a:pt x="75339" y="164163"/>
                  <a:pt x="72438" y="164163"/>
                  <a:pt x="69767" y="165087"/>
                </a:cubicBezTo>
                <a:cubicBezTo>
                  <a:pt x="65349" y="166636"/>
                  <a:pt x="58227" y="168812"/>
                  <a:pt x="52787" y="168812"/>
                </a:cubicBezTo>
                <a:cubicBezTo>
                  <a:pt x="26410" y="168812"/>
                  <a:pt x="33" y="137160"/>
                  <a:pt x="33" y="94957"/>
                </a:cubicBezTo>
                <a:close/>
              </a:path>
            </a:pathLst>
          </a:custGeom>
          <a:solidFill>
            <a:srgbClr val="A2AAAD"/>
          </a:solidFill>
          <a:ln/>
        </p:spPr>
      </p:sp>
      <p:sp>
        <p:nvSpPr>
          <p:cNvPr id="52" name="Text 49"/>
          <p:cNvSpPr/>
          <p:nvPr/>
        </p:nvSpPr>
        <p:spPr>
          <a:xfrm>
            <a:off x="7059783" y="5326966"/>
            <a:ext cx="1059766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Apple Silicon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59783" y="5552049"/>
            <a:ext cx="1041009" cy="15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Innovation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572103" y="5777132"/>
            <a:ext cx="4961206" cy="431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3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M-series chips deliver exceptional performance-per-watt. Premium pricing with MacBook Air/Pro. Industry-leading battery efficiency and thermal management.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572103" y="6278880"/>
            <a:ext cx="656492" cy="225083"/>
          </a:xfrm>
          <a:custGeom>
            <a:avLst/>
            <a:gdLst/>
            <a:ahLst/>
            <a:cxnLst/>
            <a:rect l="l" t="t" r="r" b="b"/>
            <a:pathLst>
              <a:path w="656492" h="225083">
                <a:moveTo>
                  <a:pt x="37515" y="0"/>
                </a:moveTo>
                <a:lnTo>
                  <a:pt x="618978" y="0"/>
                </a:lnTo>
                <a:cubicBezTo>
                  <a:pt x="639683" y="0"/>
                  <a:pt x="656492" y="16810"/>
                  <a:pt x="656492" y="37515"/>
                </a:cubicBezTo>
                <a:lnTo>
                  <a:pt x="656492" y="187568"/>
                </a:lnTo>
                <a:cubicBezTo>
                  <a:pt x="656492" y="208287"/>
                  <a:pt x="639696" y="225083"/>
                  <a:pt x="618978" y="225083"/>
                </a:cubicBezTo>
                <a:lnTo>
                  <a:pt x="37515" y="225083"/>
                </a:lnTo>
                <a:cubicBezTo>
                  <a:pt x="16810" y="225083"/>
                  <a:pt x="0" y="208273"/>
                  <a:pt x="0" y="187568"/>
                </a:cubicBezTo>
                <a:lnTo>
                  <a:pt x="0" y="37515"/>
                </a:lnTo>
                <a:cubicBezTo>
                  <a:pt x="0" y="16796"/>
                  <a:pt x="16796" y="0"/>
                  <a:pt x="37515" y="0"/>
                </a:cubicBezTo>
                <a:close/>
              </a:path>
            </a:pathLst>
          </a:custGeom>
          <a:solidFill>
            <a:srgbClr val="A2AAAD">
              <a:alpha val="20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6572103" y="6278880"/>
            <a:ext cx="712763" cy="225083"/>
          </a:xfrm>
          <a:prstGeom prst="rect">
            <a:avLst/>
          </a:prstGeom>
          <a:noFill/>
          <a:ln/>
        </p:spPr>
        <p:txBody>
          <a:bodyPr wrap="square" lIns="75028" tIns="37514" rIns="75028" bIns="37514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Share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7303330" y="6278880"/>
            <a:ext cx="590843" cy="225083"/>
          </a:xfrm>
          <a:custGeom>
            <a:avLst/>
            <a:gdLst/>
            <a:ahLst/>
            <a:cxnLst/>
            <a:rect l="l" t="t" r="r" b="b"/>
            <a:pathLst>
              <a:path w="590843" h="225083">
                <a:moveTo>
                  <a:pt x="37515" y="0"/>
                </a:moveTo>
                <a:lnTo>
                  <a:pt x="553328" y="0"/>
                </a:lnTo>
                <a:cubicBezTo>
                  <a:pt x="574033" y="0"/>
                  <a:pt x="590843" y="16810"/>
                  <a:pt x="590843" y="37515"/>
                </a:cubicBezTo>
                <a:lnTo>
                  <a:pt x="590843" y="187568"/>
                </a:lnTo>
                <a:cubicBezTo>
                  <a:pt x="590843" y="208287"/>
                  <a:pt x="574047" y="225083"/>
                  <a:pt x="553328" y="225083"/>
                </a:cubicBezTo>
                <a:lnTo>
                  <a:pt x="37515" y="225083"/>
                </a:lnTo>
                <a:cubicBezTo>
                  <a:pt x="16810" y="225083"/>
                  <a:pt x="0" y="208273"/>
                  <a:pt x="0" y="187568"/>
                </a:cubicBezTo>
                <a:lnTo>
                  <a:pt x="0" y="37515"/>
                </a:lnTo>
                <a:cubicBezTo>
                  <a:pt x="0" y="16796"/>
                  <a:pt x="16796" y="0"/>
                  <a:pt x="37515" y="0"/>
                </a:cubicBezTo>
                <a:close/>
              </a:path>
            </a:pathLst>
          </a:custGeom>
          <a:solidFill>
            <a:srgbClr val="A2AAAD">
              <a:alpha val="20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7303330" y="6278880"/>
            <a:ext cx="647114" cy="225083"/>
          </a:xfrm>
          <a:prstGeom prst="rect">
            <a:avLst/>
          </a:prstGeom>
          <a:noFill/>
          <a:ln/>
        </p:spPr>
        <p:txBody>
          <a:bodyPr wrap="square" lIns="75028" tIns="37514" rIns="75028" bIns="37514" rtlCol="0" anchor="ctr"/>
          <a:lstStyle/>
          <a:p>
            <a:pPr>
              <a:lnSpc>
                <a:spcPct val="110000"/>
              </a:lnSpc>
            </a:pPr>
            <a:r>
              <a:rPr lang="en-US" sz="88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207" y="332207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66441" y="0"/>
                </a:moveTo>
                <a:lnTo>
                  <a:pt x="265766" y="0"/>
                </a:lnTo>
                <a:cubicBezTo>
                  <a:pt x="302436" y="0"/>
                  <a:pt x="332207" y="29771"/>
                  <a:pt x="332207" y="66441"/>
                </a:cubicBezTo>
                <a:lnTo>
                  <a:pt x="332207" y="265766"/>
                </a:lnTo>
                <a:cubicBezTo>
                  <a:pt x="332207" y="302436"/>
                  <a:pt x="302436" y="332207"/>
                  <a:pt x="265766" y="332207"/>
                </a:cubicBezTo>
                <a:lnTo>
                  <a:pt x="66441" y="332207"/>
                </a:lnTo>
                <a:cubicBezTo>
                  <a:pt x="29771" y="332207"/>
                  <a:pt x="0" y="302436"/>
                  <a:pt x="0" y="265766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0198" y="382038"/>
            <a:ext cx="249155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229" y="361275"/>
            <a:ext cx="1154420" cy="274071"/>
          </a:xfrm>
          <a:custGeom>
            <a:avLst/>
            <a:gdLst/>
            <a:ahLst/>
            <a:cxnLst/>
            <a:rect l="l" t="t" r="r" b="b"/>
            <a:pathLst>
              <a:path w="1154420" h="274071">
                <a:moveTo>
                  <a:pt x="137035" y="0"/>
                </a:moveTo>
                <a:lnTo>
                  <a:pt x="1017384" y="0"/>
                </a:lnTo>
                <a:cubicBezTo>
                  <a:pt x="1093067" y="0"/>
                  <a:pt x="1154420" y="61353"/>
                  <a:pt x="1154420" y="137035"/>
                </a:cubicBezTo>
                <a:lnTo>
                  <a:pt x="1154420" y="137035"/>
                </a:lnTo>
                <a:cubicBezTo>
                  <a:pt x="1154420" y="212718"/>
                  <a:pt x="1093067" y="274071"/>
                  <a:pt x="1017384" y="274071"/>
                </a:cubicBezTo>
                <a:lnTo>
                  <a:pt x="137035" y="274071"/>
                </a:lnTo>
                <a:cubicBezTo>
                  <a:pt x="61404" y="274071"/>
                  <a:pt x="0" y="212667"/>
                  <a:pt x="0" y="137035"/>
                </a:cubicBezTo>
                <a:lnTo>
                  <a:pt x="0" y="137035"/>
                </a:lnTo>
                <a:cubicBezTo>
                  <a:pt x="0" y="61404"/>
                  <a:pt x="61404" y="0"/>
                  <a:pt x="137035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2044" y="456785"/>
            <a:ext cx="1000125" cy="107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b="1" kern="0" spc="39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2207" y="730856"/>
            <a:ext cx="11677079" cy="33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Configuration: RAM Trends &amp; Patterns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360" y="1233319"/>
            <a:ext cx="6860076" cy="2998169"/>
          </a:xfrm>
          <a:custGeom>
            <a:avLst/>
            <a:gdLst/>
            <a:ahLst/>
            <a:cxnLst/>
            <a:rect l="l" t="t" r="r" b="b"/>
            <a:pathLst>
              <a:path w="6860076" h="2998169">
                <a:moveTo>
                  <a:pt x="99659" y="0"/>
                </a:moveTo>
                <a:lnTo>
                  <a:pt x="6760417" y="0"/>
                </a:lnTo>
                <a:cubicBezTo>
                  <a:pt x="6815457" y="0"/>
                  <a:pt x="6860076" y="44619"/>
                  <a:pt x="6860076" y="99659"/>
                </a:cubicBezTo>
                <a:lnTo>
                  <a:pt x="6860076" y="2898510"/>
                </a:lnTo>
                <a:cubicBezTo>
                  <a:pt x="6860076" y="2953550"/>
                  <a:pt x="6815457" y="2998169"/>
                  <a:pt x="6760417" y="2998169"/>
                </a:cubicBezTo>
                <a:lnTo>
                  <a:pt x="99659" y="2998169"/>
                </a:lnTo>
                <a:cubicBezTo>
                  <a:pt x="44619" y="2998169"/>
                  <a:pt x="0" y="2953550"/>
                  <a:pt x="0" y="2898510"/>
                </a:cubicBezTo>
                <a:lnTo>
                  <a:pt x="0" y="99659"/>
                </a:lnTo>
                <a:cubicBezTo>
                  <a:pt x="0" y="44656"/>
                  <a:pt x="44656" y="0"/>
                  <a:pt x="9965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6616" y="1403575"/>
            <a:ext cx="6594311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 Capacity Distribution</a:t>
            </a:r>
            <a:endParaRPr lang="en-US" sz="1600" dirty="0"/>
          </a:p>
        </p:txBody>
      </p:sp>
      <p:pic>
        <p:nvPicPr>
          <p:cNvPr id="9" name="Image 0" descr="https://kimi-img.moonshot.cn/pub/slides/26-02-02-19:33:43-d608n5r2ulb2n8vdube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6616" y="1735782"/>
            <a:ext cx="5581079" cy="232545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36360" y="4372676"/>
            <a:ext cx="6860076" cy="1171030"/>
          </a:xfrm>
          <a:custGeom>
            <a:avLst/>
            <a:gdLst/>
            <a:ahLst/>
            <a:cxnLst/>
            <a:rect l="l" t="t" r="r" b="b"/>
            <a:pathLst>
              <a:path w="6860076" h="1171030">
                <a:moveTo>
                  <a:pt x="99666" y="0"/>
                </a:moveTo>
                <a:lnTo>
                  <a:pt x="6760410" y="0"/>
                </a:lnTo>
                <a:cubicBezTo>
                  <a:pt x="6815454" y="0"/>
                  <a:pt x="6860076" y="44622"/>
                  <a:pt x="6860076" y="99666"/>
                </a:cubicBezTo>
                <a:lnTo>
                  <a:pt x="6860076" y="1071364"/>
                </a:lnTo>
                <a:cubicBezTo>
                  <a:pt x="6860076" y="1126408"/>
                  <a:pt x="6815454" y="1171030"/>
                  <a:pt x="6760410" y="1171030"/>
                </a:cubicBezTo>
                <a:lnTo>
                  <a:pt x="99666" y="1171030"/>
                </a:lnTo>
                <a:cubicBezTo>
                  <a:pt x="44622" y="1171030"/>
                  <a:pt x="0" y="1126408"/>
                  <a:pt x="0" y="1071364"/>
                </a:cubicBezTo>
                <a:lnTo>
                  <a:pt x="0" y="99666"/>
                </a:lnTo>
                <a:cubicBezTo>
                  <a:pt x="0" y="44622"/>
                  <a:pt x="44622" y="0"/>
                  <a:pt x="99666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3395" y="4509711"/>
            <a:ext cx="665244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 Type Distribution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3395" y="4808698"/>
            <a:ext cx="1569678" cy="597973"/>
          </a:xfrm>
          <a:custGeom>
            <a:avLst/>
            <a:gdLst/>
            <a:ahLst/>
            <a:cxnLst/>
            <a:rect l="l" t="t" r="r" b="b"/>
            <a:pathLst>
              <a:path w="1569678" h="597973">
                <a:moveTo>
                  <a:pt x="66441" y="0"/>
                </a:moveTo>
                <a:lnTo>
                  <a:pt x="1503238" y="0"/>
                </a:lnTo>
                <a:cubicBezTo>
                  <a:pt x="1539932" y="0"/>
                  <a:pt x="1569678" y="29747"/>
                  <a:pt x="1569678" y="66441"/>
                </a:cubicBezTo>
                <a:lnTo>
                  <a:pt x="1569678" y="531532"/>
                </a:lnTo>
                <a:cubicBezTo>
                  <a:pt x="1569678" y="568226"/>
                  <a:pt x="1539932" y="597973"/>
                  <a:pt x="1503238" y="597973"/>
                </a:cubicBezTo>
                <a:lnTo>
                  <a:pt x="66441" y="597973"/>
                </a:lnTo>
                <a:cubicBezTo>
                  <a:pt x="29747" y="597973"/>
                  <a:pt x="0" y="568226"/>
                  <a:pt x="0" y="531532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23226" y="4908360"/>
            <a:ext cx="1470016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9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58%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142" y="5174125"/>
            <a:ext cx="142018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DDR4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144033" y="4808698"/>
            <a:ext cx="1569678" cy="597973"/>
          </a:xfrm>
          <a:custGeom>
            <a:avLst/>
            <a:gdLst/>
            <a:ahLst/>
            <a:cxnLst/>
            <a:rect l="l" t="t" r="r" b="b"/>
            <a:pathLst>
              <a:path w="1569678" h="597973">
                <a:moveTo>
                  <a:pt x="66441" y="0"/>
                </a:moveTo>
                <a:lnTo>
                  <a:pt x="1503238" y="0"/>
                </a:lnTo>
                <a:cubicBezTo>
                  <a:pt x="1539932" y="0"/>
                  <a:pt x="1569678" y="29747"/>
                  <a:pt x="1569678" y="66441"/>
                </a:cubicBezTo>
                <a:lnTo>
                  <a:pt x="1569678" y="531532"/>
                </a:lnTo>
                <a:cubicBezTo>
                  <a:pt x="1569678" y="568226"/>
                  <a:pt x="1539932" y="597973"/>
                  <a:pt x="1503238" y="597973"/>
                </a:cubicBezTo>
                <a:lnTo>
                  <a:pt x="66441" y="597973"/>
                </a:lnTo>
                <a:cubicBezTo>
                  <a:pt x="29747" y="597973"/>
                  <a:pt x="0" y="568226"/>
                  <a:pt x="0" y="531532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193864" y="4908360"/>
            <a:ext cx="1470016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9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22%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218780" y="5174125"/>
            <a:ext cx="142018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DDR5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14801" y="4808698"/>
            <a:ext cx="1569678" cy="597973"/>
          </a:xfrm>
          <a:custGeom>
            <a:avLst/>
            <a:gdLst/>
            <a:ahLst/>
            <a:cxnLst/>
            <a:rect l="l" t="t" r="r" b="b"/>
            <a:pathLst>
              <a:path w="1569678" h="597973">
                <a:moveTo>
                  <a:pt x="66441" y="0"/>
                </a:moveTo>
                <a:lnTo>
                  <a:pt x="1503238" y="0"/>
                </a:lnTo>
                <a:cubicBezTo>
                  <a:pt x="1539932" y="0"/>
                  <a:pt x="1569678" y="29747"/>
                  <a:pt x="1569678" y="66441"/>
                </a:cubicBezTo>
                <a:lnTo>
                  <a:pt x="1569678" y="531532"/>
                </a:lnTo>
                <a:cubicBezTo>
                  <a:pt x="1569678" y="568226"/>
                  <a:pt x="1539932" y="597973"/>
                  <a:pt x="1503238" y="597973"/>
                </a:cubicBezTo>
                <a:lnTo>
                  <a:pt x="66441" y="597973"/>
                </a:lnTo>
                <a:cubicBezTo>
                  <a:pt x="29747" y="597973"/>
                  <a:pt x="0" y="568226"/>
                  <a:pt x="0" y="531532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864632" y="4908360"/>
            <a:ext cx="1470016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9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12%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889548" y="5174125"/>
            <a:ext cx="142018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LPDDR4X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5440" y="4808698"/>
            <a:ext cx="1569678" cy="597973"/>
          </a:xfrm>
          <a:custGeom>
            <a:avLst/>
            <a:gdLst/>
            <a:ahLst/>
            <a:cxnLst/>
            <a:rect l="l" t="t" r="r" b="b"/>
            <a:pathLst>
              <a:path w="1569678" h="597973">
                <a:moveTo>
                  <a:pt x="66441" y="0"/>
                </a:moveTo>
                <a:lnTo>
                  <a:pt x="1503238" y="0"/>
                </a:lnTo>
                <a:cubicBezTo>
                  <a:pt x="1539932" y="0"/>
                  <a:pt x="1569678" y="29747"/>
                  <a:pt x="1569678" y="66441"/>
                </a:cubicBezTo>
                <a:lnTo>
                  <a:pt x="1569678" y="531532"/>
                </a:lnTo>
                <a:cubicBezTo>
                  <a:pt x="1569678" y="568226"/>
                  <a:pt x="1539932" y="597973"/>
                  <a:pt x="1503238" y="597973"/>
                </a:cubicBezTo>
                <a:lnTo>
                  <a:pt x="66441" y="597973"/>
                </a:lnTo>
                <a:cubicBezTo>
                  <a:pt x="29747" y="597973"/>
                  <a:pt x="0" y="568226"/>
                  <a:pt x="0" y="531532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535271" y="4908360"/>
            <a:ext cx="1470016" cy="265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9" b="1" dirty="0">
                <a:solidFill>
                  <a:srgbClr val="E0E2E5">
                    <a:alpha val="7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60186" y="5174125"/>
            <a:ext cx="1420185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5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LPDDR5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334769" y="1233319"/>
            <a:ext cx="4526322" cy="3695804"/>
          </a:xfrm>
          <a:custGeom>
            <a:avLst/>
            <a:gdLst/>
            <a:ahLst/>
            <a:cxnLst/>
            <a:rect l="l" t="t" r="r" b="b"/>
            <a:pathLst>
              <a:path w="4526322" h="3695804">
                <a:moveTo>
                  <a:pt x="99676" y="0"/>
                </a:moveTo>
                <a:lnTo>
                  <a:pt x="4426646" y="0"/>
                </a:lnTo>
                <a:cubicBezTo>
                  <a:pt x="4481695" y="0"/>
                  <a:pt x="4526322" y="44626"/>
                  <a:pt x="4526322" y="99676"/>
                </a:cubicBezTo>
                <a:lnTo>
                  <a:pt x="4526322" y="3596128"/>
                </a:lnTo>
                <a:cubicBezTo>
                  <a:pt x="4526322" y="3651177"/>
                  <a:pt x="4481695" y="3695804"/>
                  <a:pt x="4426646" y="3695804"/>
                </a:cubicBezTo>
                <a:lnTo>
                  <a:pt x="99676" y="3695804"/>
                </a:lnTo>
                <a:cubicBezTo>
                  <a:pt x="44626" y="3695804"/>
                  <a:pt x="0" y="3651177"/>
                  <a:pt x="0" y="3596128"/>
                </a:cubicBezTo>
                <a:lnTo>
                  <a:pt x="0" y="99676"/>
                </a:lnTo>
                <a:cubicBezTo>
                  <a:pt x="0" y="44663"/>
                  <a:pt x="44663" y="0"/>
                  <a:pt x="99676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05025" y="1403575"/>
            <a:ext cx="4260556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 Configuration Insights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521636" y="1769003"/>
            <a:ext cx="4169199" cy="930180"/>
          </a:xfrm>
          <a:custGeom>
            <a:avLst/>
            <a:gdLst/>
            <a:ahLst/>
            <a:cxnLst/>
            <a:rect l="l" t="t" r="r" b="b"/>
            <a:pathLst>
              <a:path w="4169199" h="930180">
                <a:moveTo>
                  <a:pt x="33221" y="0"/>
                </a:moveTo>
                <a:lnTo>
                  <a:pt x="4102756" y="0"/>
                </a:lnTo>
                <a:cubicBezTo>
                  <a:pt x="4139451" y="0"/>
                  <a:pt x="4169199" y="29747"/>
                  <a:pt x="4169199" y="66443"/>
                </a:cubicBezTo>
                <a:lnTo>
                  <a:pt x="4169199" y="863737"/>
                </a:lnTo>
                <a:cubicBezTo>
                  <a:pt x="4169199" y="900432"/>
                  <a:pt x="4139451" y="930180"/>
                  <a:pt x="4102756" y="930180"/>
                </a:cubicBezTo>
                <a:lnTo>
                  <a:pt x="33221" y="930180"/>
                </a:lnTo>
                <a:cubicBezTo>
                  <a:pt x="14873" y="930180"/>
                  <a:pt x="0" y="915306"/>
                  <a:pt x="0" y="896959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7521636" y="1769003"/>
            <a:ext cx="33221" cy="930180"/>
          </a:xfrm>
          <a:custGeom>
            <a:avLst/>
            <a:gdLst/>
            <a:ahLst/>
            <a:cxnLst/>
            <a:rect l="l" t="t" r="r" b="b"/>
            <a:pathLst>
              <a:path w="33221" h="930180">
                <a:moveTo>
                  <a:pt x="33221" y="0"/>
                </a:moveTo>
                <a:lnTo>
                  <a:pt x="33221" y="0"/>
                </a:lnTo>
                <a:lnTo>
                  <a:pt x="33221" y="930180"/>
                </a:lnTo>
                <a:lnTo>
                  <a:pt x="33221" y="930180"/>
                </a:lnTo>
                <a:cubicBezTo>
                  <a:pt x="14873" y="930180"/>
                  <a:pt x="0" y="915306"/>
                  <a:pt x="0" y="896959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28" name="Text 25"/>
          <p:cNvSpPr/>
          <p:nvPr/>
        </p:nvSpPr>
        <p:spPr>
          <a:xfrm>
            <a:off x="7671129" y="1918496"/>
            <a:ext cx="614583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8GB RAM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266103" y="1901886"/>
            <a:ext cx="365428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35%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671129" y="2200872"/>
            <a:ext cx="3944959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common configuration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671129" y="2433417"/>
            <a:ext cx="3936654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&amp; mainstream laptops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521636" y="2798845"/>
            <a:ext cx="4169199" cy="930180"/>
          </a:xfrm>
          <a:custGeom>
            <a:avLst/>
            <a:gdLst/>
            <a:ahLst/>
            <a:cxnLst/>
            <a:rect l="l" t="t" r="r" b="b"/>
            <a:pathLst>
              <a:path w="4169199" h="930180">
                <a:moveTo>
                  <a:pt x="33221" y="0"/>
                </a:moveTo>
                <a:lnTo>
                  <a:pt x="4102756" y="0"/>
                </a:lnTo>
                <a:cubicBezTo>
                  <a:pt x="4139451" y="0"/>
                  <a:pt x="4169199" y="29747"/>
                  <a:pt x="4169199" y="66443"/>
                </a:cubicBezTo>
                <a:lnTo>
                  <a:pt x="4169199" y="863737"/>
                </a:lnTo>
                <a:cubicBezTo>
                  <a:pt x="4169199" y="900432"/>
                  <a:pt x="4139451" y="930180"/>
                  <a:pt x="4102756" y="930180"/>
                </a:cubicBezTo>
                <a:lnTo>
                  <a:pt x="33221" y="930180"/>
                </a:lnTo>
                <a:cubicBezTo>
                  <a:pt x="14873" y="930180"/>
                  <a:pt x="0" y="915306"/>
                  <a:pt x="0" y="896959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3" name="Shape 30"/>
          <p:cNvSpPr/>
          <p:nvPr/>
        </p:nvSpPr>
        <p:spPr>
          <a:xfrm>
            <a:off x="7521636" y="2798845"/>
            <a:ext cx="33221" cy="930180"/>
          </a:xfrm>
          <a:custGeom>
            <a:avLst/>
            <a:gdLst/>
            <a:ahLst/>
            <a:cxnLst/>
            <a:rect l="l" t="t" r="r" b="b"/>
            <a:pathLst>
              <a:path w="33221" h="930180">
                <a:moveTo>
                  <a:pt x="33221" y="0"/>
                </a:moveTo>
                <a:lnTo>
                  <a:pt x="33221" y="0"/>
                </a:lnTo>
                <a:lnTo>
                  <a:pt x="33221" y="930180"/>
                </a:lnTo>
                <a:lnTo>
                  <a:pt x="33221" y="930180"/>
                </a:lnTo>
                <a:cubicBezTo>
                  <a:pt x="14873" y="930180"/>
                  <a:pt x="0" y="915306"/>
                  <a:pt x="0" y="896959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4" name="Text 31"/>
          <p:cNvSpPr/>
          <p:nvPr/>
        </p:nvSpPr>
        <p:spPr>
          <a:xfrm>
            <a:off x="7671129" y="2948338"/>
            <a:ext cx="656109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16GB RAM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266622" y="2931728"/>
            <a:ext cx="365428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28%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671129" y="3230714"/>
            <a:ext cx="3944959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Growing popularity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671129" y="3463259"/>
            <a:ext cx="3936654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Gaming &amp; professional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521636" y="3828687"/>
            <a:ext cx="4169199" cy="930180"/>
          </a:xfrm>
          <a:custGeom>
            <a:avLst/>
            <a:gdLst/>
            <a:ahLst/>
            <a:cxnLst/>
            <a:rect l="l" t="t" r="r" b="b"/>
            <a:pathLst>
              <a:path w="4169199" h="930180">
                <a:moveTo>
                  <a:pt x="33221" y="0"/>
                </a:moveTo>
                <a:lnTo>
                  <a:pt x="4102756" y="0"/>
                </a:lnTo>
                <a:cubicBezTo>
                  <a:pt x="4139451" y="0"/>
                  <a:pt x="4169199" y="29747"/>
                  <a:pt x="4169199" y="66443"/>
                </a:cubicBezTo>
                <a:lnTo>
                  <a:pt x="4169199" y="863737"/>
                </a:lnTo>
                <a:cubicBezTo>
                  <a:pt x="4169199" y="900432"/>
                  <a:pt x="4139451" y="930180"/>
                  <a:pt x="4102756" y="930180"/>
                </a:cubicBezTo>
                <a:lnTo>
                  <a:pt x="33221" y="930180"/>
                </a:lnTo>
                <a:cubicBezTo>
                  <a:pt x="14873" y="930180"/>
                  <a:pt x="0" y="915306"/>
                  <a:pt x="0" y="896959"/>
                </a:cubicBezTo>
                <a:lnTo>
                  <a:pt x="0" y="33221"/>
                </a:lnTo>
                <a:cubicBezTo>
                  <a:pt x="0" y="14873"/>
                  <a:pt x="14873" y="0"/>
                  <a:pt x="3322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B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Shape 36"/>
          <p:cNvSpPr/>
          <p:nvPr/>
        </p:nvSpPr>
        <p:spPr>
          <a:xfrm>
            <a:off x="7521636" y="3828687"/>
            <a:ext cx="33221" cy="930180"/>
          </a:xfrm>
          <a:custGeom>
            <a:avLst/>
            <a:gdLst/>
            <a:ahLst/>
            <a:cxnLst/>
            <a:rect l="l" t="t" r="r" b="b"/>
            <a:pathLst>
              <a:path w="33221" h="930180">
                <a:moveTo>
                  <a:pt x="33221" y="0"/>
                </a:moveTo>
                <a:lnTo>
                  <a:pt x="33221" y="0"/>
                </a:lnTo>
                <a:lnTo>
                  <a:pt x="33221" y="930180"/>
                </a:lnTo>
                <a:lnTo>
                  <a:pt x="33221" y="930180"/>
                </a:lnTo>
                <a:cubicBezTo>
                  <a:pt x="14873" y="930180"/>
                  <a:pt x="0" y="915306"/>
                  <a:pt x="0" y="896959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0" name="Text 37"/>
          <p:cNvSpPr/>
          <p:nvPr/>
        </p:nvSpPr>
        <p:spPr>
          <a:xfrm>
            <a:off x="7671129" y="3978180"/>
            <a:ext cx="747466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32GB+ RAM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345261" y="3961569"/>
            <a:ext cx="282376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8%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671129" y="4260556"/>
            <a:ext cx="3944959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High-end segment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671129" y="4493101"/>
            <a:ext cx="3936654" cy="132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Workstation &amp; flagship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334769" y="5070311"/>
            <a:ext cx="4526322" cy="1137809"/>
          </a:xfrm>
          <a:custGeom>
            <a:avLst/>
            <a:gdLst/>
            <a:ahLst/>
            <a:cxnLst/>
            <a:rect l="l" t="t" r="r" b="b"/>
            <a:pathLst>
              <a:path w="4526322" h="1137809">
                <a:moveTo>
                  <a:pt x="99661" y="0"/>
                </a:moveTo>
                <a:lnTo>
                  <a:pt x="4426661" y="0"/>
                </a:lnTo>
                <a:cubicBezTo>
                  <a:pt x="4481702" y="0"/>
                  <a:pt x="4526322" y="44620"/>
                  <a:pt x="4526322" y="99661"/>
                </a:cubicBezTo>
                <a:lnTo>
                  <a:pt x="4526322" y="1038149"/>
                </a:lnTo>
                <a:cubicBezTo>
                  <a:pt x="4526322" y="1093153"/>
                  <a:pt x="4481665" y="1137809"/>
                  <a:pt x="4426661" y="1137809"/>
                </a:cubicBezTo>
                <a:lnTo>
                  <a:pt x="99661" y="1137809"/>
                </a:lnTo>
                <a:cubicBezTo>
                  <a:pt x="44620" y="1137809"/>
                  <a:pt x="0" y="1093190"/>
                  <a:pt x="0" y="1038149"/>
                </a:cubicBezTo>
                <a:lnTo>
                  <a:pt x="0" y="99661"/>
                </a:lnTo>
                <a:cubicBezTo>
                  <a:pt x="0" y="44656"/>
                  <a:pt x="44656" y="0"/>
                  <a:pt x="9966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71804" y="5207346"/>
            <a:ext cx="4310387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Statistics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471804" y="5439891"/>
            <a:ext cx="739161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RAM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350063" y="5439891"/>
            <a:ext cx="431869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11.15 GB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471804" y="5672436"/>
            <a:ext cx="697635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RAM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485671" y="5672436"/>
            <a:ext cx="290681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GB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471804" y="5904981"/>
            <a:ext cx="913569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 Expandable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508769" y="5904981"/>
            <a:ext cx="274071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42%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336360" y="6969341"/>
            <a:ext cx="11519281" cy="373733"/>
          </a:xfrm>
          <a:custGeom>
            <a:avLst/>
            <a:gdLst/>
            <a:ahLst/>
            <a:cxnLst/>
            <a:rect l="l" t="t" r="r" b="b"/>
            <a:pathLst>
              <a:path w="11519281" h="373733">
                <a:moveTo>
                  <a:pt x="66442" y="0"/>
                </a:moveTo>
                <a:lnTo>
                  <a:pt x="11452838" y="0"/>
                </a:lnTo>
                <a:cubicBezTo>
                  <a:pt x="11489533" y="0"/>
                  <a:pt x="11519281" y="29747"/>
                  <a:pt x="11519281" y="66442"/>
                </a:cubicBezTo>
                <a:lnTo>
                  <a:pt x="11519281" y="307291"/>
                </a:lnTo>
                <a:cubicBezTo>
                  <a:pt x="11519281" y="343986"/>
                  <a:pt x="11489533" y="373733"/>
                  <a:pt x="11452838" y="373733"/>
                </a:cubicBezTo>
                <a:lnTo>
                  <a:pt x="66442" y="373733"/>
                </a:lnTo>
                <a:cubicBezTo>
                  <a:pt x="29747" y="373733"/>
                  <a:pt x="0" y="343986"/>
                  <a:pt x="0" y="307291"/>
                </a:cubicBezTo>
                <a:lnTo>
                  <a:pt x="0" y="66442"/>
                </a:lnTo>
                <a:cubicBezTo>
                  <a:pt x="0" y="29772"/>
                  <a:pt x="29772" y="0"/>
                  <a:pt x="66442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60937" y="7073156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20763" y="20763"/>
                </a:moveTo>
                <a:cubicBezTo>
                  <a:pt x="9311" y="20763"/>
                  <a:pt x="0" y="30074"/>
                  <a:pt x="0" y="41526"/>
                </a:cubicBezTo>
                <a:lnTo>
                  <a:pt x="0" y="43927"/>
                </a:lnTo>
                <a:cubicBezTo>
                  <a:pt x="0" y="46133"/>
                  <a:pt x="1427" y="48014"/>
                  <a:pt x="3277" y="49215"/>
                </a:cubicBezTo>
                <a:cubicBezTo>
                  <a:pt x="7559" y="52005"/>
                  <a:pt x="10381" y="56806"/>
                  <a:pt x="10381" y="62289"/>
                </a:cubicBezTo>
                <a:cubicBezTo>
                  <a:pt x="10381" y="67772"/>
                  <a:pt x="7559" y="72573"/>
                  <a:pt x="3277" y="75363"/>
                </a:cubicBezTo>
                <a:cubicBezTo>
                  <a:pt x="1427" y="76563"/>
                  <a:pt x="0" y="78445"/>
                  <a:pt x="0" y="80651"/>
                </a:cubicBezTo>
                <a:lnTo>
                  <a:pt x="0" y="98624"/>
                </a:lnTo>
                <a:lnTo>
                  <a:pt x="166104" y="98624"/>
                </a:lnTo>
                <a:lnTo>
                  <a:pt x="166104" y="80651"/>
                </a:lnTo>
                <a:cubicBezTo>
                  <a:pt x="166104" y="78445"/>
                  <a:pt x="164676" y="76563"/>
                  <a:pt x="162827" y="75363"/>
                </a:cubicBezTo>
                <a:cubicBezTo>
                  <a:pt x="158545" y="72573"/>
                  <a:pt x="155722" y="67772"/>
                  <a:pt x="155722" y="62289"/>
                </a:cubicBezTo>
                <a:cubicBezTo>
                  <a:pt x="155722" y="56806"/>
                  <a:pt x="158545" y="52005"/>
                  <a:pt x="162827" y="49215"/>
                </a:cubicBezTo>
                <a:cubicBezTo>
                  <a:pt x="164676" y="48014"/>
                  <a:pt x="166104" y="46133"/>
                  <a:pt x="166104" y="43927"/>
                </a:cubicBezTo>
                <a:lnTo>
                  <a:pt x="166104" y="41526"/>
                </a:lnTo>
                <a:cubicBezTo>
                  <a:pt x="166104" y="30074"/>
                  <a:pt x="156793" y="20763"/>
                  <a:pt x="145341" y="20763"/>
                </a:cubicBezTo>
                <a:lnTo>
                  <a:pt x="20763" y="20763"/>
                </a:lnTo>
                <a:close/>
                <a:moveTo>
                  <a:pt x="166104" y="134959"/>
                </a:moveTo>
                <a:lnTo>
                  <a:pt x="166104" y="114196"/>
                </a:lnTo>
                <a:lnTo>
                  <a:pt x="0" y="114196"/>
                </a:lnTo>
                <a:lnTo>
                  <a:pt x="0" y="134959"/>
                </a:lnTo>
                <a:cubicBezTo>
                  <a:pt x="0" y="140701"/>
                  <a:pt x="4639" y="145341"/>
                  <a:pt x="10381" y="145341"/>
                </a:cubicBezTo>
                <a:lnTo>
                  <a:pt x="31144" y="145341"/>
                </a:lnTo>
                <a:lnTo>
                  <a:pt x="31144" y="137554"/>
                </a:lnTo>
                <a:cubicBezTo>
                  <a:pt x="31144" y="133240"/>
                  <a:pt x="34616" y="129768"/>
                  <a:pt x="38931" y="129768"/>
                </a:cubicBezTo>
                <a:cubicBezTo>
                  <a:pt x="43245" y="129768"/>
                  <a:pt x="46717" y="133240"/>
                  <a:pt x="46717" y="137554"/>
                </a:cubicBezTo>
                <a:lnTo>
                  <a:pt x="46717" y="145341"/>
                </a:lnTo>
                <a:lnTo>
                  <a:pt x="75266" y="145341"/>
                </a:lnTo>
                <a:lnTo>
                  <a:pt x="75266" y="137554"/>
                </a:lnTo>
                <a:cubicBezTo>
                  <a:pt x="75266" y="133240"/>
                  <a:pt x="78737" y="129768"/>
                  <a:pt x="83052" y="129768"/>
                </a:cubicBezTo>
                <a:cubicBezTo>
                  <a:pt x="87367" y="129768"/>
                  <a:pt x="90838" y="133240"/>
                  <a:pt x="90838" y="137554"/>
                </a:cubicBezTo>
                <a:lnTo>
                  <a:pt x="90838" y="145341"/>
                </a:lnTo>
                <a:lnTo>
                  <a:pt x="119387" y="145341"/>
                </a:lnTo>
                <a:lnTo>
                  <a:pt x="119387" y="137554"/>
                </a:lnTo>
                <a:cubicBezTo>
                  <a:pt x="119387" y="133240"/>
                  <a:pt x="122858" y="129768"/>
                  <a:pt x="127173" y="129768"/>
                </a:cubicBezTo>
                <a:cubicBezTo>
                  <a:pt x="131488" y="129768"/>
                  <a:pt x="134959" y="133240"/>
                  <a:pt x="134959" y="137554"/>
                </a:cubicBezTo>
                <a:lnTo>
                  <a:pt x="134959" y="145341"/>
                </a:lnTo>
                <a:lnTo>
                  <a:pt x="155722" y="145341"/>
                </a:lnTo>
                <a:cubicBezTo>
                  <a:pt x="161464" y="145341"/>
                  <a:pt x="166104" y="140701"/>
                  <a:pt x="166104" y="134959"/>
                </a:cubicBezTo>
                <a:close/>
                <a:moveTo>
                  <a:pt x="51907" y="51907"/>
                </a:moveTo>
                <a:lnTo>
                  <a:pt x="51907" y="72670"/>
                </a:lnTo>
                <a:cubicBezTo>
                  <a:pt x="51907" y="78413"/>
                  <a:pt x="47268" y="83052"/>
                  <a:pt x="41526" y="83052"/>
                </a:cubicBezTo>
                <a:cubicBezTo>
                  <a:pt x="35784" y="83052"/>
                  <a:pt x="31144" y="78413"/>
                  <a:pt x="31144" y="72670"/>
                </a:cubicBezTo>
                <a:lnTo>
                  <a:pt x="31144" y="51907"/>
                </a:lnTo>
                <a:cubicBezTo>
                  <a:pt x="31144" y="46165"/>
                  <a:pt x="35784" y="41526"/>
                  <a:pt x="41526" y="41526"/>
                </a:cubicBezTo>
                <a:cubicBezTo>
                  <a:pt x="47268" y="41526"/>
                  <a:pt x="51907" y="46165"/>
                  <a:pt x="51907" y="51907"/>
                </a:cubicBezTo>
                <a:close/>
                <a:moveTo>
                  <a:pt x="93433" y="51907"/>
                </a:moveTo>
                <a:lnTo>
                  <a:pt x="93433" y="72670"/>
                </a:lnTo>
                <a:cubicBezTo>
                  <a:pt x="93433" y="78413"/>
                  <a:pt x="88794" y="83052"/>
                  <a:pt x="83052" y="83052"/>
                </a:cubicBezTo>
                <a:cubicBezTo>
                  <a:pt x="77310" y="83052"/>
                  <a:pt x="72670" y="78413"/>
                  <a:pt x="72670" y="72670"/>
                </a:cubicBezTo>
                <a:lnTo>
                  <a:pt x="72670" y="51907"/>
                </a:lnTo>
                <a:cubicBezTo>
                  <a:pt x="72670" y="46165"/>
                  <a:pt x="77310" y="41526"/>
                  <a:pt x="83052" y="41526"/>
                </a:cubicBezTo>
                <a:cubicBezTo>
                  <a:pt x="88794" y="41526"/>
                  <a:pt x="93433" y="46165"/>
                  <a:pt x="93433" y="51907"/>
                </a:cubicBezTo>
                <a:close/>
                <a:moveTo>
                  <a:pt x="134959" y="51907"/>
                </a:moveTo>
                <a:lnTo>
                  <a:pt x="134959" y="72670"/>
                </a:lnTo>
                <a:cubicBezTo>
                  <a:pt x="134959" y="78413"/>
                  <a:pt x="130320" y="83052"/>
                  <a:pt x="124578" y="83052"/>
                </a:cubicBezTo>
                <a:cubicBezTo>
                  <a:pt x="118835" y="83052"/>
                  <a:pt x="114196" y="78413"/>
                  <a:pt x="114196" y="72670"/>
                </a:cubicBezTo>
                <a:lnTo>
                  <a:pt x="114196" y="51907"/>
                </a:lnTo>
                <a:cubicBezTo>
                  <a:pt x="114196" y="46165"/>
                  <a:pt x="118835" y="41526"/>
                  <a:pt x="124578" y="41526"/>
                </a:cubicBezTo>
                <a:cubicBezTo>
                  <a:pt x="130320" y="41526"/>
                  <a:pt x="134959" y="46165"/>
                  <a:pt x="134959" y="51907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4" name="Text 51"/>
          <p:cNvSpPr/>
          <p:nvPr/>
        </p:nvSpPr>
        <p:spPr>
          <a:xfrm>
            <a:off x="747466" y="7073156"/>
            <a:ext cx="9883161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 Insight:</a:t>
            </a:r>
            <a:r>
              <a:rPr lang="en-US" sz="916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Strong positive correlation (r=0.68) between RAM capacity and price. DDR5 adoption accelerating in premium segment. 16GB becoming new standard for gaming and professional use.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352625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35409" y="405518"/>
            <a:ext cx="264469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445" y="383479"/>
            <a:ext cx="978534" cy="290915"/>
          </a:xfrm>
          <a:custGeom>
            <a:avLst/>
            <a:gdLst/>
            <a:ahLst/>
            <a:cxnLst/>
            <a:rect l="l" t="t" r="r" b="b"/>
            <a:pathLst>
              <a:path w="978534" h="290915">
                <a:moveTo>
                  <a:pt x="145458" y="0"/>
                </a:moveTo>
                <a:lnTo>
                  <a:pt x="833076" y="0"/>
                </a:lnTo>
                <a:cubicBezTo>
                  <a:pt x="913410" y="0"/>
                  <a:pt x="978534" y="65124"/>
                  <a:pt x="978534" y="145458"/>
                </a:cubicBezTo>
                <a:lnTo>
                  <a:pt x="978534" y="145458"/>
                </a:lnTo>
                <a:cubicBezTo>
                  <a:pt x="978534" y="225792"/>
                  <a:pt x="913410" y="290915"/>
                  <a:pt x="833076" y="290915"/>
                </a:cubicBezTo>
                <a:lnTo>
                  <a:pt x="145458" y="290915"/>
                </a:lnTo>
                <a:cubicBezTo>
                  <a:pt x="65124" y="290915"/>
                  <a:pt x="0" y="225792"/>
                  <a:pt x="0" y="145458"/>
                </a:cubicBezTo>
                <a:lnTo>
                  <a:pt x="0" y="145458"/>
                </a:lnTo>
                <a:cubicBezTo>
                  <a:pt x="0" y="65124"/>
                  <a:pt x="65124" y="0"/>
                  <a:pt x="145458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5640" y="484859"/>
            <a:ext cx="809246" cy="114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kern="0" spc="42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2625" y="775774"/>
            <a:ext cx="1164543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Graphics Landscape: GPU Brand Distribution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7033" y="1309119"/>
            <a:ext cx="5650811" cy="3182438"/>
          </a:xfrm>
          <a:custGeom>
            <a:avLst/>
            <a:gdLst/>
            <a:ahLst/>
            <a:cxnLst/>
            <a:rect l="l" t="t" r="r" b="b"/>
            <a:pathLst>
              <a:path w="5650811" h="3182438">
                <a:moveTo>
                  <a:pt x="105784" y="0"/>
                </a:moveTo>
                <a:lnTo>
                  <a:pt x="5545027" y="0"/>
                </a:lnTo>
                <a:cubicBezTo>
                  <a:pt x="5603450" y="0"/>
                  <a:pt x="5650811" y="47361"/>
                  <a:pt x="5650811" y="105784"/>
                </a:cubicBezTo>
                <a:lnTo>
                  <a:pt x="5650811" y="3076654"/>
                </a:lnTo>
                <a:cubicBezTo>
                  <a:pt x="5650811" y="3135077"/>
                  <a:pt x="5603450" y="3182438"/>
                  <a:pt x="5545027" y="3182438"/>
                </a:cubicBezTo>
                <a:lnTo>
                  <a:pt x="105784" y="3182438"/>
                </a:lnTo>
                <a:cubicBezTo>
                  <a:pt x="47361" y="3182438"/>
                  <a:pt x="0" y="3135077"/>
                  <a:pt x="0" y="3076654"/>
                </a:cubicBezTo>
                <a:lnTo>
                  <a:pt x="0" y="105784"/>
                </a:lnTo>
                <a:cubicBezTo>
                  <a:pt x="0" y="47400"/>
                  <a:pt x="47400" y="0"/>
                  <a:pt x="10578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753" y="1489839"/>
            <a:ext cx="536871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Brand Market Share</a:t>
            </a:r>
            <a:endParaRPr lang="en-US" sz="1600" dirty="0"/>
          </a:p>
        </p:txBody>
      </p:sp>
      <p:pic>
        <p:nvPicPr>
          <p:cNvPr id="9" name="Image 0" descr="https://kimi-img.moonshot.cn/pub/slides/26-02-02-19:33:43-d608n5o64o3im7r137p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7753" y="1842464"/>
            <a:ext cx="4830959" cy="2468373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57033" y="4641423"/>
            <a:ext cx="5650811" cy="1525102"/>
          </a:xfrm>
          <a:custGeom>
            <a:avLst/>
            <a:gdLst/>
            <a:ahLst/>
            <a:cxnLst/>
            <a:rect l="l" t="t" r="r" b="b"/>
            <a:pathLst>
              <a:path w="5650811" h="1525102">
                <a:moveTo>
                  <a:pt x="105781" y="0"/>
                </a:moveTo>
                <a:lnTo>
                  <a:pt x="5545030" y="0"/>
                </a:lnTo>
                <a:cubicBezTo>
                  <a:pt x="5603451" y="0"/>
                  <a:pt x="5650811" y="47360"/>
                  <a:pt x="5650811" y="105781"/>
                </a:cubicBezTo>
                <a:lnTo>
                  <a:pt x="5650811" y="1419321"/>
                </a:lnTo>
                <a:cubicBezTo>
                  <a:pt x="5650811" y="1477742"/>
                  <a:pt x="5603451" y="1525102"/>
                  <a:pt x="5545030" y="1525102"/>
                </a:cubicBezTo>
                <a:lnTo>
                  <a:pt x="105781" y="1525102"/>
                </a:lnTo>
                <a:cubicBezTo>
                  <a:pt x="47360" y="1525102"/>
                  <a:pt x="0" y="1477742"/>
                  <a:pt x="0" y="1419321"/>
                </a:cubicBezTo>
                <a:lnTo>
                  <a:pt x="0" y="105781"/>
                </a:lnTo>
                <a:cubicBezTo>
                  <a:pt x="0" y="47399"/>
                  <a:pt x="47399" y="0"/>
                  <a:pt x="10578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490" y="4786881"/>
            <a:ext cx="5430421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Type Distribution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2490" y="5104243"/>
            <a:ext cx="2609423" cy="916824"/>
          </a:xfrm>
          <a:custGeom>
            <a:avLst/>
            <a:gdLst/>
            <a:ahLst/>
            <a:cxnLst/>
            <a:rect l="l" t="t" r="r" b="b"/>
            <a:pathLst>
              <a:path w="2609423" h="916824">
                <a:moveTo>
                  <a:pt x="70522" y="0"/>
                </a:moveTo>
                <a:lnTo>
                  <a:pt x="2538901" y="0"/>
                </a:lnTo>
                <a:cubicBezTo>
                  <a:pt x="2577849" y="0"/>
                  <a:pt x="2609423" y="31574"/>
                  <a:pt x="2609423" y="70522"/>
                </a:cubicBezTo>
                <a:lnTo>
                  <a:pt x="2609423" y="846302"/>
                </a:lnTo>
                <a:cubicBezTo>
                  <a:pt x="2609423" y="885250"/>
                  <a:pt x="2577849" y="916824"/>
                  <a:pt x="2538901" y="916824"/>
                </a:cubicBezTo>
                <a:lnTo>
                  <a:pt x="70522" y="916824"/>
                </a:lnTo>
                <a:cubicBezTo>
                  <a:pt x="31600" y="916824"/>
                  <a:pt x="0" y="885224"/>
                  <a:pt x="0" y="846302"/>
                </a:cubicBezTo>
                <a:lnTo>
                  <a:pt x="0" y="70522"/>
                </a:lnTo>
                <a:cubicBezTo>
                  <a:pt x="0" y="31600"/>
                  <a:pt x="31600" y="0"/>
                  <a:pt x="705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42161" y="5210030"/>
            <a:ext cx="2530082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2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58%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7423" y="5562655"/>
            <a:ext cx="245955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Graphics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81831" y="5774230"/>
            <a:ext cx="245074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Intel/AMD iGPU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50897" y="5104243"/>
            <a:ext cx="2609423" cy="916824"/>
          </a:xfrm>
          <a:custGeom>
            <a:avLst/>
            <a:gdLst/>
            <a:ahLst/>
            <a:cxnLst/>
            <a:rect l="l" t="t" r="r" b="b"/>
            <a:pathLst>
              <a:path w="2609423" h="916824">
                <a:moveTo>
                  <a:pt x="70522" y="0"/>
                </a:moveTo>
                <a:lnTo>
                  <a:pt x="2538901" y="0"/>
                </a:lnTo>
                <a:cubicBezTo>
                  <a:pt x="2577849" y="0"/>
                  <a:pt x="2609423" y="31574"/>
                  <a:pt x="2609423" y="70522"/>
                </a:cubicBezTo>
                <a:lnTo>
                  <a:pt x="2609423" y="846302"/>
                </a:lnTo>
                <a:cubicBezTo>
                  <a:pt x="2609423" y="885250"/>
                  <a:pt x="2577849" y="916824"/>
                  <a:pt x="2538901" y="916824"/>
                </a:cubicBezTo>
                <a:lnTo>
                  <a:pt x="70522" y="916824"/>
                </a:lnTo>
                <a:cubicBezTo>
                  <a:pt x="31600" y="916824"/>
                  <a:pt x="0" y="885224"/>
                  <a:pt x="0" y="846302"/>
                </a:cubicBezTo>
                <a:lnTo>
                  <a:pt x="0" y="70522"/>
                </a:lnTo>
                <a:cubicBezTo>
                  <a:pt x="0" y="31600"/>
                  <a:pt x="31600" y="0"/>
                  <a:pt x="7052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290567" y="5210030"/>
            <a:ext cx="2530082" cy="317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82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42%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25830" y="5562655"/>
            <a:ext cx="245955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GPU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330238" y="5774230"/>
            <a:ext cx="245074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NVIDIA/AMD dGPU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88977" y="1309119"/>
            <a:ext cx="5650811" cy="4134525"/>
          </a:xfrm>
          <a:custGeom>
            <a:avLst/>
            <a:gdLst/>
            <a:ahLst/>
            <a:cxnLst/>
            <a:rect l="l" t="t" r="r" b="b"/>
            <a:pathLst>
              <a:path w="5650811" h="4134525">
                <a:moveTo>
                  <a:pt x="105802" y="0"/>
                </a:moveTo>
                <a:lnTo>
                  <a:pt x="5545009" y="0"/>
                </a:lnTo>
                <a:cubicBezTo>
                  <a:pt x="5603442" y="0"/>
                  <a:pt x="5650811" y="47369"/>
                  <a:pt x="5650811" y="105802"/>
                </a:cubicBezTo>
                <a:lnTo>
                  <a:pt x="5650811" y="4028722"/>
                </a:lnTo>
                <a:cubicBezTo>
                  <a:pt x="5650811" y="4087156"/>
                  <a:pt x="5603442" y="4134525"/>
                  <a:pt x="5545009" y="4134525"/>
                </a:cubicBezTo>
                <a:lnTo>
                  <a:pt x="105802" y="4134525"/>
                </a:lnTo>
                <a:cubicBezTo>
                  <a:pt x="47369" y="4134525"/>
                  <a:pt x="0" y="4087156"/>
                  <a:pt x="0" y="4028722"/>
                </a:cubicBezTo>
                <a:lnTo>
                  <a:pt x="0" y="105802"/>
                </a:lnTo>
                <a:cubicBezTo>
                  <a:pt x="0" y="47409"/>
                  <a:pt x="47409" y="0"/>
                  <a:pt x="105802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69697" y="1489839"/>
            <a:ext cx="5368711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GPU Performance Tiers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387329" y="1877727"/>
            <a:ext cx="5271740" cy="1057874"/>
          </a:xfrm>
          <a:custGeom>
            <a:avLst/>
            <a:gdLst/>
            <a:ahLst/>
            <a:cxnLst/>
            <a:rect l="l" t="t" r="r" b="b"/>
            <a:pathLst>
              <a:path w="5271740" h="1057874">
                <a:moveTo>
                  <a:pt x="35262" y="0"/>
                </a:moveTo>
                <a:lnTo>
                  <a:pt x="5201211" y="0"/>
                </a:lnTo>
                <a:cubicBezTo>
                  <a:pt x="5240163" y="0"/>
                  <a:pt x="5271740" y="31577"/>
                  <a:pt x="5271740" y="70528"/>
                </a:cubicBezTo>
                <a:lnTo>
                  <a:pt x="5271740" y="987346"/>
                </a:lnTo>
                <a:cubicBezTo>
                  <a:pt x="5271740" y="1026298"/>
                  <a:pt x="5240163" y="1057874"/>
                  <a:pt x="5201211" y="1057874"/>
                </a:cubicBezTo>
                <a:lnTo>
                  <a:pt x="35262" y="1057874"/>
                </a:lnTo>
                <a:cubicBezTo>
                  <a:pt x="15788" y="1057874"/>
                  <a:pt x="0" y="1042087"/>
                  <a:pt x="0" y="10226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gradFill flip="none" rotWithShape="1">
            <a:gsLst>
              <a:gs pos="0">
                <a:srgbClr val="76B900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3" name="Shape 20"/>
          <p:cNvSpPr/>
          <p:nvPr/>
        </p:nvSpPr>
        <p:spPr>
          <a:xfrm>
            <a:off x="6387329" y="1877727"/>
            <a:ext cx="35262" cy="1057874"/>
          </a:xfrm>
          <a:custGeom>
            <a:avLst/>
            <a:gdLst/>
            <a:ahLst/>
            <a:cxnLst/>
            <a:rect l="l" t="t" r="r" b="b"/>
            <a:pathLst>
              <a:path w="35262" h="1057874">
                <a:moveTo>
                  <a:pt x="35262" y="0"/>
                </a:moveTo>
                <a:lnTo>
                  <a:pt x="35262" y="0"/>
                </a:lnTo>
                <a:lnTo>
                  <a:pt x="35262" y="1057874"/>
                </a:lnTo>
                <a:lnTo>
                  <a:pt x="35262" y="1057874"/>
                </a:lnTo>
                <a:cubicBezTo>
                  <a:pt x="15788" y="1057874"/>
                  <a:pt x="0" y="1042087"/>
                  <a:pt x="0" y="10226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4" name="Shape 21"/>
          <p:cNvSpPr/>
          <p:nvPr/>
        </p:nvSpPr>
        <p:spPr>
          <a:xfrm>
            <a:off x="6546010" y="2071670"/>
            <a:ext cx="176312" cy="141050"/>
          </a:xfrm>
          <a:custGeom>
            <a:avLst/>
            <a:gdLst/>
            <a:ahLst/>
            <a:cxnLst/>
            <a:rect l="l" t="t" r="r" b="b"/>
            <a:pathLst>
              <a:path w="176312" h="141050">
                <a:moveTo>
                  <a:pt x="123419" y="17631"/>
                </a:moveTo>
                <a:cubicBezTo>
                  <a:pt x="152620" y="17631"/>
                  <a:pt x="176312" y="41323"/>
                  <a:pt x="176312" y="70525"/>
                </a:cubicBezTo>
                <a:cubicBezTo>
                  <a:pt x="176312" y="99727"/>
                  <a:pt x="152620" y="123419"/>
                  <a:pt x="123419" y="123419"/>
                </a:cubicBezTo>
                <a:lnTo>
                  <a:pt x="52894" y="123419"/>
                </a:lnTo>
                <a:cubicBezTo>
                  <a:pt x="23692" y="123419"/>
                  <a:pt x="0" y="99727"/>
                  <a:pt x="0" y="70525"/>
                </a:cubicBezTo>
                <a:cubicBezTo>
                  <a:pt x="0" y="41323"/>
                  <a:pt x="23692" y="17631"/>
                  <a:pt x="52894" y="17631"/>
                </a:cubicBezTo>
                <a:lnTo>
                  <a:pt x="123419" y="17631"/>
                </a:lnTo>
                <a:close/>
                <a:moveTo>
                  <a:pt x="52894" y="48486"/>
                </a:moveTo>
                <a:cubicBezTo>
                  <a:pt x="49230" y="48486"/>
                  <a:pt x="46282" y="51434"/>
                  <a:pt x="46282" y="55098"/>
                </a:cubicBezTo>
                <a:lnTo>
                  <a:pt x="46282" y="63913"/>
                </a:lnTo>
                <a:lnTo>
                  <a:pt x="37466" y="63913"/>
                </a:lnTo>
                <a:cubicBezTo>
                  <a:pt x="33802" y="63913"/>
                  <a:pt x="30855" y="66861"/>
                  <a:pt x="30855" y="70525"/>
                </a:cubicBezTo>
                <a:cubicBezTo>
                  <a:pt x="30855" y="74189"/>
                  <a:pt x="33802" y="77137"/>
                  <a:pt x="37466" y="77137"/>
                </a:cubicBezTo>
                <a:lnTo>
                  <a:pt x="46282" y="77137"/>
                </a:lnTo>
                <a:lnTo>
                  <a:pt x="46282" y="85952"/>
                </a:lnTo>
                <a:cubicBezTo>
                  <a:pt x="46282" y="89616"/>
                  <a:pt x="49230" y="92564"/>
                  <a:pt x="52894" y="92564"/>
                </a:cubicBezTo>
                <a:cubicBezTo>
                  <a:pt x="56558" y="92564"/>
                  <a:pt x="59505" y="89616"/>
                  <a:pt x="59505" y="85952"/>
                </a:cubicBezTo>
                <a:lnTo>
                  <a:pt x="59505" y="77137"/>
                </a:lnTo>
                <a:lnTo>
                  <a:pt x="68321" y="77137"/>
                </a:lnTo>
                <a:cubicBezTo>
                  <a:pt x="71985" y="77137"/>
                  <a:pt x="74933" y="74189"/>
                  <a:pt x="74933" y="70525"/>
                </a:cubicBezTo>
                <a:cubicBezTo>
                  <a:pt x="74933" y="66861"/>
                  <a:pt x="71985" y="63913"/>
                  <a:pt x="68321" y="63913"/>
                </a:cubicBezTo>
                <a:lnTo>
                  <a:pt x="59505" y="63913"/>
                </a:lnTo>
                <a:lnTo>
                  <a:pt x="59505" y="55098"/>
                </a:lnTo>
                <a:cubicBezTo>
                  <a:pt x="59505" y="51434"/>
                  <a:pt x="56558" y="48486"/>
                  <a:pt x="52894" y="48486"/>
                </a:cubicBezTo>
                <a:close/>
                <a:moveTo>
                  <a:pt x="119011" y="74933"/>
                </a:moveTo>
                <a:cubicBezTo>
                  <a:pt x="114145" y="74933"/>
                  <a:pt x="110195" y="78883"/>
                  <a:pt x="110195" y="83748"/>
                </a:cubicBezTo>
                <a:cubicBezTo>
                  <a:pt x="110195" y="88614"/>
                  <a:pt x="114145" y="92564"/>
                  <a:pt x="119011" y="92564"/>
                </a:cubicBezTo>
                <a:cubicBezTo>
                  <a:pt x="123876" y="92564"/>
                  <a:pt x="127826" y="88614"/>
                  <a:pt x="127826" y="83748"/>
                </a:cubicBezTo>
                <a:cubicBezTo>
                  <a:pt x="127826" y="78883"/>
                  <a:pt x="123876" y="74933"/>
                  <a:pt x="119011" y="74933"/>
                </a:cubicBezTo>
                <a:close/>
                <a:moveTo>
                  <a:pt x="136642" y="48486"/>
                </a:moveTo>
                <a:cubicBezTo>
                  <a:pt x="131777" y="48486"/>
                  <a:pt x="127826" y="52436"/>
                  <a:pt x="127826" y="57302"/>
                </a:cubicBezTo>
                <a:cubicBezTo>
                  <a:pt x="127826" y="62167"/>
                  <a:pt x="131777" y="66117"/>
                  <a:pt x="136642" y="66117"/>
                </a:cubicBezTo>
                <a:cubicBezTo>
                  <a:pt x="141508" y="66117"/>
                  <a:pt x="145458" y="62167"/>
                  <a:pt x="145458" y="57302"/>
                </a:cubicBezTo>
                <a:cubicBezTo>
                  <a:pt x="145458" y="52436"/>
                  <a:pt x="141508" y="48486"/>
                  <a:pt x="136642" y="48486"/>
                </a:cubicBezTo>
                <a:close/>
              </a:path>
            </a:pathLst>
          </a:custGeom>
          <a:solidFill>
            <a:srgbClr val="76B900"/>
          </a:solidFill>
          <a:ln/>
        </p:spPr>
      </p:sp>
      <p:sp>
        <p:nvSpPr>
          <p:cNvPr id="25" name="Text 22"/>
          <p:cNvSpPr/>
          <p:nvPr/>
        </p:nvSpPr>
        <p:spPr>
          <a:xfrm>
            <a:off x="6792847" y="2036408"/>
            <a:ext cx="528937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210987" y="2018777"/>
            <a:ext cx="379072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76B9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52%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546010" y="2336139"/>
            <a:ext cx="503371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Gaming &amp; Professional Leader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546010" y="2582976"/>
            <a:ext cx="608278" cy="211575"/>
          </a:xfrm>
          <a:custGeom>
            <a:avLst/>
            <a:gdLst/>
            <a:ahLst/>
            <a:cxnLst/>
            <a:rect l="l" t="t" r="r" b="b"/>
            <a:pathLst>
              <a:path w="608278" h="211575">
                <a:moveTo>
                  <a:pt x="35263" y="0"/>
                </a:moveTo>
                <a:lnTo>
                  <a:pt x="573014" y="0"/>
                </a:lnTo>
                <a:cubicBezTo>
                  <a:pt x="592490" y="0"/>
                  <a:pt x="608278" y="15788"/>
                  <a:pt x="608278" y="35263"/>
                </a:cubicBezTo>
                <a:lnTo>
                  <a:pt x="608278" y="176312"/>
                </a:lnTo>
                <a:cubicBezTo>
                  <a:pt x="608278" y="195787"/>
                  <a:pt x="592490" y="211575"/>
                  <a:pt x="573014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76B900">
              <a:alpha val="2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546010" y="2582976"/>
            <a:ext cx="661171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RTX 4090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185418" y="2582976"/>
            <a:ext cx="608278" cy="211575"/>
          </a:xfrm>
          <a:custGeom>
            <a:avLst/>
            <a:gdLst/>
            <a:ahLst/>
            <a:cxnLst/>
            <a:rect l="l" t="t" r="r" b="b"/>
            <a:pathLst>
              <a:path w="608278" h="211575">
                <a:moveTo>
                  <a:pt x="35263" y="0"/>
                </a:moveTo>
                <a:lnTo>
                  <a:pt x="573014" y="0"/>
                </a:lnTo>
                <a:cubicBezTo>
                  <a:pt x="592490" y="0"/>
                  <a:pt x="608278" y="15788"/>
                  <a:pt x="608278" y="35263"/>
                </a:cubicBezTo>
                <a:lnTo>
                  <a:pt x="608278" y="176312"/>
                </a:lnTo>
                <a:cubicBezTo>
                  <a:pt x="608278" y="195787"/>
                  <a:pt x="592490" y="211575"/>
                  <a:pt x="573014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76B900">
              <a:alpha val="2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185418" y="2582976"/>
            <a:ext cx="661171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RTX 4080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825514" y="2582976"/>
            <a:ext cx="590646" cy="211575"/>
          </a:xfrm>
          <a:custGeom>
            <a:avLst/>
            <a:gdLst/>
            <a:ahLst/>
            <a:cxnLst/>
            <a:rect l="l" t="t" r="r" b="b"/>
            <a:pathLst>
              <a:path w="590646" h="211575">
                <a:moveTo>
                  <a:pt x="35263" y="0"/>
                </a:moveTo>
                <a:lnTo>
                  <a:pt x="555383" y="0"/>
                </a:lnTo>
                <a:cubicBezTo>
                  <a:pt x="574859" y="0"/>
                  <a:pt x="590646" y="15788"/>
                  <a:pt x="590646" y="35263"/>
                </a:cubicBezTo>
                <a:lnTo>
                  <a:pt x="590646" y="176312"/>
                </a:lnTo>
                <a:cubicBezTo>
                  <a:pt x="590646" y="195787"/>
                  <a:pt x="574859" y="211575"/>
                  <a:pt x="555383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76B900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7825514" y="2582976"/>
            <a:ext cx="643540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RTX 4070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454867" y="2582976"/>
            <a:ext cx="608278" cy="211575"/>
          </a:xfrm>
          <a:custGeom>
            <a:avLst/>
            <a:gdLst/>
            <a:ahLst/>
            <a:cxnLst/>
            <a:rect l="l" t="t" r="r" b="b"/>
            <a:pathLst>
              <a:path w="608278" h="211575">
                <a:moveTo>
                  <a:pt x="35263" y="0"/>
                </a:moveTo>
                <a:lnTo>
                  <a:pt x="573014" y="0"/>
                </a:lnTo>
                <a:cubicBezTo>
                  <a:pt x="592490" y="0"/>
                  <a:pt x="608278" y="15788"/>
                  <a:pt x="608278" y="35263"/>
                </a:cubicBezTo>
                <a:lnTo>
                  <a:pt x="608278" y="176312"/>
                </a:lnTo>
                <a:cubicBezTo>
                  <a:pt x="608278" y="195787"/>
                  <a:pt x="592490" y="211575"/>
                  <a:pt x="573014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76B900">
              <a:alpha val="2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8454867" y="2582976"/>
            <a:ext cx="661171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RTX 4060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094137" y="2582976"/>
            <a:ext cx="608278" cy="211575"/>
          </a:xfrm>
          <a:custGeom>
            <a:avLst/>
            <a:gdLst/>
            <a:ahLst/>
            <a:cxnLst/>
            <a:rect l="l" t="t" r="r" b="b"/>
            <a:pathLst>
              <a:path w="608278" h="211575">
                <a:moveTo>
                  <a:pt x="35263" y="0"/>
                </a:moveTo>
                <a:lnTo>
                  <a:pt x="573014" y="0"/>
                </a:lnTo>
                <a:cubicBezTo>
                  <a:pt x="592490" y="0"/>
                  <a:pt x="608278" y="15788"/>
                  <a:pt x="608278" y="35263"/>
                </a:cubicBezTo>
                <a:lnTo>
                  <a:pt x="608278" y="176312"/>
                </a:lnTo>
                <a:cubicBezTo>
                  <a:pt x="608278" y="195787"/>
                  <a:pt x="592490" y="211575"/>
                  <a:pt x="573014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76B900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9094137" y="2582976"/>
            <a:ext cx="661171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RTX 3060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736299" y="2582976"/>
            <a:ext cx="608278" cy="211575"/>
          </a:xfrm>
          <a:custGeom>
            <a:avLst/>
            <a:gdLst/>
            <a:ahLst/>
            <a:cxnLst/>
            <a:rect l="l" t="t" r="r" b="b"/>
            <a:pathLst>
              <a:path w="608278" h="211575">
                <a:moveTo>
                  <a:pt x="35263" y="0"/>
                </a:moveTo>
                <a:lnTo>
                  <a:pt x="573014" y="0"/>
                </a:lnTo>
                <a:cubicBezTo>
                  <a:pt x="592490" y="0"/>
                  <a:pt x="608278" y="15788"/>
                  <a:pt x="608278" y="35263"/>
                </a:cubicBezTo>
                <a:lnTo>
                  <a:pt x="608278" y="176312"/>
                </a:lnTo>
                <a:cubicBezTo>
                  <a:pt x="608278" y="195787"/>
                  <a:pt x="592490" y="211575"/>
                  <a:pt x="573014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76B900">
              <a:alpha val="2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9736299" y="2582976"/>
            <a:ext cx="661171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RTX 3050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87329" y="3041388"/>
            <a:ext cx="5271740" cy="1057874"/>
          </a:xfrm>
          <a:custGeom>
            <a:avLst/>
            <a:gdLst/>
            <a:ahLst/>
            <a:cxnLst/>
            <a:rect l="l" t="t" r="r" b="b"/>
            <a:pathLst>
              <a:path w="5271740" h="1057874">
                <a:moveTo>
                  <a:pt x="35262" y="0"/>
                </a:moveTo>
                <a:lnTo>
                  <a:pt x="5201211" y="0"/>
                </a:lnTo>
                <a:cubicBezTo>
                  <a:pt x="5240163" y="0"/>
                  <a:pt x="5271740" y="31577"/>
                  <a:pt x="5271740" y="70528"/>
                </a:cubicBezTo>
                <a:lnTo>
                  <a:pt x="5271740" y="987346"/>
                </a:lnTo>
                <a:cubicBezTo>
                  <a:pt x="5271740" y="1026298"/>
                  <a:pt x="5240163" y="1057874"/>
                  <a:pt x="5201211" y="1057874"/>
                </a:cubicBezTo>
                <a:lnTo>
                  <a:pt x="35262" y="1057874"/>
                </a:lnTo>
                <a:cubicBezTo>
                  <a:pt x="15788" y="1057874"/>
                  <a:pt x="0" y="1042087"/>
                  <a:pt x="0" y="10226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gradFill flip="none" rotWithShape="1">
            <a:gsLst>
              <a:gs pos="0">
                <a:srgbClr val="ED1C2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1" name="Shape 38"/>
          <p:cNvSpPr/>
          <p:nvPr/>
        </p:nvSpPr>
        <p:spPr>
          <a:xfrm>
            <a:off x="6387329" y="3041388"/>
            <a:ext cx="35262" cy="1057874"/>
          </a:xfrm>
          <a:custGeom>
            <a:avLst/>
            <a:gdLst/>
            <a:ahLst/>
            <a:cxnLst/>
            <a:rect l="l" t="t" r="r" b="b"/>
            <a:pathLst>
              <a:path w="35262" h="1057874">
                <a:moveTo>
                  <a:pt x="35262" y="0"/>
                </a:moveTo>
                <a:lnTo>
                  <a:pt x="35262" y="0"/>
                </a:lnTo>
                <a:lnTo>
                  <a:pt x="35262" y="1057874"/>
                </a:lnTo>
                <a:lnTo>
                  <a:pt x="35262" y="1057874"/>
                </a:lnTo>
                <a:cubicBezTo>
                  <a:pt x="15788" y="1057874"/>
                  <a:pt x="0" y="1042087"/>
                  <a:pt x="0" y="10226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ED1C24"/>
          </a:solidFill>
          <a:ln/>
        </p:spPr>
      </p:sp>
      <p:sp>
        <p:nvSpPr>
          <p:cNvPr id="42" name="Shape 39"/>
          <p:cNvSpPr/>
          <p:nvPr/>
        </p:nvSpPr>
        <p:spPr>
          <a:xfrm>
            <a:off x="6563641" y="3235332"/>
            <a:ext cx="141050" cy="141050"/>
          </a:xfrm>
          <a:custGeom>
            <a:avLst/>
            <a:gdLst/>
            <a:ahLst/>
            <a:cxnLst/>
            <a:rect l="l" t="t" r="r" b="b"/>
            <a:pathLst>
              <a:path w="141050" h="141050">
                <a:moveTo>
                  <a:pt x="48486" y="6612"/>
                </a:moveTo>
                <a:cubicBezTo>
                  <a:pt x="48486" y="2948"/>
                  <a:pt x="45538" y="0"/>
                  <a:pt x="41874" y="0"/>
                </a:cubicBezTo>
                <a:cubicBezTo>
                  <a:pt x="38210" y="0"/>
                  <a:pt x="35262" y="2948"/>
                  <a:pt x="35262" y="6612"/>
                </a:cubicBezTo>
                <a:lnTo>
                  <a:pt x="35262" y="17631"/>
                </a:lnTo>
                <a:cubicBezTo>
                  <a:pt x="25538" y="17631"/>
                  <a:pt x="17631" y="25538"/>
                  <a:pt x="17631" y="35262"/>
                </a:cubicBezTo>
                <a:lnTo>
                  <a:pt x="6612" y="35262"/>
                </a:lnTo>
                <a:cubicBezTo>
                  <a:pt x="2948" y="35262"/>
                  <a:pt x="0" y="38210"/>
                  <a:pt x="0" y="41874"/>
                </a:cubicBezTo>
                <a:cubicBezTo>
                  <a:pt x="0" y="45538"/>
                  <a:pt x="2948" y="48486"/>
                  <a:pt x="6612" y="48486"/>
                </a:cubicBezTo>
                <a:lnTo>
                  <a:pt x="17631" y="48486"/>
                </a:lnTo>
                <a:lnTo>
                  <a:pt x="17631" y="63913"/>
                </a:lnTo>
                <a:lnTo>
                  <a:pt x="6612" y="63913"/>
                </a:lnTo>
                <a:cubicBezTo>
                  <a:pt x="2948" y="63913"/>
                  <a:pt x="0" y="66861"/>
                  <a:pt x="0" y="70525"/>
                </a:cubicBezTo>
                <a:cubicBezTo>
                  <a:pt x="0" y="74189"/>
                  <a:pt x="2948" y="77137"/>
                  <a:pt x="6612" y="77137"/>
                </a:cubicBezTo>
                <a:lnTo>
                  <a:pt x="17631" y="77137"/>
                </a:lnTo>
                <a:lnTo>
                  <a:pt x="17631" y="92564"/>
                </a:lnTo>
                <a:lnTo>
                  <a:pt x="6612" y="92564"/>
                </a:lnTo>
                <a:cubicBezTo>
                  <a:pt x="2948" y="92564"/>
                  <a:pt x="0" y="95512"/>
                  <a:pt x="0" y="99176"/>
                </a:cubicBezTo>
                <a:cubicBezTo>
                  <a:pt x="0" y="102840"/>
                  <a:pt x="2948" y="105787"/>
                  <a:pt x="6612" y="105787"/>
                </a:cubicBezTo>
                <a:lnTo>
                  <a:pt x="17631" y="105787"/>
                </a:lnTo>
                <a:cubicBezTo>
                  <a:pt x="17631" y="115512"/>
                  <a:pt x="25538" y="123419"/>
                  <a:pt x="35262" y="123419"/>
                </a:cubicBezTo>
                <a:lnTo>
                  <a:pt x="35262" y="134438"/>
                </a:lnTo>
                <a:cubicBezTo>
                  <a:pt x="35262" y="138102"/>
                  <a:pt x="38210" y="141050"/>
                  <a:pt x="41874" y="141050"/>
                </a:cubicBezTo>
                <a:cubicBezTo>
                  <a:pt x="45538" y="141050"/>
                  <a:pt x="48486" y="138102"/>
                  <a:pt x="48486" y="134438"/>
                </a:cubicBezTo>
                <a:lnTo>
                  <a:pt x="48486" y="123419"/>
                </a:lnTo>
                <a:lnTo>
                  <a:pt x="63913" y="123419"/>
                </a:lnTo>
                <a:lnTo>
                  <a:pt x="63913" y="134438"/>
                </a:lnTo>
                <a:cubicBezTo>
                  <a:pt x="63913" y="138102"/>
                  <a:pt x="66861" y="141050"/>
                  <a:pt x="70525" y="141050"/>
                </a:cubicBezTo>
                <a:cubicBezTo>
                  <a:pt x="74189" y="141050"/>
                  <a:pt x="77137" y="138102"/>
                  <a:pt x="77137" y="134438"/>
                </a:cubicBezTo>
                <a:lnTo>
                  <a:pt x="77137" y="123419"/>
                </a:lnTo>
                <a:lnTo>
                  <a:pt x="92564" y="123419"/>
                </a:lnTo>
                <a:lnTo>
                  <a:pt x="92564" y="134438"/>
                </a:lnTo>
                <a:cubicBezTo>
                  <a:pt x="92564" y="138102"/>
                  <a:pt x="95512" y="141050"/>
                  <a:pt x="99176" y="141050"/>
                </a:cubicBezTo>
                <a:cubicBezTo>
                  <a:pt x="102840" y="141050"/>
                  <a:pt x="105787" y="138102"/>
                  <a:pt x="105787" y="134438"/>
                </a:cubicBezTo>
                <a:lnTo>
                  <a:pt x="105787" y="123419"/>
                </a:lnTo>
                <a:cubicBezTo>
                  <a:pt x="115512" y="123419"/>
                  <a:pt x="123419" y="115512"/>
                  <a:pt x="123419" y="105787"/>
                </a:cubicBezTo>
                <a:lnTo>
                  <a:pt x="134438" y="105787"/>
                </a:lnTo>
                <a:cubicBezTo>
                  <a:pt x="138102" y="105787"/>
                  <a:pt x="141050" y="102840"/>
                  <a:pt x="141050" y="99176"/>
                </a:cubicBezTo>
                <a:cubicBezTo>
                  <a:pt x="141050" y="95512"/>
                  <a:pt x="138102" y="92564"/>
                  <a:pt x="134438" y="92564"/>
                </a:cubicBezTo>
                <a:lnTo>
                  <a:pt x="123419" y="92564"/>
                </a:lnTo>
                <a:lnTo>
                  <a:pt x="123419" y="77137"/>
                </a:lnTo>
                <a:lnTo>
                  <a:pt x="134438" y="77137"/>
                </a:lnTo>
                <a:cubicBezTo>
                  <a:pt x="138102" y="77137"/>
                  <a:pt x="141050" y="74189"/>
                  <a:pt x="141050" y="70525"/>
                </a:cubicBezTo>
                <a:cubicBezTo>
                  <a:pt x="141050" y="66861"/>
                  <a:pt x="138102" y="63913"/>
                  <a:pt x="134438" y="63913"/>
                </a:cubicBezTo>
                <a:lnTo>
                  <a:pt x="123419" y="63913"/>
                </a:lnTo>
                <a:lnTo>
                  <a:pt x="123419" y="48486"/>
                </a:lnTo>
                <a:lnTo>
                  <a:pt x="134438" y="48486"/>
                </a:lnTo>
                <a:cubicBezTo>
                  <a:pt x="138102" y="48486"/>
                  <a:pt x="141050" y="45538"/>
                  <a:pt x="141050" y="41874"/>
                </a:cubicBezTo>
                <a:cubicBezTo>
                  <a:pt x="141050" y="38210"/>
                  <a:pt x="138102" y="35262"/>
                  <a:pt x="134438" y="35262"/>
                </a:cubicBezTo>
                <a:lnTo>
                  <a:pt x="123419" y="35262"/>
                </a:lnTo>
                <a:cubicBezTo>
                  <a:pt x="123419" y="25538"/>
                  <a:pt x="115512" y="17631"/>
                  <a:pt x="105787" y="17631"/>
                </a:cubicBezTo>
                <a:lnTo>
                  <a:pt x="105787" y="6612"/>
                </a:lnTo>
                <a:cubicBezTo>
                  <a:pt x="105787" y="2948"/>
                  <a:pt x="102840" y="0"/>
                  <a:pt x="99176" y="0"/>
                </a:cubicBezTo>
                <a:cubicBezTo>
                  <a:pt x="95512" y="0"/>
                  <a:pt x="92564" y="2948"/>
                  <a:pt x="92564" y="6612"/>
                </a:cubicBezTo>
                <a:lnTo>
                  <a:pt x="92564" y="17631"/>
                </a:lnTo>
                <a:lnTo>
                  <a:pt x="77137" y="17631"/>
                </a:lnTo>
                <a:lnTo>
                  <a:pt x="77137" y="6612"/>
                </a:lnTo>
                <a:cubicBezTo>
                  <a:pt x="77137" y="2948"/>
                  <a:pt x="74189" y="0"/>
                  <a:pt x="70525" y="0"/>
                </a:cubicBezTo>
                <a:cubicBezTo>
                  <a:pt x="66861" y="0"/>
                  <a:pt x="63913" y="2948"/>
                  <a:pt x="63913" y="6612"/>
                </a:cubicBezTo>
                <a:lnTo>
                  <a:pt x="63913" y="17631"/>
                </a:lnTo>
                <a:lnTo>
                  <a:pt x="48486" y="17631"/>
                </a:lnTo>
                <a:lnTo>
                  <a:pt x="48486" y="6612"/>
                </a:lnTo>
                <a:close/>
                <a:moveTo>
                  <a:pt x="44078" y="35262"/>
                </a:moveTo>
                <a:lnTo>
                  <a:pt x="96972" y="35262"/>
                </a:lnTo>
                <a:cubicBezTo>
                  <a:pt x="101848" y="35262"/>
                  <a:pt x="105787" y="39202"/>
                  <a:pt x="105787" y="44078"/>
                </a:cubicBezTo>
                <a:lnTo>
                  <a:pt x="105787" y="96972"/>
                </a:lnTo>
                <a:cubicBezTo>
                  <a:pt x="105787" y="101848"/>
                  <a:pt x="101848" y="105787"/>
                  <a:pt x="96972" y="105787"/>
                </a:cubicBezTo>
                <a:lnTo>
                  <a:pt x="44078" y="105787"/>
                </a:lnTo>
                <a:cubicBezTo>
                  <a:pt x="39202" y="105787"/>
                  <a:pt x="35262" y="101848"/>
                  <a:pt x="35262" y="96972"/>
                </a:cubicBezTo>
                <a:lnTo>
                  <a:pt x="35262" y="44078"/>
                </a:lnTo>
                <a:cubicBezTo>
                  <a:pt x="35262" y="39202"/>
                  <a:pt x="39202" y="35262"/>
                  <a:pt x="44078" y="35262"/>
                </a:cubicBezTo>
                <a:close/>
                <a:moveTo>
                  <a:pt x="48486" y="48486"/>
                </a:moveTo>
                <a:lnTo>
                  <a:pt x="48486" y="92564"/>
                </a:lnTo>
                <a:lnTo>
                  <a:pt x="92564" y="92564"/>
                </a:lnTo>
                <a:lnTo>
                  <a:pt x="92564" y="48486"/>
                </a:lnTo>
                <a:lnTo>
                  <a:pt x="48486" y="48486"/>
                </a:lnTo>
                <a:close/>
              </a:path>
            </a:pathLst>
          </a:custGeom>
          <a:solidFill>
            <a:srgbClr val="ED1C24"/>
          </a:solidFill>
          <a:ln/>
        </p:spPr>
      </p:sp>
      <p:sp>
        <p:nvSpPr>
          <p:cNvPr id="43" name="Text 40"/>
          <p:cNvSpPr/>
          <p:nvPr/>
        </p:nvSpPr>
        <p:spPr>
          <a:xfrm>
            <a:off x="6792847" y="3200069"/>
            <a:ext cx="33499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206304" y="3182438"/>
            <a:ext cx="387887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ED1C2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35%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546010" y="3499800"/>
            <a:ext cx="503371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Graphics Dominance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546010" y="3746638"/>
            <a:ext cx="423150" cy="211575"/>
          </a:xfrm>
          <a:custGeom>
            <a:avLst/>
            <a:gdLst/>
            <a:ahLst/>
            <a:cxnLst/>
            <a:rect l="l" t="t" r="r" b="b"/>
            <a:pathLst>
              <a:path w="423150" h="211575">
                <a:moveTo>
                  <a:pt x="35263" y="0"/>
                </a:moveTo>
                <a:lnTo>
                  <a:pt x="387886" y="0"/>
                </a:lnTo>
                <a:cubicBezTo>
                  <a:pt x="407362" y="0"/>
                  <a:pt x="423150" y="15788"/>
                  <a:pt x="423150" y="35263"/>
                </a:cubicBezTo>
                <a:lnTo>
                  <a:pt x="423150" y="176312"/>
                </a:lnTo>
                <a:cubicBezTo>
                  <a:pt x="423150" y="195787"/>
                  <a:pt x="407362" y="211575"/>
                  <a:pt x="387886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ED1C24">
              <a:alpha val="20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6546010" y="3746638"/>
            <a:ext cx="476043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Iris Xe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008554" y="3746638"/>
            <a:ext cx="361440" cy="211575"/>
          </a:xfrm>
          <a:custGeom>
            <a:avLst/>
            <a:gdLst/>
            <a:ahLst/>
            <a:cxnLst/>
            <a:rect l="l" t="t" r="r" b="b"/>
            <a:pathLst>
              <a:path w="361440" h="211575">
                <a:moveTo>
                  <a:pt x="35263" y="0"/>
                </a:moveTo>
                <a:lnTo>
                  <a:pt x="326177" y="0"/>
                </a:lnTo>
                <a:cubicBezTo>
                  <a:pt x="345652" y="0"/>
                  <a:pt x="361440" y="15788"/>
                  <a:pt x="361440" y="35263"/>
                </a:cubicBezTo>
                <a:lnTo>
                  <a:pt x="361440" y="176312"/>
                </a:lnTo>
                <a:cubicBezTo>
                  <a:pt x="361440" y="195787"/>
                  <a:pt x="345652" y="211575"/>
                  <a:pt x="326177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ED1C24">
              <a:alpha val="20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7008554" y="3746638"/>
            <a:ext cx="414334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UHD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406634" y="3746638"/>
            <a:ext cx="722881" cy="211575"/>
          </a:xfrm>
          <a:custGeom>
            <a:avLst/>
            <a:gdLst/>
            <a:ahLst/>
            <a:cxnLst/>
            <a:rect l="l" t="t" r="r" b="b"/>
            <a:pathLst>
              <a:path w="722881" h="211575">
                <a:moveTo>
                  <a:pt x="35263" y="0"/>
                </a:moveTo>
                <a:lnTo>
                  <a:pt x="687618" y="0"/>
                </a:lnTo>
                <a:cubicBezTo>
                  <a:pt x="707093" y="0"/>
                  <a:pt x="722881" y="15788"/>
                  <a:pt x="722881" y="35263"/>
                </a:cubicBezTo>
                <a:lnTo>
                  <a:pt x="722881" y="176312"/>
                </a:lnTo>
                <a:cubicBezTo>
                  <a:pt x="722881" y="195787"/>
                  <a:pt x="707093" y="211575"/>
                  <a:pt x="687618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ED1C24">
              <a:alpha val="20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406634" y="3746638"/>
            <a:ext cx="775774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 A-Series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87329" y="4205050"/>
            <a:ext cx="5271740" cy="1057874"/>
          </a:xfrm>
          <a:custGeom>
            <a:avLst/>
            <a:gdLst/>
            <a:ahLst/>
            <a:cxnLst/>
            <a:rect l="l" t="t" r="r" b="b"/>
            <a:pathLst>
              <a:path w="5271740" h="1057874">
                <a:moveTo>
                  <a:pt x="35262" y="0"/>
                </a:moveTo>
                <a:lnTo>
                  <a:pt x="5201211" y="0"/>
                </a:lnTo>
                <a:cubicBezTo>
                  <a:pt x="5240163" y="0"/>
                  <a:pt x="5271740" y="31577"/>
                  <a:pt x="5271740" y="70528"/>
                </a:cubicBezTo>
                <a:lnTo>
                  <a:pt x="5271740" y="987346"/>
                </a:lnTo>
                <a:cubicBezTo>
                  <a:pt x="5271740" y="1026298"/>
                  <a:pt x="5240163" y="1057874"/>
                  <a:pt x="5201211" y="1057874"/>
                </a:cubicBezTo>
                <a:lnTo>
                  <a:pt x="35262" y="1057874"/>
                </a:lnTo>
                <a:cubicBezTo>
                  <a:pt x="15788" y="1057874"/>
                  <a:pt x="0" y="1042087"/>
                  <a:pt x="0" y="10226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0000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3" name="Shape 50"/>
          <p:cNvSpPr/>
          <p:nvPr/>
        </p:nvSpPr>
        <p:spPr>
          <a:xfrm>
            <a:off x="6387329" y="4205050"/>
            <a:ext cx="35262" cy="1057874"/>
          </a:xfrm>
          <a:custGeom>
            <a:avLst/>
            <a:gdLst/>
            <a:ahLst/>
            <a:cxnLst/>
            <a:rect l="l" t="t" r="r" b="b"/>
            <a:pathLst>
              <a:path w="35262" h="1057874">
                <a:moveTo>
                  <a:pt x="35262" y="0"/>
                </a:moveTo>
                <a:lnTo>
                  <a:pt x="35262" y="0"/>
                </a:lnTo>
                <a:lnTo>
                  <a:pt x="35262" y="1057874"/>
                </a:lnTo>
                <a:lnTo>
                  <a:pt x="35262" y="1057874"/>
                </a:lnTo>
                <a:cubicBezTo>
                  <a:pt x="15788" y="1057874"/>
                  <a:pt x="0" y="1042087"/>
                  <a:pt x="0" y="102261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54" name="Shape 51"/>
          <p:cNvSpPr/>
          <p:nvPr/>
        </p:nvSpPr>
        <p:spPr>
          <a:xfrm>
            <a:off x="6572457" y="4398993"/>
            <a:ext cx="123419" cy="141050"/>
          </a:xfrm>
          <a:custGeom>
            <a:avLst/>
            <a:gdLst/>
            <a:ahLst/>
            <a:cxnLst/>
            <a:rect l="l" t="t" r="r" b="b"/>
            <a:pathLst>
              <a:path w="123419" h="141050">
                <a:moveTo>
                  <a:pt x="44216" y="-7273"/>
                </a:moveTo>
                <a:cubicBezTo>
                  <a:pt x="46778" y="-9422"/>
                  <a:pt x="50552" y="-9339"/>
                  <a:pt x="53004" y="-7025"/>
                </a:cubicBezTo>
                <a:cubicBezTo>
                  <a:pt x="56392" y="-3829"/>
                  <a:pt x="59423" y="-303"/>
                  <a:pt x="62343" y="3278"/>
                </a:cubicBezTo>
                <a:cubicBezTo>
                  <a:pt x="66062" y="7824"/>
                  <a:pt x="70525" y="13830"/>
                  <a:pt x="74823" y="20965"/>
                </a:cubicBezTo>
                <a:cubicBezTo>
                  <a:pt x="76255" y="19091"/>
                  <a:pt x="77577" y="17438"/>
                  <a:pt x="78734" y="16033"/>
                </a:cubicBezTo>
                <a:cubicBezTo>
                  <a:pt x="79038" y="15675"/>
                  <a:pt x="79341" y="15290"/>
                  <a:pt x="79644" y="14904"/>
                </a:cubicBezTo>
                <a:cubicBezTo>
                  <a:pt x="81820" y="12204"/>
                  <a:pt x="84520" y="8816"/>
                  <a:pt x="88129" y="8816"/>
                </a:cubicBezTo>
                <a:cubicBezTo>
                  <a:pt x="91820" y="8816"/>
                  <a:pt x="94410" y="12094"/>
                  <a:pt x="96614" y="14904"/>
                </a:cubicBezTo>
                <a:cubicBezTo>
                  <a:pt x="96972" y="15372"/>
                  <a:pt x="97330" y="15813"/>
                  <a:pt x="97688" y="16226"/>
                </a:cubicBezTo>
                <a:cubicBezTo>
                  <a:pt x="100526" y="19642"/>
                  <a:pt x="104300" y="24574"/>
                  <a:pt x="108074" y="30662"/>
                </a:cubicBezTo>
                <a:cubicBezTo>
                  <a:pt x="115567" y="42756"/>
                  <a:pt x="123391" y="59974"/>
                  <a:pt x="123391" y="79313"/>
                </a:cubicBezTo>
                <a:cubicBezTo>
                  <a:pt x="123391" y="113391"/>
                  <a:pt x="95760" y="141022"/>
                  <a:pt x="61682" y="141022"/>
                </a:cubicBezTo>
                <a:cubicBezTo>
                  <a:pt x="27604" y="141022"/>
                  <a:pt x="0" y="113418"/>
                  <a:pt x="0" y="79341"/>
                </a:cubicBezTo>
                <a:cubicBezTo>
                  <a:pt x="0" y="54244"/>
                  <a:pt x="11323" y="32508"/>
                  <a:pt x="22177" y="17356"/>
                </a:cubicBezTo>
                <a:cubicBezTo>
                  <a:pt x="27659" y="9725"/>
                  <a:pt x="33114" y="3609"/>
                  <a:pt x="37218" y="-579"/>
                </a:cubicBezTo>
                <a:cubicBezTo>
                  <a:pt x="39477" y="-2893"/>
                  <a:pt x="41764" y="-5179"/>
                  <a:pt x="44243" y="-7245"/>
                </a:cubicBezTo>
                <a:close/>
                <a:moveTo>
                  <a:pt x="62178" y="114603"/>
                </a:moveTo>
                <a:cubicBezTo>
                  <a:pt x="69148" y="114603"/>
                  <a:pt x="75318" y="112675"/>
                  <a:pt x="81131" y="108818"/>
                </a:cubicBezTo>
                <a:cubicBezTo>
                  <a:pt x="92729" y="100718"/>
                  <a:pt x="95842" y="84520"/>
                  <a:pt x="88872" y="71792"/>
                </a:cubicBezTo>
                <a:cubicBezTo>
                  <a:pt x="87633" y="69313"/>
                  <a:pt x="84465" y="69148"/>
                  <a:pt x="82674" y="71241"/>
                </a:cubicBezTo>
                <a:lnTo>
                  <a:pt x="75732" y="79313"/>
                </a:lnTo>
                <a:cubicBezTo>
                  <a:pt x="73913" y="81407"/>
                  <a:pt x="70635" y="81352"/>
                  <a:pt x="68927" y="79175"/>
                </a:cubicBezTo>
                <a:cubicBezTo>
                  <a:pt x="64161" y="73087"/>
                  <a:pt x="55401" y="61985"/>
                  <a:pt x="50938" y="56310"/>
                </a:cubicBezTo>
                <a:cubicBezTo>
                  <a:pt x="49450" y="54409"/>
                  <a:pt x="46750" y="54106"/>
                  <a:pt x="45015" y="55786"/>
                </a:cubicBezTo>
                <a:cubicBezTo>
                  <a:pt x="39973" y="60690"/>
                  <a:pt x="30827" y="71434"/>
                  <a:pt x="30827" y="84520"/>
                </a:cubicBezTo>
                <a:cubicBezTo>
                  <a:pt x="30827" y="103418"/>
                  <a:pt x="44767" y="114603"/>
                  <a:pt x="62150" y="114603"/>
                </a:cubicBez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55" name="Text 52"/>
          <p:cNvSpPr/>
          <p:nvPr/>
        </p:nvSpPr>
        <p:spPr>
          <a:xfrm>
            <a:off x="6792847" y="4363731"/>
            <a:ext cx="88156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AMD Radeon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1234403" y="4346100"/>
            <a:ext cx="361440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F000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13%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546010" y="4663462"/>
            <a:ext cx="5033718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Gaming Alternative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546010" y="4910299"/>
            <a:ext cx="634725" cy="211575"/>
          </a:xfrm>
          <a:custGeom>
            <a:avLst/>
            <a:gdLst/>
            <a:ahLst/>
            <a:cxnLst/>
            <a:rect l="l" t="t" r="r" b="b"/>
            <a:pathLst>
              <a:path w="634725" h="211575">
                <a:moveTo>
                  <a:pt x="35263" y="0"/>
                </a:moveTo>
                <a:lnTo>
                  <a:pt x="599461" y="0"/>
                </a:lnTo>
                <a:cubicBezTo>
                  <a:pt x="618937" y="0"/>
                  <a:pt x="634725" y="15788"/>
                  <a:pt x="634725" y="35263"/>
                </a:cubicBezTo>
                <a:lnTo>
                  <a:pt x="634725" y="176312"/>
                </a:lnTo>
                <a:cubicBezTo>
                  <a:pt x="634725" y="195787"/>
                  <a:pt x="618937" y="211575"/>
                  <a:pt x="599461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6546010" y="4910299"/>
            <a:ext cx="687618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RX 7600M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212691" y="4910299"/>
            <a:ext cx="634725" cy="211575"/>
          </a:xfrm>
          <a:custGeom>
            <a:avLst/>
            <a:gdLst/>
            <a:ahLst/>
            <a:cxnLst/>
            <a:rect l="l" t="t" r="r" b="b"/>
            <a:pathLst>
              <a:path w="634725" h="211575">
                <a:moveTo>
                  <a:pt x="35263" y="0"/>
                </a:moveTo>
                <a:lnTo>
                  <a:pt x="599461" y="0"/>
                </a:lnTo>
                <a:cubicBezTo>
                  <a:pt x="618937" y="0"/>
                  <a:pt x="634725" y="15788"/>
                  <a:pt x="634725" y="35263"/>
                </a:cubicBezTo>
                <a:lnTo>
                  <a:pt x="634725" y="176312"/>
                </a:lnTo>
                <a:cubicBezTo>
                  <a:pt x="634725" y="195787"/>
                  <a:pt x="618937" y="211575"/>
                  <a:pt x="599461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7212691" y="4910299"/>
            <a:ext cx="687618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RX 6700M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7879372" y="4910299"/>
            <a:ext cx="643540" cy="211575"/>
          </a:xfrm>
          <a:custGeom>
            <a:avLst/>
            <a:gdLst/>
            <a:ahLst/>
            <a:cxnLst/>
            <a:rect l="l" t="t" r="r" b="b"/>
            <a:pathLst>
              <a:path w="643540" h="211575">
                <a:moveTo>
                  <a:pt x="35263" y="0"/>
                </a:moveTo>
                <a:lnTo>
                  <a:pt x="608277" y="0"/>
                </a:lnTo>
                <a:cubicBezTo>
                  <a:pt x="627752" y="0"/>
                  <a:pt x="643540" y="15788"/>
                  <a:pt x="643540" y="35263"/>
                </a:cubicBezTo>
                <a:lnTo>
                  <a:pt x="643540" y="176312"/>
                </a:lnTo>
                <a:cubicBezTo>
                  <a:pt x="643540" y="195787"/>
                  <a:pt x="627752" y="211575"/>
                  <a:pt x="608277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FF0000">
              <a:alpha val="20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7879372" y="4910299"/>
            <a:ext cx="696434" cy="211575"/>
          </a:xfrm>
          <a:prstGeom prst="rect">
            <a:avLst/>
          </a:prstGeom>
          <a:noFill/>
          <a:ln/>
        </p:spPr>
        <p:txBody>
          <a:bodyPr wrap="square" lIns="70525" tIns="35262" rIns="70525" bIns="35262" rtlCol="0" anchor="ctr"/>
          <a:lstStyle/>
          <a:p>
            <a:pPr>
              <a:lnSpc>
                <a:spcPct val="110000"/>
              </a:lnSpc>
            </a:pPr>
            <a:r>
              <a:rPr lang="en-US" sz="83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RX 6600M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357033" y="6466669"/>
            <a:ext cx="11477935" cy="396703"/>
          </a:xfrm>
          <a:custGeom>
            <a:avLst/>
            <a:gdLst/>
            <a:ahLst/>
            <a:cxnLst/>
            <a:rect l="l" t="t" r="r" b="b"/>
            <a:pathLst>
              <a:path w="11477935" h="396703">
                <a:moveTo>
                  <a:pt x="70526" y="0"/>
                </a:moveTo>
                <a:lnTo>
                  <a:pt x="11407409" y="0"/>
                </a:lnTo>
                <a:cubicBezTo>
                  <a:pt x="11446359" y="0"/>
                  <a:pt x="11477935" y="31575"/>
                  <a:pt x="11477935" y="70526"/>
                </a:cubicBezTo>
                <a:lnTo>
                  <a:pt x="11477935" y="326177"/>
                </a:lnTo>
                <a:cubicBezTo>
                  <a:pt x="11477935" y="365127"/>
                  <a:pt x="11446359" y="396703"/>
                  <a:pt x="11407409" y="396703"/>
                </a:cubicBezTo>
                <a:lnTo>
                  <a:pt x="70526" y="396703"/>
                </a:lnTo>
                <a:cubicBezTo>
                  <a:pt x="31602" y="396703"/>
                  <a:pt x="0" y="365101"/>
                  <a:pt x="0" y="326177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78247" y="6576864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33059" y="22039"/>
                </a:moveTo>
                <a:cubicBezTo>
                  <a:pt x="20903" y="22039"/>
                  <a:pt x="11020" y="31922"/>
                  <a:pt x="11020" y="44078"/>
                </a:cubicBezTo>
                <a:lnTo>
                  <a:pt x="11020" y="132234"/>
                </a:lnTo>
                <a:cubicBezTo>
                  <a:pt x="11020" y="144390"/>
                  <a:pt x="20903" y="154273"/>
                  <a:pt x="33059" y="154273"/>
                </a:cubicBezTo>
                <a:lnTo>
                  <a:pt x="121215" y="154273"/>
                </a:lnTo>
                <a:cubicBezTo>
                  <a:pt x="133371" y="154273"/>
                  <a:pt x="143254" y="144390"/>
                  <a:pt x="143254" y="132234"/>
                </a:cubicBezTo>
                <a:lnTo>
                  <a:pt x="143254" y="44078"/>
                </a:lnTo>
                <a:cubicBezTo>
                  <a:pt x="143254" y="31922"/>
                  <a:pt x="133371" y="22039"/>
                  <a:pt x="121215" y="22039"/>
                </a:cubicBezTo>
                <a:lnTo>
                  <a:pt x="33059" y="22039"/>
                </a:lnTo>
                <a:close/>
                <a:moveTo>
                  <a:pt x="159783" y="115705"/>
                </a:moveTo>
                <a:lnTo>
                  <a:pt x="185094" y="135953"/>
                </a:lnTo>
                <a:cubicBezTo>
                  <a:pt x="186540" y="137124"/>
                  <a:pt x="188331" y="137744"/>
                  <a:pt x="190190" y="137744"/>
                </a:cubicBezTo>
                <a:cubicBezTo>
                  <a:pt x="194701" y="137744"/>
                  <a:pt x="198351" y="134094"/>
                  <a:pt x="198351" y="129583"/>
                </a:cubicBezTo>
                <a:lnTo>
                  <a:pt x="198351" y="46730"/>
                </a:lnTo>
                <a:cubicBezTo>
                  <a:pt x="198351" y="42219"/>
                  <a:pt x="194701" y="38568"/>
                  <a:pt x="190190" y="38568"/>
                </a:cubicBezTo>
                <a:cubicBezTo>
                  <a:pt x="188331" y="38568"/>
                  <a:pt x="186540" y="39188"/>
                  <a:pt x="185094" y="40359"/>
                </a:cubicBezTo>
                <a:lnTo>
                  <a:pt x="159783" y="60607"/>
                </a:lnTo>
                <a:lnTo>
                  <a:pt x="159783" y="115705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6" name="Text 63"/>
          <p:cNvSpPr/>
          <p:nvPr/>
        </p:nvSpPr>
        <p:spPr>
          <a:xfrm>
            <a:off x="793406" y="6576864"/>
            <a:ext cx="10085067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Insight:</a:t>
            </a:r>
            <a:r>
              <a:rPr lang="en-US" sz="972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NVIDIA commands premium pricing with RTX series. Dedicated GPU laptops average ₹95,000 vs ₹48,000 for integrated. RTX 3060/4060 most popular for mid-range gaming.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0446" y="438150"/>
            <a:ext cx="28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1063" y="414338"/>
            <a:ext cx="1352550" cy="314325"/>
          </a:xfrm>
          <a:custGeom>
            <a:avLst/>
            <a:gdLst/>
            <a:ahLst/>
            <a:cxnLst/>
            <a:rect l="l" t="t" r="r" b="b"/>
            <a:pathLst>
              <a:path w="1352550" h="314325">
                <a:moveTo>
                  <a:pt x="157163" y="0"/>
                </a:moveTo>
                <a:lnTo>
                  <a:pt x="1195388" y="0"/>
                </a:lnTo>
                <a:cubicBezTo>
                  <a:pt x="1282128" y="0"/>
                  <a:pt x="1352550" y="70422"/>
                  <a:pt x="1352550" y="157163"/>
                </a:cubicBezTo>
                <a:lnTo>
                  <a:pt x="1352550" y="157163"/>
                </a:lnTo>
                <a:cubicBezTo>
                  <a:pt x="1352550" y="243903"/>
                  <a:pt x="1282128" y="314325"/>
                  <a:pt x="1195388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0125" y="523875"/>
            <a:ext cx="11694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Evolution: SSD vs HDD Adoption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414463"/>
            <a:ext cx="6791325" cy="3248025"/>
          </a:xfrm>
          <a:custGeom>
            <a:avLst/>
            <a:gdLst/>
            <a:ahLst/>
            <a:cxnLst/>
            <a:rect l="l" t="t" r="r" b="b"/>
            <a:pathLst>
              <a:path w="6791325" h="3248025">
                <a:moveTo>
                  <a:pt x="114298" y="0"/>
                </a:moveTo>
                <a:lnTo>
                  <a:pt x="6677027" y="0"/>
                </a:lnTo>
                <a:cubicBezTo>
                  <a:pt x="6740110" y="0"/>
                  <a:pt x="6791325" y="51215"/>
                  <a:pt x="6791325" y="114298"/>
                </a:cubicBezTo>
                <a:lnTo>
                  <a:pt x="6791325" y="3133727"/>
                </a:lnTo>
                <a:cubicBezTo>
                  <a:pt x="6791325" y="3196810"/>
                  <a:pt x="6740110" y="3248025"/>
                  <a:pt x="6677027" y="3248025"/>
                </a:cubicBezTo>
                <a:lnTo>
                  <a:pt x="114298" y="3248025"/>
                </a:lnTo>
                <a:cubicBezTo>
                  <a:pt x="51215" y="3248025"/>
                  <a:pt x="0" y="3196810"/>
                  <a:pt x="0" y="3133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1025" y="1609725"/>
            <a:ext cx="648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Configuration Trends</a:t>
            </a:r>
            <a:endParaRPr lang="en-US" sz="1600" dirty="0"/>
          </a:p>
        </p:txBody>
      </p:sp>
      <p:pic>
        <p:nvPicPr>
          <p:cNvPr id="9" name="Image 0" descr="https://kimi-img.moonshot.cn/pub/slides/26-02-02-19:33:43-d608n5od7itmesetbnr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025" y="1990725"/>
            <a:ext cx="6400800" cy="24765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85763" y="4824413"/>
            <a:ext cx="6791325" cy="1419225"/>
          </a:xfrm>
          <a:custGeom>
            <a:avLst/>
            <a:gdLst/>
            <a:ahLst/>
            <a:cxnLst/>
            <a:rect l="l" t="t" r="r" b="b"/>
            <a:pathLst>
              <a:path w="6791325" h="1419225">
                <a:moveTo>
                  <a:pt x="114304" y="0"/>
                </a:moveTo>
                <a:lnTo>
                  <a:pt x="6677021" y="0"/>
                </a:lnTo>
                <a:cubicBezTo>
                  <a:pt x="6740149" y="0"/>
                  <a:pt x="6791325" y="51176"/>
                  <a:pt x="6791325" y="114304"/>
                </a:cubicBezTo>
                <a:lnTo>
                  <a:pt x="6791325" y="1304921"/>
                </a:lnTo>
                <a:cubicBezTo>
                  <a:pt x="6791325" y="1368049"/>
                  <a:pt x="6740149" y="1419225"/>
                  <a:pt x="66770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925" y="4981575"/>
            <a:ext cx="655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Type Adoption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2925" y="5324475"/>
            <a:ext cx="2085975" cy="762000"/>
          </a:xfrm>
          <a:custGeom>
            <a:avLst/>
            <a:gdLst/>
            <a:ahLst/>
            <a:cxnLst/>
            <a:rect l="l" t="t" r="r" b="b"/>
            <a:pathLst>
              <a:path w="2085975" h="762000">
                <a:moveTo>
                  <a:pt x="76200" y="0"/>
                </a:moveTo>
                <a:lnTo>
                  <a:pt x="2009775" y="0"/>
                </a:lnTo>
                <a:cubicBezTo>
                  <a:pt x="2051831" y="0"/>
                  <a:pt x="2085975" y="34144"/>
                  <a:pt x="2085975" y="76200"/>
                </a:cubicBezTo>
                <a:lnTo>
                  <a:pt x="2085975" y="685800"/>
                </a:lnTo>
                <a:cubicBezTo>
                  <a:pt x="2085975" y="727856"/>
                  <a:pt x="2051831" y="762000"/>
                  <a:pt x="20097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85788" y="5438775"/>
            <a:ext cx="2000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78%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8650" y="5819775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SSD Only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38735" y="5324475"/>
            <a:ext cx="2085975" cy="762000"/>
          </a:xfrm>
          <a:custGeom>
            <a:avLst/>
            <a:gdLst/>
            <a:ahLst/>
            <a:cxnLst/>
            <a:rect l="l" t="t" r="r" b="b"/>
            <a:pathLst>
              <a:path w="2085975" h="762000">
                <a:moveTo>
                  <a:pt x="76200" y="0"/>
                </a:moveTo>
                <a:lnTo>
                  <a:pt x="2009775" y="0"/>
                </a:lnTo>
                <a:cubicBezTo>
                  <a:pt x="2051831" y="0"/>
                  <a:pt x="2085975" y="34144"/>
                  <a:pt x="2085975" y="76200"/>
                </a:cubicBezTo>
                <a:lnTo>
                  <a:pt x="2085975" y="685800"/>
                </a:lnTo>
                <a:cubicBezTo>
                  <a:pt x="2085975" y="727856"/>
                  <a:pt x="2051831" y="762000"/>
                  <a:pt x="20097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781598" y="5438775"/>
            <a:ext cx="2000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824460" y="5819775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SSD + HDD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934545" y="5324475"/>
            <a:ext cx="2085975" cy="762000"/>
          </a:xfrm>
          <a:custGeom>
            <a:avLst/>
            <a:gdLst/>
            <a:ahLst/>
            <a:cxnLst/>
            <a:rect l="l" t="t" r="r" b="b"/>
            <a:pathLst>
              <a:path w="2085975" h="762000">
                <a:moveTo>
                  <a:pt x="76200" y="0"/>
                </a:moveTo>
                <a:lnTo>
                  <a:pt x="2009775" y="0"/>
                </a:lnTo>
                <a:cubicBezTo>
                  <a:pt x="2051831" y="0"/>
                  <a:pt x="2085975" y="34144"/>
                  <a:pt x="2085975" y="76200"/>
                </a:cubicBezTo>
                <a:lnTo>
                  <a:pt x="2085975" y="685800"/>
                </a:lnTo>
                <a:cubicBezTo>
                  <a:pt x="2085975" y="727856"/>
                  <a:pt x="2051831" y="762000"/>
                  <a:pt x="20097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977408" y="5438775"/>
            <a:ext cx="2000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0270" y="5819775"/>
            <a:ext cx="191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HDD Only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335143" y="1414463"/>
            <a:ext cx="4467225" cy="2371725"/>
          </a:xfrm>
          <a:custGeom>
            <a:avLst/>
            <a:gdLst/>
            <a:ahLst/>
            <a:cxnLst/>
            <a:rect l="l" t="t" r="r" b="b"/>
            <a:pathLst>
              <a:path w="4467225" h="2371725">
                <a:moveTo>
                  <a:pt x="114293" y="0"/>
                </a:moveTo>
                <a:lnTo>
                  <a:pt x="4352932" y="0"/>
                </a:lnTo>
                <a:cubicBezTo>
                  <a:pt x="4416012" y="0"/>
                  <a:pt x="4467225" y="51213"/>
                  <a:pt x="4467225" y="114293"/>
                </a:cubicBezTo>
                <a:lnTo>
                  <a:pt x="4467225" y="2257432"/>
                </a:lnTo>
                <a:cubicBezTo>
                  <a:pt x="4467225" y="2320512"/>
                  <a:pt x="4416012" y="2371725"/>
                  <a:pt x="43529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30405" y="1609725"/>
            <a:ext cx="416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SSD Capacity Distribution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530405" y="2028825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256GB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365855" y="2028825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22%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30405" y="2257425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Shape 23"/>
          <p:cNvSpPr/>
          <p:nvPr/>
        </p:nvSpPr>
        <p:spPr>
          <a:xfrm>
            <a:off x="7530405" y="2257425"/>
            <a:ext cx="895350" cy="76200"/>
          </a:xfrm>
          <a:custGeom>
            <a:avLst/>
            <a:gdLst/>
            <a:ahLst/>
            <a:cxnLst/>
            <a:rect l="l" t="t" r="r" b="b"/>
            <a:pathLst>
              <a:path w="895350" h="76200">
                <a:moveTo>
                  <a:pt x="38100" y="0"/>
                </a:moveTo>
                <a:lnTo>
                  <a:pt x="857250" y="0"/>
                </a:lnTo>
                <a:cubicBezTo>
                  <a:pt x="878278" y="0"/>
                  <a:pt x="895350" y="17072"/>
                  <a:pt x="895350" y="38100"/>
                </a:cubicBezTo>
                <a:lnTo>
                  <a:pt x="895350" y="38100"/>
                </a:lnTo>
                <a:cubicBezTo>
                  <a:pt x="895350" y="59128"/>
                  <a:pt x="878278" y="76200"/>
                  <a:pt x="8572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27" name="Text 24"/>
          <p:cNvSpPr/>
          <p:nvPr/>
        </p:nvSpPr>
        <p:spPr>
          <a:xfrm>
            <a:off x="7530405" y="244792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512GB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355884" y="2447925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30405" y="2676525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7"/>
          <p:cNvSpPr/>
          <p:nvPr/>
        </p:nvSpPr>
        <p:spPr>
          <a:xfrm>
            <a:off x="7530405" y="2676525"/>
            <a:ext cx="1552575" cy="76200"/>
          </a:xfrm>
          <a:custGeom>
            <a:avLst/>
            <a:gdLst/>
            <a:ahLst/>
            <a:cxnLst/>
            <a:rect l="l" t="t" r="r" b="b"/>
            <a:pathLst>
              <a:path w="1552575" h="76200">
                <a:moveTo>
                  <a:pt x="38100" y="0"/>
                </a:moveTo>
                <a:lnTo>
                  <a:pt x="1514475" y="0"/>
                </a:lnTo>
                <a:cubicBezTo>
                  <a:pt x="1535503" y="0"/>
                  <a:pt x="1552575" y="17072"/>
                  <a:pt x="1552575" y="38100"/>
                </a:cubicBezTo>
                <a:lnTo>
                  <a:pt x="1552575" y="38100"/>
                </a:lnTo>
                <a:cubicBezTo>
                  <a:pt x="1552575" y="59128"/>
                  <a:pt x="1535503" y="76200"/>
                  <a:pt x="1514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1" name="Text 28"/>
          <p:cNvSpPr/>
          <p:nvPr/>
        </p:nvSpPr>
        <p:spPr>
          <a:xfrm>
            <a:off x="7530405" y="2867025"/>
            <a:ext cx="257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1TB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359455" y="2867025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30405" y="3095625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1"/>
          <p:cNvSpPr/>
          <p:nvPr/>
        </p:nvSpPr>
        <p:spPr>
          <a:xfrm>
            <a:off x="7530405" y="3095625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38100" y="0"/>
                </a:moveTo>
                <a:lnTo>
                  <a:pt x="1104900" y="0"/>
                </a:lnTo>
                <a:cubicBezTo>
                  <a:pt x="1125928" y="0"/>
                  <a:pt x="1143000" y="17072"/>
                  <a:pt x="1143000" y="38100"/>
                </a:cubicBezTo>
                <a:lnTo>
                  <a:pt x="1143000" y="38100"/>
                </a:lnTo>
                <a:cubicBezTo>
                  <a:pt x="1143000" y="59128"/>
                  <a:pt x="1125928" y="76200"/>
                  <a:pt x="1104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35" name="Text 32"/>
          <p:cNvSpPr/>
          <p:nvPr/>
        </p:nvSpPr>
        <p:spPr>
          <a:xfrm>
            <a:off x="7530405" y="328612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2TB+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391454" y="3286125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12%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530405" y="3514725"/>
            <a:ext cx="4076700" cy="76200"/>
          </a:xfrm>
          <a:custGeom>
            <a:avLst/>
            <a:gdLst/>
            <a:ahLst/>
            <a:cxnLst/>
            <a:rect l="l" t="t" r="r" b="b"/>
            <a:pathLst>
              <a:path w="4076700" h="76200">
                <a:moveTo>
                  <a:pt x="38100" y="0"/>
                </a:moveTo>
                <a:lnTo>
                  <a:pt x="4038600" y="0"/>
                </a:lnTo>
                <a:cubicBezTo>
                  <a:pt x="4059628" y="0"/>
                  <a:pt x="4076700" y="17072"/>
                  <a:pt x="4076700" y="38100"/>
                </a:cubicBezTo>
                <a:lnTo>
                  <a:pt x="4076700" y="38100"/>
                </a:lnTo>
                <a:cubicBezTo>
                  <a:pt x="4076700" y="59128"/>
                  <a:pt x="4059628" y="76200"/>
                  <a:pt x="4038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Shape 35"/>
          <p:cNvSpPr/>
          <p:nvPr/>
        </p:nvSpPr>
        <p:spPr>
          <a:xfrm>
            <a:off x="7530405" y="3514725"/>
            <a:ext cx="485775" cy="76200"/>
          </a:xfrm>
          <a:custGeom>
            <a:avLst/>
            <a:gdLst/>
            <a:ahLst/>
            <a:cxnLst/>
            <a:rect l="l" t="t" r="r" b="b"/>
            <a:pathLst>
              <a:path w="485775" h="76200">
                <a:moveTo>
                  <a:pt x="38100" y="0"/>
                </a:moveTo>
                <a:lnTo>
                  <a:pt x="447675" y="0"/>
                </a:lnTo>
                <a:cubicBezTo>
                  <a:pt x="468703" y="0"/>
                  <a:pt x="485775" y="17072"/>
                  <a:pt x="485775" y="38100"/>
                </a:cubicBezTo>
                <a:lnTo>
                  <a:pt x="485775" y="38100"/>
                </a:lnTo>
                <a:cubicBezTo>
                  <a:pt x="485775" y="59128"/>
                  <a:pt x="468703" y="76200"/>
                  <a:pt x="4476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0E2E5">
              <a:alpha val="50196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335143" y="3948112"/>
            <a:ext cx="4467225" cy="1609725"/>
          </a:xfrm>
          <a:custGeom>
            <a:avLst/>
            <a:gdLst/>
            <a:ahLst/>
            <a:cxnLst/>
            <a:rect l="l" t="t" r="r" b="b"/>
            <a:pathLst>
              <a:path w="4467225" h="1609725">
                <a:moveTo>
                  <a:pt x="114307" y="0"/>
                </a:moveTo>
                <a:lnTo>
                  <a:pt x="4352918" y="0"/>
                </a:lnTo>
                <a:cubicBezTo>
                  <a:pt x="4416006" y="0"/>
                  <a:pt x="4467225" y="51219"/>
                  <a:pt x="4467225" y="114307"/>
                </a:cubicBezTo>
                <a:lnTo>
                  <a:pt x="4467225" y="1495418"/>
                </a:lnTo>
                <a:cubicBezTo>
                  <a:pt x="4467225" y="1558506"/>
                  <a:pt x="4416006" y="1609725"/>
                  <a:pt x="4352918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92305" y="4105275"/>
            <a:ext cx="421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Insights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511355" y="4448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42" name="Text 39"/>
          <p:cNvSpPr/>
          <p:nvPr/>
        </p:nvSpPr>
        <p:spPr>
          <a:xfrm>
            <a:off x="7759005" y="4410075"/>
            <a:ext cx="3781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SSD adoption at 93% shows near-complete transition from HDD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511355" y="4714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44" name="Text 41"/>
          <p:cNvSpPr/>
          <p:nvPr/>
        </p:nvSpPr>
        <p:spPr>
          <a:xfrm>
            <a:off x="7759005" y="4676775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512GB emerges as sweet spot for mainstream users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7511355" y="4981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46" name="Text 43"/>
          <p:cNvSpPr/>
          <p:nvPr/>
        </p:nvSpPr>
        <p:spPr>
          <a:xfrm>
            <a:off x="7759005" y="4943475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1TB+ configurations concentrated in premium segment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511355" y="5248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48" name="Text 45"/>
          <p:cNvSpPr/>
          <p:nvPr/>
        </p:nvSpPr>
        <p:spPr>
          <a:xfrm>
            <a:off x="7759005" y="5210175"/>
            <a:ext cx="2657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configs still relevant in budget gaming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385763" y="6367463"/>
            <a:ext cx="11420475" cy="428625"/>
          </a:xfrm>
          <a:custGeom>
            <a:avLst/>
            <a:gdLst/>
            <a:ahLst/>
            <a:cxnLst/>
            <a:rect l="l" t="t" r="r" b="b"/>
            <a:pathLst>
              <a:path w="11420475" h="428625">
                <a:moveTo>
                  <a:pt x="76201" y="0"/>
                </a:moveTo>
                <a:lnTo>
                  <a:pt x="11344274" y="0"/>
                </a:lnTo>
                <a:cubicBezTo>
                  <a:pt x="11386359" y="0"/>
                  <a:pt x="11420475" y="34116"/>
                  <a:pt x="11420475" y="76201"/>
                </a:cubicBezTo>
                <a:lnTo>
                  <a:pt x="11420475" y="352424"/>
                </a:lnTo>
                <a:cubicBezTo>
                  <a:pt x="11420475" y="394509"/>
                  <a:pt x="11386359" y="428625"/>
                  <a:pt x="113442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0544" y="64865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96775"/>
                </a:lnTo>
                <a:cubicBezTo>
                  <a:pt x="6734" y="92050"/>
                  <a:pt x="14957" y="89297"/>
                  <a:pt x="23812" y="89297"/>
                </a:cubicBezTo>
                <a:lnTo>
                  <a:pt x="142875" y="89297"/>
                </a:lnTo>
                <a:cubicBezTo>
                  <a:pt x="151730" y="89297"/>
                  <a:pt x="159953" y="92050"/>
                  <a:pt x="166688" y="96775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66688" y="130969"/>
                </a:move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lose/>
                <a:moveTo>
                  <a:pt x="83344" y="142875"/>
                </a:moveTo>
                <a:cubicBezTo>
                  <a:pt x="83344" y="136304"/>
                  <a:pt x="88679" y="130969"/>
                  <a:pt x="95250" y="130969"/>
                </a:cubicBezTo>
                <a:cubicBezTo>
                  <a:pt x="101821" y="130969"/>
                  <a:pt x="107156" y="136304"/>
                  <a:pt x="107156" y="142875"/>
                </a:cubicBezTo>
                <a:cubicBezTo>
                  <a:pt x="107156" y="149446"/>
                  <a:pt x="101821" y="154781"/>
                  <a:pt x="95250" y="154781"/>
                </a:cubicBezTo>
                <a:cubicBezTo>
                  <a:pt x="88679" y="154781"/>
                  <a:pt x="83344" y="149446"/>
                  <a:pt x="83344" y="142875"/>
                </a:cubicBezTo>
                <a:close/>
                <a:moveTo>
                  <a:pt x="130969" y="130969"/>
                </a:moveTo>
                <a:cubicBezTo>
                  <a:pt x="137540" y="130969"/>
                  <a:pt x="142875" y="136304"/>
                  <a:pt x="142875" y="142875"/>
                </a:cubicBezTo>
                <a:cubicBezTo>
                  <a:pt x="142875" y="149446"/>
                  <a:pt x="137540" y="154781"/>
                  <a:pt x="130969" y="154781"/>
                </a:cubicBezTo>
                <a:cubicBezTo>
                  <a:pt x="124398" y="154781"/>
                  <a:pt x="119063" y="149446"/>
                  <a:pt x="119063" y="142875"/>
                </a:cubicBezTo>
                <a:cubicBezTo>
                  <a:pt x="119063" y="136304"/>
                  <a:pt x="124398" y="130969"/>
                  <a:pt x="130969" y="130969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1" name="Text 48"/>
          <p:cNvSpPr/>
          <p:nvPr/>
        </p:nvSpPr>
        <p:spPr>
          <a:xfrm>
            <a:off x="857250" y="6486525"/>
            <a:ext cx="1036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Insight: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NVMe SSDs command ₹8,000-15,000 premium over SATA. Price correlation (r=0.45) with storage capacity. Gaming laptops increasingly adopting 1TB as standard.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304" y="331304"/>
            <a:ext cx="331304" cy="331304"/>
          </a:xfrm>
          <a:custGeom>
            <a:avLst/>
            <a:gdLst/>
            <a:ahLst/>
            <a:cxnLst/>
            <a:rect l="l" t="t" r="r" b="b"/>
            <a:pathLst>
              <a:path w="331304" h="331304">
                <a:moveTo>
                  <a:pt x="66261" y="0"/>
                </a:moveTo>
                <a:lnTo>
                  <a:pt x="265043" y="0"/>
                </a:lnTo>
                <a:cubicBezTo>
                  <a:pt x="301614" y="0"/>
                  <a:pt x="331304" y="29691"/>
                  <a:pt x="331304" y="66261"/>
                </a:cubicBezTo>
                <a:lnTo>
                  <a:pt x="331304" y="265043"/>
                </a:lnTo>
                <a:cubicBezTo>
                  <a:pt x="331304" y="301638"/>
                  <a:pt x="301638" y="331304"/>
                  <a:pt x="265043" y="331304"/>
                </a:cubicBezTo>
                <a:lnTo>
                  <a:pt x="66261" y="331304"/>
                </a:lnTo>
                <a:cubicBezTo>
                  <a:pt x="29666" y="331304"/>
                  <a:pt x="0" y="301638"/>
                  <a:pt x="0" y="265043"/>
                </a:cubicBezTo>
                <a:lnTo>
                  <a:pt x="0" y="66261"/>
                </a:lnTo>
                <a:cubicBezTo>
                  <a:pt x="0" y="29666"/>
                  <a:pt x="29666" y="0"/>
                  <a:pt x="6626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09083" y="381000"/>
            <a:ext cx="248478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6141" y="360293"/>
            <a:ext cx="1143000" cy="273326"/>
          </a:xfrm>
          <a:custGeom>
            <a:avLst/>
            <a:gdLst/>
            <a:ahLst/>
            <a:cxnLst/>
            <a:rect l="l" t="t" r="r" b="b"/>
            <a:pathLst>
              <a:path w="1143000" h="273326">
                <a:moveTo>
                  <a:pt x="136663" y="0"/>
                </a:moveTo>
                <a:lnTo>
                  <a:pt x="1006337" y="0"/>
                </a:lnTo>
                <a:cubicBezTo>
                  <a:pt x="1081763" y="0"/>
                  <a:pt x="1143000" y="61237"/>
                  <a:pt x="1143000" y="136663"/>
                </a:cubicBezTo>
                <a:lnTo>
                  <a:pt x="1143000" y="136663"/>
                </a:lnTo>
                <a:cubicBezTo>
                  <a:pt x="1143000" y="212089"/>
                  <a:pt x="1081763" y="273326"/>
                  <a:pt x="1006337" y="273326"/>
                </a:cubicBezTo>
                <a:lnTo>
                  <a:pt x="136663" y="273326"/>
                </a:lnTo>
                <a:cubicBezTo>
                  <a:pt x="61237" y="273326"/>
                  <a:pt x="0" y="212089"/>
                  <a:pt x="0" y="136663"/>
                </a:cubicBezTo>
                <a:lnTo>
                  <a:pt x="0" y="136663"/>
                </a:lnTo>
                <a:cubicBezTo>
                  <a:pt x="0" y="61237"/>
                  <a:pt x="61237" y="0"/>
                  <a:pt x="136663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9674" y="455543"/>
            <a:ext cx="984983" cy="107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b="1" kern="0" spc="39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1304" y="728870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Battery Performance: Endurance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5446" y="1229967"/>
            <a:ext cx="5673587" cy="2990022"/>
          </a:xfrm>
          <a:custGeom>
            <a:avLst/>
            <a:gdLst/>
            <a:ahLst/>
            <a:cxnLst/>
            <a:rect l="l" t="t" r="r" b="b"/>
            <a:pathLst>
              <a:path w="5673587" h="2990022">
                <a:moveTo>
                  <a:pt x="99388" y="0"/>
                </a:moveTo>
                <a:lnTo>
                  <a:pt x="5574199" y="0"/>
                </a:lnTo>
                <a:cubicBezTo>
                  <a:pt x="5629089" y="0"/>
                  <a:pt x="5673587" y="44498"/>
                  <a:pt x="5673587" y="99388"/>
                </a:cubicBezTo>
                <a:lnTo>
                  <a:pt x="5673587" y="2890633"/>
                </a:lnTo>
                <a:cubicBezTo>
                  <a:pt x="5673587" y="2945524"/>
                  <a:pt x="5629089" y="2990022"/>
                  <a:pt x="5574199" y="2990022"/>
                </a:cubicBezTo>
                <a:lnTo>
                  <a:pt x="99388" y="2990022"/>
                </a:lnTo>
                <a:cubicBezTo>
                  <a:pt x="44498" y="2990022"/>
                  <a:pt x="0" y="2945524"/>
                  <a:pt x="0" y="2890633"/>
                </a:cubicBezTo>
                <a:lnTo>
                  <a:pt x="0" y="99388"/>
                </a:lnTo>
                <a:cubicBezTo>
                  <a:pt x="0" y="44534"/>
                  <a:pt x="44534" y="0"/>
                  <a:pt x="9938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5239" y="1399761"/>
            <a:ext cx="5408543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Battery Life Distribution by Category</a:t>
            </a:r>
            <a:endParaRPr lang="en-US" sz="1600" dirty="0"/>
          </a:p>
        </p:txBody>
      </p:sp>
      <p:pic>
        <p:nvPicPr>
          <p:cNvPr id="9" name="Image 0" descr="https://kimi-img.moonshot.cn/pub/slides/26-02-02-19:33:43-d608n5o64o3im7r137o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5239" y="1731065"/>
            <a:ext cx="4538870" cy="231913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35446" y="4360793"/>
            <a:ext cx="5673587" cy="1167848"/>
          </a:xfrm>
          <a:custGeom>
            <a:avLst/>
            <a:gdLst/>
            <a:ahLst/>
            <a:cxnLst/>
            <a:rect l="l" t="t" r="r" b="b"/>
            <a:pathLst>
              <a:path w="5673587" h="1167848">
                <a:moveTo>
                  <a:pt x="99396" y="0"/>
                </a:moveTo>
                <a:lnTo>
                  <a:pt x="5574191" y="0"/>
                </a:lnTo>
                <a:cubicBezTo>
                  <a:pt x="5629086" y="0"/>
                  <a:pt x="5673587" y="44501"/>
                  <a:pt x="5673587" y="99396"/>
                </a:cubicBezTo>
                <a:lnTo>
                  <a:pt x="5673587" y="1068452"/>
                </a:lnTo>
                <a:cubicBezTo>
                  <a:pt x="5673587" y="1123347"/>
                  <a:pt x="5629086" y="1167848"/>
                  <a:pt x="5574191" y="1167848"/>
                </a:cubicBezTo>
                <a:lnTo>
                  <a:pt x="99396" y="1167848"/>
                </a:lnTo>
                <a:cubicBezTo>
                  <a:pt x="44501" y="1167848"/>
                  <a:pt x="0" y="1123347"/>
                  <a:pt x="0" y="1068452"/>
                </a:cubicBezTo>
                <a:lnTo>
                  <a:pt x="0" y="99396"/>
                </a:lnTo>
                <a:cubicBezTo>
                  <a:pt x="0" y="44538"/>
                  <a:pt x="44538" y="0"/>
                  <a:pt x="993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109" y="4497457"/>
            <a:ext cx="546652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Summary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2109" y="4795630"/>
            <a:ext cx="1275522" cy="596348"/>
          </a:xfrm>
          <a:custGeom>
            <a:avLst/>
            <a:gdLst/>
            <a:ahLst/>
            <a:cxnLst/>
            <a:rect l="l" t="t" r="r" b="b"/>
            <a:pathLst>
              <a:path w="1275522" h="596348">
                <a:moveTo>
                  <a:pt x="66260" y="0"/>
                </a:moveTo>
                <a:lnTo>
                  <a:pt x="1209262" y="0"/>
                </a:lnTo>
                <a:cubicBezTo>
                  <a:pt x="1245856" y="0"/>
                  <a:pt x="1275522" y="29666"/>
                  <a:pt x="1275522" y="66260"/>
                </a:cubicBezTo>
                <a:lnTo>
                  <a:pt x="1275522" y="530088"/>
                </a:lnTo>
                <a:cubicBezTo>
                  <a:pt x="1275522" y="566682"/>
                  <a:pt x="1245856" y="596348"/>
                  <a:pt x="1209262" y="596348"/>
                </a:cubicBezTo>
                <a:lnTo>
                  <a:pt x="66260" y="596348"/>
                </a:lnTo>
                <a:cubicBezTo>
                  <a:pt x="29666" y="596348"/>
                  <a:pt x="0" y="566682"/>
                  <a:pt x="0" y="530088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21804" y="4895022"/>
            <a:ext cx="1176130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5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8.15h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6652" y="5160065"/>
            <a:ext cx="1126435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3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47022" y="4795630"/>
            <a:ext cx="1275522" cy="596348"/>
          </a:xfrm>
          <a:custGeom>
            <a:avLst/>
            <a:gdLst/>
            <a:ahLst/>
            <a:cxnLst/>
            <a:rect l="l" t="t" r="r" b="b"/>
            <a:pathLst>
              <a:path w="1275522" h="596348">
                <a:moveTo>
                  <a:pt x="66260" y="0"/>
                </a:moveTo>
                <a:lnTo>
                  <a:pt x="1209262" y="0"/>
                </a:lnTo>
                <a:cubicBezTo>
                  <a:pt x="1245856" y="0"/>
                  <a:pt x="1275522" y="29666"/>
                  <a:pt x="1275522" y="66260"/>
                </a:cubicBezTo>
                <a:lnTo>
                  <a:pt x="1275522" y="530088"/>
                </a:lnTo>
                <a:cubicBezTo>
                  <a:pt x="1275522" y="566682"/>
                  <a:pt x="1245856" y="596348"/>
                  <a:pt x="1209262" y="596348"/>
                </a:cubicBezTo>
                <a:lnTo>
                  <a:pt x="66260" y="596348"/>
                </a:lnTo>
                <a:cubicBezTo>
                  <a:pt x="29666" y="596348"/>
                  <a:pt x="0" y="566682"/>
                  <a:pt x="0" y="530088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896717" y="4895022"/>
            <a:ext cx="1176130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5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8.0h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921565" y="5160065"/>
            <a:ext cx="1126435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3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21935" y="4795630"/>
            <a:ext cx="1275522" cy="596348"/>
          </a:xfrm>
          <a:custGeom>
            <a:avLst/>
            <a:gdLst/>
            <a:ahLst/>
            <a:cxnLst/>
            <a:rect l="l" t="t" r="r" b="b"/>
            <a:pathLst>
              <a:path w="1275522" h="596348">
                <a:moveTo>
                  <a:pt x="66260" y="0"/>
                </a:moveTo>
                <a:lnTo>
                  <a:pt x="1209262" y="0"/>
                </a:lnTo>
                <a:cubicBezTo>
                  <a:pt x="1245856" y="0"/>
                  <a:pt x="1275522" y="29666"/>
                  <a:pt x="1275522" y="66260"/>
                </a:cubicBezTo>
                <a:lnTo>
                  <a:pt x="1275522" y="530088"/>
                </a:lnTo>
                <a:cubicBezTo>
                  <a:pt x="1275522" y="566682"/>
                  <a:pt x="1245856" y="596348"/>
                  <a:pt x="1209262" y="596348"/>
                </a:cubicBezTo>
                <a:lnTo>
                  <a:pt x="66260" y="596348"/>
                </a:lnTo>
                <a:cubicBezTo>
                  <a:pt x="29666" y="596348"/>
                  <a:pt x="0" y="566682"/>
                  <a:pt x="0" y="530088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271630" y="4895022"/>
            <a:ext cx="1176130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5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2.8h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96478" y="5160065"/>
            <a:ext cx="1126435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3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 Dev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96848" y="4795630"/>
            <a:ext cx="1275522" cy="596348"/>
          </a:xfrm>
          <a:custGeom>
            <a:avLst/>
            <a:gdLst/>
            <a:ahLst/>
            <a:cxnLst/>
            <a:rect l="l" t="t" r="r" b="b"/>
            <a:pathLst>
              <a:path w="1275522" h="596348">
                <a:moveTo>
                  <a:pt x="66260" y="0"/>
                </a:moveTo>
                <a:lnTo>
                  <a:pt x="1209262" y="0"/>
                </a:lnTo>
                <a:cubicBezTo>
                  <a:pt x="1245856" y="0"/>
                  <a:pt x="1275522" y="29666"/>
                  <a:pt x="1275522" y="66260"/>
                </a:cubicBezTo>
                <a:lnTo>
                  <a:pt x="1275522" y="530088"/>
                </a:lnTo>
                <a:cubicBezTo>
                  <a:pt x="1275522" y="566682"/>
                  <a:pt x="1245856" y="596348"/>
                  <a:pt x="1209262" y="596348"/>
                </a:cubicBezTo>
                <a:lnTo>
                  <a:pt x="66260" y="596348"/>
                </a:lnTo>
                <a:cubicBezTo>
                  <a:pt x="29666" y="596348"/>
                  <a:pt x="0" y="566682"/>
                  <a:pt x="0" y="530088"/>
                </a:cubicBezTo>
                <a:lnTo>
                  <a:pt x="0" y="66260"/>
                </a:lnTo>
                <a:cubicBezTo>
                  <a:pt x="0" y="29666"/>
                  <a:pt x="29666" y="0"/>
                  <a:pt x="6626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646543" y="4895022"/>
            <a:ext cx="1176130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65" b="1" dirty="0">
                <a:solidFill>
                  <a:srgbClr val="E0E2E5">
                    <a:alpha val="7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18h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71391" y="5160065"/>
            <a:ext cx="1126435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3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82967" y="1229967"/>
            <a:ext cx="5673587" cy="4977848"/>
          </a:xfrm>
          <a:custGeom>
            <a:avLst/>
            <a:gdLst/>
            <a:ahLst/>
            <a:cxnLst/>
            <a:rect l="l" t="t" r="r" b="b"/>
            <a:pathLst>
              <a:path w="5673587" h="4977848">
                <a:moveTo>
                  <a:pt x="99408" y="0"/>
                </a:moveTo>
                <a:lnTo>
                  <a:pt x="5574179" y="0"/>
                </a:lnTo>
                <a:cubicBezTo>
                  <a:pt x="5629081" y="0"/>
                  <a:pt x="5673587" y="44506"/>
                  <a:pt x="5673587" y="99408"/>
                </a:cubicBezTo>
                <a:lnTo>
                  <a:pt x="5673587" y="4878440"/>
                </a:lnTo>
                <a:cubicBezTo>
                  <a:pt x="5673587" y="4933342"/>
                  <a:pt x="5629081" y="4977848"/>
                  <a:pt x="5574179" y="4977848"/>
                </a:cubicBezTo>
                <a:lnTo>
                  <a:pt x="99408" y="4977848"/>
                </a:lnTo>
                <a:cubicBezTo>
                  <a:pt x="44506" y="4977848"/>
                  <a:pt x="0" y="4933342"/>
                  <a:pt x="0" y="4878440"/>
                </a:cubicBezTo>
                <a:lnTo>
                  <a:pt x="0" y="99408"/>
                </a:lnTo>
                <a:cubicBezTo>
                  <a:pt x="0" y="44543"/>
                  <a:pt x="44543" y="0"/>
                  <a:pt x="9940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2761" y="1399761"/>
            <a:ext cx="5408543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Battery Performance by Category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69326" y="1764196"/>
            <a:ext cx="5317435" cy="993913"/>
          </a:xfrm>
          <a:custGeom>
            <a:avLst/>
            <a:gdLst/>
            <a:ahLst/>
            <a:cxnLst/>
            <a:rect l="l" t="t" r="r" b="b"/>
            <a:pathLst>
              <a:path w="5317435" h="993913">
                <a:moveTo>
                  <a:pt x="33130" y="0"/>
                </a:moveTo>
                <a:lnTo>
                  <a:pt x="5251171" y="0"/>
                </a:lnTo>
                <a:cubicBezTo>
                  <a:pt x="5287767" y="0"/>
                  <a:pt x="5317435" y="29667"/>
                  <a:pt x="5317435" y="66264"/>
                </a:cubicBezTo>
                <a:lnTo>
                  <a:pt x="5317435" y="927649"/>
                </a:lnTo>
                <a:cubicBezTo>
                  <a:pt x="5317435" y="964246"/>
                  <a:pt x="5287767" y="993913"/>
                  <a:pt x="5251171" y="993913"/>
                </a:cubicBezTo>
                <a:lnTo>
                  <a:pt x="33130" y="993913"/>
                </a:lnTo>
                <a:cubicBezTo>
                  <a:pt x="14833" y="993913"/>
                  <a:pt x="0" y="979080"/>
                  <a:pt x="0" y="9607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6369326" y="1764196"/>
            <a:ext cx="33130" cy="993913"/>
          </a:xfrm>
          <a:custGeom>
            <a:avLst/>
            <a:gdLst/>
            <a:ahLst/>
            <a:cxnLst/>
            <a:rect l="l" t="t" r="r" b="b"/>
            <a:pathLst>
              <a:path w="33130" h="993913">
                <a:moveTo>
                  <a:pt x="33130" y="0"/>
                </a:moveTo>
                <a:lnTo>
                  <a:pt x="33130" y="0"/>
                </a:lnTo>
                <a:lnTo>
                  <a:pt x="33130" y="993913"/>
                </a:lnTo>
                <a:lnTo>
                  <a:pt x="33130" y="993913"/>
                </a:lnTo>
                <a:cubicBezTo>
                  <a:pt x="14833" y="993913"/>
                  <a:pt x="0" y="979080"/>
                  <a:pt x="0" y="9607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28" name="Text 25"/>
          <p:cNvSpPr/>
          <p:nvPr/>
        </p:nvSpPr>
        <p:spPr>
          <a:xfrm>
            <a:off x="6518413" y="1913283"/>
            <a:ext cx="687457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Ultrabooks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212452" y="1896717"/>
            <a:ext cx="41413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12.5h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18413" y="2194891"/>
            <a:ext cx="509380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thin &amp; light laptops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518413" y="2426804"/>
            <a:ext cx="505239" cy="198783"/>
          </a:xfrm>
          <a:custGeom>
            <a:avLst/>
            <a:gdLst/>
            <a:ahLst/>
            <a:cxnLst/>
            <a:rect l="l" t="t" r="r" b="b"/>
            <a:pathLst>
              <a:path w="505239" h="198783">
                <a:moveTo>
                  <a:pt x="33131" y="0"/>
                </a:moveTo>
                <a:lnTo>
                  <a:pt x="472108" y="0"/>
                </a:lnTo>
                <a:cubicBezTo>
                  <a:pt x="490406" y="0"/>
                  <a:pt x="505239" y="14833"/>
                  <a:pt x="505239" y="33131"/>
                </a:cubicBezTo>
                <a:lnTo>
                  <a:pt x="505239" y="165652"/>
                </a:lnTo>
                <a:cubicBezTo>
                  <a:pt x="505239" y="183949"/>
                  <a:pt x="490406" y="198783"/>
                  <a:pt x="472108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518413" y="2426804"/>
            <a:ext cx="554935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 Evo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088489" y="2426804"/>
            <a:ext cx="496957" cy="198783"/>
          </a:xfrm>
          <a:custGeom>
            <a:avLst/>
            <a:gdLst/>
            <a:ahLst/>
            <a:cxnLst/>
            <a:rect l="l" t="t" r="r" b="b"/>
            <a:pathLst>
              <a:path w="496957" h="198783">
                <a:moveTo>
                  <a:pt x="33131" y="0"/>
                </a:moveTo>
                <a:lnTo>
                  <a:pt x="463825" y="0"/>
                </a:lnTo>
                <a:cubicBezTo>
                  <a:pt x="482123" y="0"/>
                  <a:pt x="496957" y="14833"/>
                  <a:pt x="496957" y="33131"/>
                </a:cubicBezTo>
                <a:lnTo>
                  <a:pt x="496957" y="165652"/>
                </a:lnTo>
                <a:cubicBezTo>
                  <a:pt x="496957" y="183949"/>
                  <a:pt x="482123" y="198783"/>
                  <a:pt x="463825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088489" y="2426804"/>
            <a:ext cx="546652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Apple M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69326" y="2857500"/>
            <a:ext cx="5317435" cy="993913"/>
          </a:xfrm>
          <a:custGeom>
            <a:avLst/>
            <a:gdLst/>
            <a:ahLst/>
            <a:cxnLst/>
            <a:rect l="l" t="t" r="r" b="b"/>
            <a:pathLst>
              <a:path w="5317435" h="993913">
                <a:moveTo>
                  <a:pt x="33130" y="0"/>
                </a:moveTo>
                <a:lnTo>
                  <a:pt x="5251171" y="0"/>
                </a:lnTo>
                <a:cubicBezTo>
                  <a:pt x="5287767" y="0"/>
                  <a:pt x="5317435" y="29667"/>
                  <a:pt x="5317435" y="66264"/>
                </a:cubicBezTo>
                <a:lnTo>
                  <a:pt x="5317435" y="927649"/>
                </a:lnTo>
                <a:cubicBezTo>
                  <a:pt x="5317435" y="964246"/>
                  <a:pt x="5287767" y="993913"/>
                  <a:pt x="5251171" y="993913"/>
                </a:cubicBezTo>
                <a:lnTo>
                  <a:pt x="33130" y="993913"/>
                </a:lnTo>
                <a:cubicBezTo>
                  <a:pt x="14833" y="993913"/>
                  <a:pt x="0" y="979080"/>
                  <a:pt x="0" y="9607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3"/>
          <p:cNvSpPr/>
          <p:nvPr/>
        </p:nvSpPr>
        <p:spPr>
          <a:xfrm>
            <a:off x="6369326" y="2857500"/>
            <a:ext cx="33130" cy="993913"/>
          </a:xfrm>
          <a:custGeom>
            <a:avLst/>
            <a:gdLst/>
            <a:ahLst/>
            <a:cxnLst/>
            <a:rect l="l" t="t" r="r" b="b"/>
            <a:pathLst>
              <a:path w="33130" h="993913">
                <a:moveTo>
                  <a:pt x="33130" y="0"/>
                </a:moveTo>
                <a:lnTo>
                  <a:pt x="33130" y="0"/>
                </a:lnTo>
                <a:lnTo>
                  <a:pt x="33130" y="993913"/>
                </a:lnTo>
                <a:lnTo>
                  <a:pt x="33130" y="993913"/>
                </a:lnTo>
                <a:cubicBezTo>
                  <a:pt x="14833" y="993913"/>
                  <a:pt x="0" y="979080"/>
                  <a:pt x="0" y="9607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7" name="Text 34"/>
          <p:cNvSpPr/>
          <p:nvPr/>
        </p:nvSpPr>
        <p:spPr>
          <a:xfrm>
            <a:off x="6518413" y="3006587"/>
            <a:ext cx="105189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Laptops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1203264" y="2990022"/>
            <a:ext cx="422413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10.2h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518413" y="3288196"/>
            <a:ext cx="509380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Enterprise-focused devices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518413" y="3520109"/>
            <a:ext cx="521804" cy="198783"/>
          </a:xfrm>
          <a:custGeom>
            <a:avLst/>
            <a:gdLst/>
            <a:ahLst/>
            <a:cxnLst/>
            <a:rect l="l" t="t" r="r" b="b"/>
            <a:pathLst>
              <a:path w="521804" h="198783">
                <a:moveTo>
                  <a:pt x="33131" y="0"/>
                </a:moveTo>
                <a:lnTo>
                  <a:pt x="488673" y="0"/>
                </a:lnTo>
                <a:cubicBezTo>
                  <a:pt x="506971" y="0"/>
                  <a:pt x="521804" y="14833"/>
                  <a:pt x="521804" y="33131"/>
                </a:cubicBezTo>
                <a:lnTo>
                  <a:pt x="521804" y="165652"/>
                </a:lnTo>
                <a:cubicBezTo>
                  <a:pt x="521804" y="183949"/>
                  <a:pt x="506971" y="198783"/>
                  <a:pt x="488673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518413" y="3520109"/>
            <a:ext cx="57150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ThinkPad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107384" y="3520109"/>
            <a:ext cx="530087" cy="198783"/>
          </a:xfrm>
          <a:custGeom>
            <a:avLst/>
            <a:gdLst/>
            <a:ahLst/>
            <a:cxnLst/>
            <a:rect l="l" t="t" r="r" b="b"/>
            <a:pathLst>
              <a:path w="530087" h="198783">
                <a:moveTo>
                  <a:pt x="33131" y="0"/>
                </a:moveTo>
                <a:lnTo>
                  <a:pt x="496956" y="0"/>
                </a:lnTo>
                <a:cubicBezTo>
                  <a:pt x="515254" y="0"/>
                  <a:pt x="530087" y="14833"/>
                  <a:pt x="530087" y="33131"/>
                </a:cubicBezTo>
                <a:lnTo>
                  <a:pt x="530087" y="165652"/>
                </a:lnTo>
                <a:cubicBezTo>
                  <a:pt x="530087" y="183949"/>
                  <a:pt x="515254" y="198783"/>
                  <a:pt x="496956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7107384" y="3520109"/>
            <a:ext cx="579783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EliteBook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69326" y="3950804"/>
            <a:ext cx="5317435" cy="993913"/>
          </a:xfrm>
          <a:custGeom>
            <a:avLst/>
            <a:gdLst/>
            <a:ahLst/>
            <a:cxnLst/>
            <a:rect l="l" t="t" r="r" b="b"/>
            <a:pathLst>
              <a:path w="5317435" h="993913">
                <a:moveTo>
                  <a:pt x="33130" y="0"/>
                </a:moveTo>
                <a:lnTo>
                  <a:pt x="5251171" y="0"/>
                </a:lnTo>
                <a:cubicBezTo>
                  <a:pt x="5287767" y="0"/>
                  <a:pt x="5317435" y="29667"/>
                  <a:pt x="5317435" y="66264"/>
                </a:cubicBezTo>
                <a:lnTo>
                  <a:pt x="5317435" y="927649"/>
                </a:lnTo>
                <a:cubicBezTo>
                  <a:pt x="5317435" y="964246"/>
                  <a:pt x="5287767" y="993913"/>
                  <a:pt x="5251171" y="993913"/>
                </a:cubicBezTo>
                <a:lnTo>
                  <a:pt x="33130" y="993913"/>
                </a:lnTo>
                <a:cubicBezTo>
                  <a:pt x="14833" y="993913"/>
                  <a:pt x="0" y="979080"/>
                  <a:pt x="0" y="9607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B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5" name="Shape 42"/>
          <p:cNvSpPr/>
          <p:nvPr/>
        </p:nvSpPr>
        <p:spPr>
          <a:xfrm>
            <a:off x="6369326" y="3950804"/>
            <a:ext cx="33130" cy="993913"/>
          </a:xfrm>
          <a:custGeom>
            <a:avLst/>
            <a:gdLst/>
            <a:ahLst/>
            <a:cxnLst/>
            <a:rect l="l" t="t" r="r" b="b"/>
            <a:pathLst>
              <a:path w="33130" h="993913">
                <a:moveTo>
                  <a:pt x="33130" y="0"/>
                </a:moveTo>
                <a:lnTo>
                  <a:pt x="33130" y="0"/>
                </a:lnTo>
                <a:lnTo>
                  <a:pt x="33130" y="993913"/>
                </a:lnTo>
                <a:lnTo>
                  <a:pt x="33130" y="993913"/>
                </a:lnTo>
                <a:cubicBezTo>
                  <a:pt x="14833" y="993913"/>
                  <a:pt x="0" y="979080"/>
                  <a:pt x="0" y="9607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6" name="Text 43"/>
          <p:cNvSpPr/>
          <p:nvPr/>
        </p:nvSpPr>
        <p:spPr>
          <a:xfrm>
            <a:off x="6518413" y="4099891"/>
            <a:ext cx="745435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Mainstream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268877" y="4083326"/>
            <a:ext cx="356152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7.8h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518413" y="4381500"/>
            <a:ext cx="509380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General-purpose laptops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518413" y="4613413"/>
            <a:ext cx="480391" cy="198783"/>
          </a:xfrm>
          <a:custGeom>
            <a:avLst/>
            <a:gdLst/>
            <a:ahLst/>
            <a:cxnLst/>
            <a:rect l="l" t="t" r="r" b="b"/>
            <a:pathLst>
              <a:path w="480391" h="198783">
                <a:moveTo>
                  <a:pt x="33131" y="0"/>
                </a:moveTo>
                <a:lnTo>
                  <a:pt x="447260" y="0"/>
                </a:lnTo>
                <a:cubicBezTo>
                  <a:pt x="465558" y="0"/>
                  <a:pt x="480391" y="14833"/>
                  <a:pt x="480391" y="33131"/>
                </a:cubicBezTo>
                <a:lnTo>
                  <a:pt x="480391" y="165652"/>
                </a:lnTo>
                <a:cubicBezTo>
                  <a:pt x="480391" y="183949"/>
                  <a:pt x="465558" y="198783"/>
                  <a:pt x="447260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6518413" y="4613413"/>
            <a:ext cx="530087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IdeaPad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061700" y="4613413"/>
            <a:ext cx="463826" cy="198783"/>
          </a:xfrm>
          <a:custGeom>
            <a:avLst/>
            <a:gdLst/>
            <a:ahLst/>
            <a:cxnLst/>
            <a:rect l="l" t="t" r="r" b="b"/>
            <a:pathLst>
              <a:path w="463826" h="198783">
                <a:moveTo>
                  <a:pt x="33131" y="0"/>
                </a:moveTo>
                <a:lnTo>
                  <a:pt x="430695" y="0"/>
                </a:lnTo>
                <a:cubicBezTo>
                  <a:pt x="448993" y="0"/>
                  <a:pt x="463826" y="14833"/>
                  <a:pt x="463826" y="33131"/>
                </a:cubicBezTo>
                <a:lnTo>
                  <a:pt x="463826" y="165652"/>
                </a:lnTo>
                <a:cubicBezTo>
                  <a:pt x="463826" y="183949"/>
                  <a:pt x="448993" y="198783"/>
                  <a:pt x="430695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7061700" y="4613413"/>
            <a:ext cx="513522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Pavilion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69326" y="5044109"/>
            <a:ext cx="5317435" cy="993913"/>
          </a:xfrm>
          <a:custGeom>
            <a:avLst/>
            <a:gdLst/>
            <a:ahLst/>
            <a:cxnLst/>
            <a:rect l="l" t="t" r="r" b="b"/>
            <a:pathLst>
              <a:path w="5317435" h="993913">
                <a:moveTo>
                  <a:pt x="33130" y="0"/>
                </a:moveTo>
                <a:lnTo>
                  <a:pt x="5251171" y="0"/>
                </a:lnTo>
                <a:cubicBezTo>
                  <a:pt x="5287767" y="0"/>
                  <a:pt x="5317435" y="29667"/>
                  <a:pt x="5317435" y="66264"/>
                </a:cubicBezTo>
                <a:lnTo>
                  <a:pt x="5317435" y="927649"/>
                </a:lnTo>
                <a:cubicBezTo>
                  <a:pt x="5317435" y="964246"/>
                  <a:pt x="5287767" y="993913"/>
                  <a:pt x="5251171" y="993913"/>
                </a:cubicBezTo>
                <a:lnTo>
                  <a:pt x="33130" y="993913"/>
                </a:lnTo>
                <a:cubicBezTo>
                  <a:pt x="14833" y="993913"/>
                  <a:pt x="0" y="979080"/>
                  <a:pt x="0" y="9607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4" name="Shape 51"/>
          <p:cNvSpPr/>
          <p:nvPr/>
        </p:nvSpPr>
        <p:spPr>
          <a:xfrm>
            <a:off x="6369326" y="5044109"/>
            <a:ext cx="33130" cy="993913"/>
          </a:xfrm>
          <a:custGeom>
            <a:avLst/>
            <a:gdLst/>
            <a:ahLst/>
            <a:cxnLst/>
            <a:rect l="l" t="t" r="r" b="b"/>
            <a:pathLst>
              <a:path w="33130" h="993913">
                <a:moveTo>
                  <a:pt x="33130" y="0"/>
                </a:moveTo>
                <a:lnTo>
                  <a:pt x="33130" y="0"/>
                </a:lnTo>
                <a:lnTo>
                  <a:pt x="33130" y="993913"/>
                </a:lnTo>
                <a:lnTo>
                  <a:pt x="33130" y="993913"/>
                </a:lnTo>
                <a:cubicBezTo>
                  <a:pt x="14833" y="993913"/>
                  <a:pt x="0" y="979080"/>
                  <a:pt x="0" y="960783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5" name="Text 52"/>
          <p:cNvSpPr/>
          <p:nvPr/>
        </p:nvSpPr>
        <p:spPr>
          <a:xfrm>
            <a:off x="6518413" y="5193196"/>
            <a:ext cx="993913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Gaming Laptops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1265513" y="5176630"/>
            <a:ext cx="36443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6.2h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518413" y="5474804"/>
            <a:ext cx="5093804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gaming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518413" y="5706717"/>
            <a:ext cx="331304" cy="198783"/>
          </a:xfrm>
          <a:custGeom>
            <a:avLst/>
            <a:gdLst/>
            <a:ahLst/>
            <a:cxnLst/>
            <a:rect l="l" t="t" r="r" b="b"/>
            <a:pathLst>
              <a:path w="331304" h="198783">
                <a:moveTo>
                  <a:pt x="33131" y="0"/>
                </a:moveTo>
                <a:lnTo>
                  <a:pt x="298173" y="0"/>
                </a:lnTo>
                <a:cubicBezTo>
                  <a:pt x="316471" y="0"/>
                  <a:pt x="331304" y="14833"/>
                  <a:pt x="331304" y="33131"/>
                </a:cubicBezTo>
                <a:lnTo>
                  <a:pt x="331304" y="165652"/>
                </a:lnTo>
                <a:cubicBezTo>
                  <a:pt x="331304" y="183949"/>
                  <a:pt x="316471" y="198783"/>
                  <a:pt x="298173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6518413" y="5706717"/>
            <a:ext cx="381000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ROG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918308" y="5706717"/>
            <a:ext cx="414130" cy="198783"/>
          </a:xfrm>
          <a:custGeom>
            <a:avLst/>
            <a:gdLst/>
            <a:ahLst/>
            <a:cxnLst/>
            <a:rect l="l" t="t" r="r" b="b"/>
            <a:pathLst>
              <a:path w="414130" h="198783">
                <a:moveTo>
                  <a:pt x="33131" y="0"/>
                </a:moveTo>
                <a:lnTo>
                  <a:pt x="380999" y="0"/>
                </a:lnTo>
                <a:cubicBezTo>
                  <a:pt x="399297" y="0"/>
                  <a:pt x="414130" y="14833"/>
                  <a:pt x="414130" y="33131"/>
                </a:cubicBezTo>
                <a:lnTo>
                  <a:pt x="414130" y="165652"/>
                </a:lnTo>
                <a:cubicBezTo>
                  <a:pt x="414130" y="183949"/>
                  <a:pt x="399297" y="198783"/>
                  <a:pt x="380999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6918308" y="5706717"/>
            <a:ext cx="463826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Legion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7399734" y="5706717"/>
            <a:ext cx="414130" cy="198783"/>
          </a:xfrm>
          <a:custGeom>
            <a:avLst/>
            <a:gdLst/>
            <a:ahLst/>
            <a:cxnLst/>
            <a:rect l="l" t="t" r="r" b="b"/>
            <a:pathLst>
              <a:path w="414130" h="198783">
                <a:moveTo>
                  <a:pt x="33131" y="0"/>
                </a:moveTo>
                <a:lnTo>
                  <a:pt x="380999" y="0"/>
                </a:lnTo>
                <a:cubicBezTo>
                  <a:pt x="399297" y="0"/>
                  <a:pt x="414130" y="14833"/>
                  <a:pt x="414130" y="33131"/>
                </a:cubicBezTo>
                <a:lnTo>
                  <a:pt x="414130" y="165652"/>
                </a:lnTo>
                <a:cubicBezTo>
                  <a:pt x="414130" y="183949"/>
                  <a:pt x="399297" y="198783"/>
                  <a:pt x="380999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63" name="Text 60"/>
          <p:cNvSpPr/>
          <p:nvPr/>
        </p:nvSpPr>
        <p:spPr>
          <a:xfrm>
            <a:off x="7399734" y="5706717"/>
            <a:ext cx="463826" cy="198783"/>
          </a:xfrm>
          <a:prstGeom prst="rect">
            <a:avLst/>
          </a:prstGeom>
          <a:noFill/>
          <a:ln/>
        </p:spPr>
        <p:txBody>
          <a:bodyPr wrap="square" lIns="66261" tIns="33130" rIns="66261" bIns="3313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OMEN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335446" y="6987933"/>
            <a:ext cx="11521109" cy="372717"/>
          </a:xfrm>
          <a:custGeom>
            <a:avLst/>
            <a:gdLst/>
            <a:ahLst/>
            <a:cxnLst/>
            <a:rect l="l" t="t" r="r" b="b"/>
            <a:pathLst>
              <a:path w="11521109" h="372717">
                <a:moveTo>
                  <a:pt x="66262" y="0"/>
                </a:moveTo>
                <a:lnTo>
                  <a:pt x="11454847" y="0"/>
                </a:lnTo>
                <a:cubicBezTo>
                  <a:pt x="11491442" y="0"/>
                  <a:pt x="11521109" y="29666"/>
                  <a:pt x="11521109" y="66262"/>
                </a:cubicBezTo>
                <a:lnTo>
                  <a:pt x="11521109" y="306456"/>
                </a:lnTo>
                <a:cubicBezTo>
                  <a:pt x="11521109" y="343051"/>
                  <a:pt x="11491442" y="372717"/>
                  <a:pt x="11454847" y="372717"/>
                </a:cubicBezTo>
                <a:lnTo>
                  <a:pt x="66262" y="372717"/>
                </a:lnTo>
                <a:cubicBezTo>
                  <a:pt x="29691" y="372717"/>
                  <a:pt x="0" y="343027"/>
                  <a:pt x="0" y="306456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8978" y="7091466"/>
            <a:ext cx="207065" cy="165652"/>
          </a:xfrm>
          <a:custGeom>
            <a:avLst/>
            <a:gdLst/>
            <a:ahLst/>
            <a:cxnLst/>
            <a:rect l="l" t="t" r="r" b="b"/>
            <a:pathLst>
              <a:path w="207065" h="165652">
                <a:moveTo>
                  <a:pt x="170829" y="41413"/>
                </a:moveTo>
                <a:cubicBezTo>
                  <a:pt x="173676" y="41413"/>
                  <a:pt x="176005" y="43743"/>
                  <a:pt x="176005" y="46590"/>
                </a:cubicBezTo>
                <a:lnTo>
                  <a:pt x="176005" y="119062"/>
                </a:lnTo>
                <a:cubicBezTo>
                  <a:pt x="176005" y="121910"/>
                  <a:pt x="173676" y="124239"/>
                  <a:pt x="170829" y="124239"/>
                </a:cubicBezTo>
                <a:lnTo>
                  <a:pt x="36236" y="124239"/>
                </a:lnTo>
                <a:cubicBezTo>
                  <a:pt x="33389" y="124239"/>
                  <a:pt x="31060" y="121910"/>
                  <a:pt x="31060" y="119062"/>
                </a:cubicBezTo>
                <a:lnTo>
                  <a:pt x="31060" y="46590"/>
                </a:lnTo>
                <a:cubicBezTo>
                  <a:pt x="31060" y="43743"/>
                  <a:pt x="33389" y="41413"/>
                  <a:pt x="36236" y="41413"/>
                </a:cubicBezTo>
                <a:lnTo>
                  <a:pt x="170829" y="41413"/>
                </a:lnTo>
                <a:close/>
                <a:moveTo>
                  <a:pt x="36236" y="20707"/>
                </a:moveTo>
                <a:cubicBezTo>
                  <a:pt x="21936" y="20707"/>
                  <a:pt x="10353" y="32289"/>
                  <a:pt x="10353" y="46590"/>
                </a:cubicBezTo>
                <a:lnTo>
                  <a:pt x="10353" y="119062"/>
                </a:lnTo>
                <a:cubicBezTo>
                  <a:pt x="10353" y="133363"/>
                  <a:pt x="21936" y="144946"/>
                  <a:pt x="36236" y="144946"/>
                </a:cubicBezTo>
                <a:lnTo>
                  <a:pt x="170829" y="144946"/>
                </a:lnTo>
                <a:cubicBezTo>
                  <a:pt x="185129" y="144946"/>
                  <a:pt x="196712" y="133363"/>
                  <a:pt x="196712" y="119062"/>
                </a:cubicBezTo>
                <a:lnTo>
                  <a:pt x="196712" y="103533"/>
                </a:lnTo>
                <a:cubicBezTo>
                  <a:pt x="202439" y="103533"/>
                  <a:pt x="207065" y="98906"/>
                  <a:pt x="207065" y="93179"/>
                </a:cubicBezTo>
                <a:lnTo>
                  <a:pt x="207065" y="72473"/>
                </a:lnTo>
                <a:cubicBezTo>
                  <a:pt x="207065" y="66746"/>
                  <a:pt x="202439" y="62120"/>
                  <a:pt x="196712" y="62120"/>
                </a:cubicBezTo>
                <a:lnTo>
                  <a:pt x="196712" y="46590"/>
                </a:lnTo>
                <a:cubicBezTo>
                  <a:pt x="196712" y="32289"/>
                  <a:pt x="185129" y="20707"/>
                  <a:pt x="170829" y="20707"/>
                </a:cubicBezTo>
                <a:lnTo>
                  <a:pt x="36236" y="20707"/>
                </a:lnTo>
                <a:close/>
                <a:moveTo>
                  <a:pt x="54355" y="56943"/>
                </a:moveTo>
                <a:cubicBezTo>
                  <a:pt x="50052" y="56943"/>
                  <a:pt x="46590" y="60405"/>
                  <a:pt x="46590" y="64708"/>
                </a:cubicBezTo>
                <a:lnTo>
                  <a:pt x="46590" y="100944"/>
                </a:lnTo>
                <a:cubicBezTo>
                  <a:pt x="46590" y="105247"/>
                  <a:pt x="50052" y="108709"/>
                  <a:pt x="54355" y="108709"/>
                </a:cubicBezTo>
                <a:lnTo>
                  <a:pt x="152711" y="108709"/>
                </a:lnTo>
                <a:cubicBezTo>
                  <a:pt x="157014" y="108709"/>
                  <a:pt x="160476" y="105247"/>
                  <a:pt x="160476" y="100944"/>
                </a:cubicBezTo>
                <a:lnTo>
                  <a:pt x="160476" y="64708"/>
                </a:lnTo>
                <a:cubicBezTo>
                  <a:pt x="160476" y="60405"/>
                  <a:pt x="157014" y="56943"/>
                  <a:pt x="152711" y="56943"/>
                </a:cubicBezTo>
                <a:lnTo>
                  <a:pt x="54355" y="56943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6" name="Text 63"/>
          <p:cNvSpPr/>
          <p:nvPr/>
        </p:nvSpPr>
        <p:spPr>
          <a:xfrm>
            <a:off x="745435" y="7091466"/>
            <a:ext cx="989771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 Insight:</a:t>
            </a:r>
            <a:r>
              <a:rPr lang="en-US" sz="913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Weak negative correlation (r=-0.22) between battery life and price. Gaming laptops sacrifice battery for performance. Apple M-series leads efficiency with 15+ hour real-world usage.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729" y="337729"/>
            <a:ext cx="337729" cy="337729"/>
          </a:xfrm>
          <a:custGeom>
            <a:avLst/>
            <a:gdLst/>
            <a:ahLst/>
            <a:cxnLst/>
            <a:rect l="l" t="t" r="r" b="b"/>
            <a:pathLst>
              <a:path w="337729" h="337729">
                <a:moveTo>
                  <a:pt x="67546" y="0"/>
                </a:moveTo>
                <a:lnTo>
                  <a:pt x="270183" y="0"/>
                </a:lnTo>
                <a:cubicBezTo>
                  <a:pt x="307462" y="0"/>
                  <a:pt x="337729" y="30266"/>
                  <a:pt x="337729" y="67546"/>
                </a:cubicBezTo>
                <a:lnTo>
                  <a:pt x="337729" y="270183"/>
                </a:lnTo>
                <a:cubicBezTo>
                  <a:pt x="337729" y="307462"/>
                  <a:pt x="307462" y="337729"/>
                  <a:pt x="270183" y="337729"/>
                </a:cubicBezTo>
                <a:lnTo>
                  <a:pt x="67546" y="337729"/>
                </a:lnTo>
                <a:cubicBezTo>
                  <a:pt x="30266" y="337729"/>
                  <a:pt x="0" y="307462"/>
                  <a:pt x="0" y="270183"/>
                </a:cubicBezTo>
                <a:lnTo>
                  <a:pt x="0" y="67546"/>
                </a:lnTo>
                <a:cubicBezTo>
                  <a:pt x="0" y="30241"/>
                  <a:pt x="30241" y="0"/>
                  <a:pt x="67546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4905" y="388388"/>
            <a:ext cx="261740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0997" y="367280"/>
            <a:ext cx="1443789" cy="278626"/>
          </a:xfrm>
          <a:custGeom>
            <a:avLst/>
            <a:gdLst/>
            <a:ahLst/>
            <a:cxnLst/>
            <a:rect l="l" t="t" r="r" b="b"/>
            <a:pathLst>
              <a:path w="1443789" h="278626">
                <a:moveTo>
                  <a:pt x="139313" y="0"/>
                </a:moveTo>
                <a:lnTo>
                  <a:pt x="1304476" y="0"/>
                </a:lnTo>
                <a:cubicBezTo>
                  <a:pt x="1381417" y="0"/>
                  <a:pt x="1443789" y="62373"/>
                  <a:pt x="1443789" y="139313"/>
                </a:cubicBezTo>
                <a:lnTo>
                  <a:pt x="1443789" y="139313"/>
                </a:lnTo>
                <a:cubicBezTo>
                  <a:pt x="1443789" y="216253"/>
                  <a:pt x="1381417" y="278626"/>
                  <a:pt x="1304476" y="278626"/>
                </a:cubicBezTo>
                <a:lnTo>
                  <a:pt x="139313" y="278626"/>
                </a:lnTo>
                <a:cubicBezTo>
                  <a:pt x="62424" y="278626"/>
                  <a:pt x="0" y="216202"/>
                  <a:pt x="0" y="139313"/>
                </a:cubicBezTo>
                <a:lnTo>
                  <a:pt x="0" y="139313"/>
                </a:lnTo>
                <a:cubicBezTo>
                  <a:pt x="0" y="62424"/>
                  <a:pt x="62424" y="0"/>
                  <a:pt x="139313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537" y="464377"/>
            <a:ext cx="1283105" cy="109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8" b="1" kern="0" spc="4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7729" y="743003"/>
            <a:ext cx="11668521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Correlation Insights: Key Drivers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1950" y="1253817"/>
            <a:ext cx="5665396" cy="3385729"/>
          </a:xfrm>
          <a:custGeom>
            <a:avLst/>
            <a:gdLst/>
            <a:ahLst/>
            <a:cxnLst/>
            <a:rect l="l" t="t" r="r" b="b"/>
            <a:pathLst>
              <a:path w="5665396" h="3385729">
                <a:moveTo>
                  <a:pt x="101335" y="0"/>
                </a:moveTo>
                <a:lnTo>
                  <a:pt x="5564061" y="0"/>
                </a:lnTo>
                <a:cubicBezTo>
                  <a:pt x="5620027" y="0"/>
                  <a:pt x="5665396" y="45369"/>
                  <a:pt x="5665396" y="101335"/>
                </a:cubicBezTo>
                <a:lnTo>
                  <a:pt x="5665396" y="3284394"/>
                </a:lnTo>
                <a:cubicBezTo>
                  <a:pt x="5665396" y="3340359"/>
                  <a:pt x="5620027" y="3385729"/>
                  <a:pt x="5564061" y="3385729"/>
                </a:cubicBezTo>
                <a:lnTo>
                  <a:pt x="101335" y="3385729"/>
                </a:lnTo>
                <a:cubicBezTo>
                  <a:pt x="45369" y="3385729"/>
                  <a:pt x="0" y="3340359"/>
                  <a:pt x="0" y="3284394"/>
                </a:cubicBezTo>
                <a:lnTo>
                  <a:pt x="0" y="101335"/>
                </a:lnTo>
                <a:cubicBezTo>
                  <a:pt x="0" y="45369"/>
                  <a:pt x="45369" y="0"/>
                  <a:pt x="10133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5036" y="1426903"/>
            <a:ext cx="5395213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Specification-Price Correlation Matrix</a:t>
            </a:r>
            <a:endParaRPr lang="en-US" sz="1600" dirty="0"/>
          </a:p>
        </p:txBody>
      </p:sp>
      <p:pic>
        <p:nvPicPr>
          <p:cNvPr id="9" name="Image 0" descr="https://kimi-img.moonshot.cn/pub/slides/26-02-02-19:33:43-d608n5q7ch9fvukle93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5036" y="1764632"/>
            <a:ext cx="4626881" cy="2701828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41950" y="4783080"/>
            <a:ext cx="5665396" cy="1021629"/>
          </a:xfrm>
          <a:custGeom>
            <a:avLst/>
            <a:gdLst/>
            <a:ahLst/>
            <a:cxnLst/>
            <a:rect l="l" t="t" r="r" b="b"/>
            <a:pathLst>
              <a:path w="5665396" h="1021629">
                <a:moveTo>
                  <a:pt x="101315" y="0"/>
                </a:moveTo>
                <a:lnTo>
                  <a:pt x="5564081" y="0"/>
                </a:lnTo>
                <a:cubicBezTo>
                  <a:pt x="5620036" y="0"/>
                  <a:pt x="5665396" y="45360"/>
                  <a:pt x="5665396" y="101315"/>
                </a:cubicBezTo>
                <a:lnTo>
                  <a:pt x="5665396" y="920314"/>
                </a:lnTo>
                <a:cubicBezTo>
                  <a:pt x="5665396" y="976269"/>
                  <a:pt x="5620036" y="1021629"/>
                  <a:pt x="5564081" y="1021629"/>
                </a:cubicBezTo>
                <a:lnTo>
                  <a:pt x="101315" y="1021629"/>
                </a:lnTo>
                <a:cubicBezTo>
                  <a:pt x="45360" y="1021629"/>
                  <a:pt x="0" y="976269"/>
                  <a:pt x="0" y="920314"/>
                </a:cubicBezTo>
                <a:lnTo>
                  <a:pt x="0" y="101315"/>
                </a:lnTo>
                <a:cubicBezTo>
                  <a:pt x="0" y="45398"/>
                  <a:pt x="45398" y="0"/>
                  <a:pt x="101315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263" y="4922393"/>
            <a:ext cx="545431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Strength Scale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1263" y="5226349"/>
            <a:ext cx="1291812" cy="439047"/>
          </a:xfrm>
          <a:custGeom>
            <a:avLst/>
            <a:gdLst/>
            <a:ahLst/>
            <a:cxnLst/>
            <a:rect l="l" t="t" r="r" b="b"/>
            <a:pathLst>
              <a:path w="1291812" h="439047">
                <a:moveTo>
                  <a:pt x="33772" y="0"/>
                </a:moveTo>
                <a:lnTo>
                  <a:pt x="1258040" y="0"/>
                </a:lnTo>
                <a:cubicBezTo>
                  <a:pt x="1276692" y="0"/>
                  <a:pt x="1291812" y="15120"/>
                  <a:pt x="1291812" y="33772"/>
                </a:cubicBezTo>
                <a:lnTo>
                  <a:pt x="1291812" y="405276"/>
                </a:lnTo>
                <a:cubicBezTo>
                  <a:pt x="1291812" y="423927"/>
                  <a:pt x="1276692" y="439047"/>
                  <a:pt x="1258040" y="439047"/>
                </a:cubicBezTo>
                <a:lnTo>
                  <a:pt x="33772" y="439047"/>
                </a:lnTo>
                <a:cubicBezTo>
                  <a:pt x="15120" y="439047"/>
                  <a:pt x="0" y="423927"/>
                  <a:pt x="0" y="405276"/>
                </a:cubicBezTo>
                <a:lnTo>
                  <a:pt x="0" y="33772"/>
                </a:lnTo>
                <a:cubicBezTo>
                  <a:pt x="0" y="15133"/>
                  <a:pt x="15133" y="0"/>
                  <a:pt x="33772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19258" y="5293895"/>
            <a:ext cx="121582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0.7-1.0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3479" y="5462759"/>
            <a:ext cx="1207380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44314" y="5226349"/>
            <a:ext cx="1291812" cy="439047"/>
          </a:xfrm>
          <a:custGeom>
            <a:avLst/>
            <a:gdLst/>
            <a:ahLst/>
            <a:cxnLst/>
            <a:rect l="l" t="t" r="r" b="b"/>
            <a:pathLst>
              <a:path w="1291812" h="439047">
                <a:moveTo>
                  <a:pt x="33772" y="0"/>
                </a:moveTo>
                <a:lnTo>
                  <a:pt x="1258040" y="0"/>
                </a:lnTo>
                <a:cubicBezTo>
                  <a:pt x="1276692" y="0"/>
                  <a:pt x="1291812" y="15120"/>
                  <a:pt x="1291812" y="33772"/>
                </a:cubicBezTo>
                <a:lnTo>
                  <a:pt x="1291812" y="405276"/>
                </a:lnTo>
                <a:cubicBezTo>
                  <a:pt x="1291812" y="423927"/>
                  <a:pt x="1276692" y="439047"/>
                  <a:pt x="1258040" y="439047"/>
                </a:cubicBezTo>
                <a:lnTo>
                  <a:pt x="33772" y="439047"/>
                </a:lnTo>
                <a:cubicBezTo>
                  <a:pt x="15120" y="439047"/>
                  <a:pt x="0" y="423927"/>
                  <a:pt x="0" y="405276"/>
                </a:cubicBezTo>
                <a:lnTo>
                  <a:pt x="0" y="33772"/>
                </a:lnTo>
                <a:cubicBezTo>
                  <a:pt x="0" y="15133"/>
                  <a:pt x="15133" y="0"/>
                  <a:pt x="33772" y="0"/>
                </a:cubicBezTo>
                <a:close/>
              </a:path>
            </a:pathLst>
          </a:custGeom>
          <a:solidFill>
            <a:srgbClr val="4C8DAE">
              <a:alpha val="3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882309" y="5293895"/>
            <a:ext cx="121582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0.4-0.7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886530" y="5462759"/>
            <a:ext cx="1207380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07366" y="5226349"/>
            <a:ext cx="1291812" cy="439047"/>
          </a:xfrm>
          <a:custGeom>
            <a:avLst/>
            <a:gdLst/>
            <a:ahLst/>
            <a:cxnLst/>
            <a:rect l="l" t="t" r="r" b="b"/>
            <a:pathLst>
              <a:path w="1291812" h="439047">
                <a:moveTo>
                  <a:pt x="33772" y="0"/>
                </a:moveTo>
                <a:lnTo>
                  <a:pt x="1258040" y="0"/>
                </a:lnTo>
                <a:cubicBezTo>
                  <a:pt x="1276692" y="0"/>
                  <a:pt x="1291812" y="15120"/>
                  <a:pt x="1291812" y="33772"/>
                </a:cubicBezTo>
                <a:lnTo>
                  <a:pt x="1291812" y="405276"/>
                </a:lnTo>
                <a:cubicBezTo>
                  <a:pt x="1291812" y="423927"/>
                  <a:pt x="1276692" y="439047"/>
                  <a:pt x="1258040" y="439047"/>
                </a:cubicBezTo>
                <a:lnTo>
                  <a:pt x="33772" y="439047"/>
                </a:lnTo>
                <a:cubicBezTo>
                  <a:pt x="15120" y="439047"/>
                  <a:pt x="0" y="423927"/>
                  <a:pt x="0" y="405276"/>
                </a:cubicBezTo>
                <a:lnTo>
                  <a:pt x="0" y="33772"/>
                </a:lnTo>
                <a:cubicBezTo>
                  <a:pt x="0" y="15133"/>
                  <a:pt x="15133" y="0"/>
                  <a:pt x="33772" y="0"/>
                </a:cubicBez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245360" y="5293895"/>
            <a:ext cx="121582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b="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0.1-0.4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49582" y="5462759"/>
            <a:ext cx="1207380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0417" y="5226349"/>
            <a:ext cx="1291812" cy="439047"/>
          </a:xfrm>
          <a:custGeom>
            <a:avLst/>
            <a:gdLst/>
            <a:ahLst/>
            <a:cxnLst/>
            <a:rect l="l" t="t" r="r" b="b"/>
            <a:pathLst>
              <a:path w="1291812" h="439047">
                <a:moveTo>
                  <a:pt x="33772" y="0"/>
                </a:moveTo>
                <a:lnTo>
                  <a:pt x="1258040" y="0"/>
                </a:lnTo>
                <a:cubicBezTo>
                  <a:pt x="1276692" y="0"/>
                  <a:pt x="1291812" y="15120"/>
                  <a:pt x="1291812" y="33772"/>
                </a:cubicBezTo>
                <a:lnTo>
                  <a:pt x="1291812" y="405276"/>
                </a:lnTo>
                <a:cubicBezTo>
                  <a:pt x="1291812" y="423927"/>
                  <a:pt x="1276692" y="439047"/>
                  <a:pt x="1258040" y="439047"/>
                </a:cubicBezTo>
                <a:lnTo>
                  <a:pt x="33772" y="439047"/>
                </a:lnTo>
                <a:cubicBezTo>
                  <a:pt x="15120" y="439047"/>
                  <a:pt x="0" y="423927"/>
                  <a:pt x="0" y="405276"/>
                </a:cubicBezTo>
                <a:lnTo>
                  <a:pt x="0" y="33772"/>
                </a:lnTo>
                <a:cubicBezTo>
                  <a:pt x="0" y="15133"/>
                  <a:pt x="15133" y="0"/>
                  <a:pt x="33772" y="0"/>
                </a:cubicBezTo>
                <a:close/>
              </a:path>
            </a:pathLst>
          </a:custGeom>
          <a:solidFill>
            <a:srgbClr val="E0E2E5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608411" y="5293895"/>
            <a:ext cx="121582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1" b="1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0.0-0.1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12633" y="5462759"/>
            <a:ext cx="1207380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82675" y="1253817"/>
            <a:ext cx="5665396" cy="4939280"/>
          </a:xfrm>
          <a:custGeom>
            <a:avLst/>
            <a:gdLst/>
            <a:ahLst/>
            <a:cxnLst/>
            <a:rect l="l" t="t" r="r" b="b"/>
            <a:pathLst>
              <a:path w="5665396" h="4939280">
                <a:moveTo>
                  <a:pt x="101305" y="0"/>
                </a:moveTo>
                <a:lnTo>
                  <a:pt x="5564091" y="0"/>
                </a:lnTo>
                <a:cubicBezTo>
                  <a:pt x="5620040" y="0"/>
                  <a:pt x="5665396" y="45356"/>
                  <a:pt x="5665396" y="101305"/>
                </a:cubicBezTo>
                <a:lnTo>
                  <a:pt x="5665396" y="4837975"/>
                </a:lnTo>
                <a:cubicBezTo>
                  <a:pt x="5665396" y="4893924"/>
                  <a:pt x="5620040" y="4939280"/>
                  <a:pt x="5564091" y="4939280"/>
                </a:cubicBezTo>
                <a:lnTo>
                  <a:pt x="101305" y="4939280"/>
                </a:lnTo>
                <a:cubicBezTo>
                  <a:pt x="45356" y="4939280"/>
                  <a:pt x="0" y="4893924"/>
                  <a:pt x="0" y="4837975"/>
                </a:cubicBezTo>
                <a:lnTo>
                  <a:pt x="0" y="101305"/>
                </a:lnTo>
                <a:cubicBezTo>
                  <a:pt x="0" y="45393"/>
                  <a:pt x="45393" y="0"/>
                  <a:pt x="1013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761" y="1426903"/>
            <a:ext cx="5395213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Price Drivers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72647" y="1798404"/>
            <a:ext cx="5302338" cy="979413"/>
          </a:xfrm>
          <a:custGeom>
            <a:avLst/>
            <a:gdLst/>
            <a:ahLst/>
            <a:cxnLst/>
            <a:rect l="l" t="t" r="r" b="b"/>
            <a:pathLst>
              <a:path w="5302338" h="979413">
                <a:moveTo>
                  <a:pt x="33773" y="0"/>
                </a:moveTo>
                <a:lnTo>
                  <a:pt x="5234788" y="0"/>
                </a:lnTo>
                <a:cubicBezTo>
                  <a:pt x="5272095" y="0"/>
                  <a:pt x="5302338" y="30243"/>
                  <a:pt x="5302338" y="67550"/>
                </a:cubicBezTo>
                <a:lnTo>
                  <a:pt x="5302338" y="911863"/>
                </a:lnTo>
                <a:cubicBezTo>
                  <a:pt x="5302338" y="949170"/>
                  <a:pt x="5272095" y="979413"/>
                  <a:pt x="5234788" y="979413"/>
                </a:cubicBez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6372647" y="1798404"/>
            <a:ext cx="33773" cy="979413"/>
          </a:xfrm>
          <a:custGeom>
            <a:avLst/>
            <a:gdLst/>
            <a:ahLst/>
            <a:cxnLst/>
            <a:rect l="l" t="t" r="r" b="b"/>
            <a:pathLst>
              <a:path w="33773" h="979413">
                <a:moveTo>
                  <a:pt x="33773" y="0"/>
                </a:moveTo>
                <a:lnTo>
                  <a:pt x="33773" y="0"/>
                </a:lnTo>
                <a:lnTo>
                  <a:pt x="33773" y="979413"/>
                </a:ln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8" name="Text 25"/>
          <p:cNvSpPr/>
          <p:nvPr/>
        </p:nvSpPr>
        <p:spPr>
          <a:xfrm>
            <a:off x="6524625" y="1967269"/>
            <a:ext cx="700787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Brand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155859" y="1933496"/>
            <a:ext cx="48126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0.72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24625" y="2271224"/>
            <a:ext cx="507437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Strongest price predictor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24625" y="2507634"/>
            <a:ext cx="5065928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 commands significant premium over integrated graphics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72647" y="2879136"/>
            <a:ext cx="5302338" cy="979413"/>
          </a:xfrm>
          <a:custGeom>
            <a:avLst/>
            <a:gdLst/>
            <a:ahLst/>
            <a:cxnLst/>
            <a:rect l="l" t="t" r="r" b="b"/>
            <a:pathLst>
              <a:path w="5302338" h="979413">
                <a:moveTo>
                  <a:pt x="33773" y="0"/>
                </a:moveTo>
                <a:lnTo>
                  <a:pt x="5234788" y="0"/>
                </a:lnTo>
                <a:cubicBezTo>
                  <a:pt x="5272095" y="0"/>
                  <a:pt x="5302338" y="30243"/>
                  <a:pt x="5302338" y="67550"/>
                </a:cubicBezTo>
                <a:lnTo>
                  <a:pt x="5302338" y="911863"/>
                </a:lnTo>
                <a:cubicBezTo>
                  <a:pt x="5302338" y="949170"/>
                  <a:pt x="5272095" y="979413"/>
                  <a:pt x="5234788" y="979413"/>
                </a:cubicBez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3" name="Shape 30"/>
          <p:cNvSpPr/>
          <p:nvPr/>
        </p:nvSpPr>
        <p:spPr>
          <a:xfrm>
            <a:off x="6372647" y="2879136"/>
            <a:ext cx="33773" cy="979413"/>
          </a:xfrm>
          <a:custGeom>
            <a:avLst/>
            <a:gdLst/>
            <a:ahLst/>
            <a:cxnLst/>
            <a:rect l="l" t="t" r="r" b="b"/>
            <a:pathLst>
              <a:path w="33773" h="979413">
                <a:moveTo>
                  <a:pt x="33773" y="0"/>
                </a:moveTo>
                <a:lnTo>
                  <a:pt x="33773" y="0"/>
                </a:lnTo>
                <a:lnTo>
                  <a:pt x="33773" y="979413"/>
                </a:ln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34" name="Text 31"/>
          <p:cNvSpPr/>
          <p:nvPr/>
        </p:nvSpPr>
        <p:spPr>
          <a:xfrm>
            <a:off x="6524625" y="3048000"/>
            <a:ext cx="894981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 Capacity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126968" y="3014227"/>
            <a:ext cx="515036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0.68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524625" y="3351956"/>
            <a:ext cx="507437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positive correlation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524625" y="3588366"/>
            <a:ext cx="5065928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8GB increment adds ₹12,000-18,000 to price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72647" y="3959867"/>
            <a:ext cx="5302338" cy="979413"/>
          </a:xfrm>
          <a:custGeom>
            <a:avLst/>
            <a:gdLst/>
            <a:ahLst/>
            <a:cxnLst/>
            <a:rect l="l" t="t" r="r" b="b"/>
            <a:pathLst>
              <a:path w="5302338" h="979413">
                <a:moveTo>
                  <a:pt x="33773" y="0"/>
                </a:moveTo>
                <a:lnTo>
                  <a:pt x="5234788" y="0"/>
                </a:lnTo>
                <a:cubicBezTo>
                  <a:pt x="5272095" y="0"/>
                  <a:pt x="5302338" y="30243"/>
                  <a:pt x="5302338" y="67550"/>
                </a:cubicBezTo>
                <a:lnTo>
                  <a:pt x="5302338" y="911863"/>
                </a:lnTo>
                <a:cubicBezTo>
                  <a:pt x="5302338" y="949170"/>
                  <a:pt x="5272095" y="979413"/>
                  <a:pt x="5234788" y="979413"/>
                </a:cubicBez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Shape 36"/>
          <p:cNvSpPr/>
          <p:nvPr/>
        </p:nvSpPr>
        <p:spPr>
          <a:xfrm>
            <a:off x="6372647" y="3959867"/>
            <a:ext cx="33773" cy="979413"/>
          </a:xfrm>
          <a:custGeom>
            <a:avLst/>
            <a:gdLst/>
            <a:ahLst/>
            <a:cxnLst/>
            <a:rect l="l" t="t" r="r" b="b"/>
            <a:pathLst>
              <a:path w="33773" h="979413">
                <a:moveTo>
                  <a:pt x="33773" y="0"/>
                </a:moveTo>
                <a:lnTo>
                  <a:pt x="33773" y="0"/>
                </a:lnTo>
                <a:lnTo>
                  <a:pt x="33773" y="979413"/>
                </a:ln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40" name="Text 37"/>
          <p:cNvSpPr/>
          <p:nvPr/>
        </p:nvSpPr>
        <p:spPr>
          <a:xfrm>
            <a:off x="6524625" y="4128731"/>
            <a:ext cx="911867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Processor Gen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132509" y="4094958"/>
            <a:ext cx="50659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0.58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524625" y="4432687"/>
            <a:ext cx="507437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correlation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524625" y="4669097"/>
            <a:ext cx="5065928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Newer generations command 15-25% premium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72647" y="5040598"/>
            <a:ext cx="5302338" cy="979413"/>
          </a:xfrm>
          <a:custGeom>
            <a:avLst/>
            <a:gdLst/>
            <a:ahLst/>
            <a:cxnLst/>
            <a:rect l="l" t="t" r="r" b="b"/>
            <a:pathLst>
              <a:path w="5302338" h="979413">
                <a:moveTo>
                  <a:pt x="33773" y="0"/>
                </a:moveTo>
                <a:lnTo>
                  <a:pt x="5234788" y="0"/>
                </a:lnTo>
                <a:cubicBezTo>
                  <a:pt x="5272095" y="0"/>
                  <a:pt x="5302338" y="30243"/>
                  <a:pt x="5302338" y="67550"/>
                </a:cubicBezTo>
                <a:lnTo>
                  <a:pt x="5302338" y="911863"/>
                </a:lnTo>
                <a:cubicBezTo>
                  <a:pt x="5302338" y="949170"/>
                  <a:pt x="5272095" y="979413"/>
                  <a:pt x="5234788" y="979413"/>
                </a:cubicBez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B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5" name="Shape 42"/>
          <p:cNvSpPr/>
          <p:nvPr/>
        </p:nvSpPr>
        <p:spPr>
          <a:xfrm>
            <a:off x="6372647" y="5040598"/>
            <a:ext cx="33773" cy="979413"/>
          </a:xfrm>
          <a:custGeom>
            <a:avLst/>
            <a:gdLst/>
            <a:ahLst/>
            <a:cxnLst/>
            <a:rect l="l" t="t" r="r" b="b"/>
            <a:pathLst>
              <a:path w="33773" h="979413">
                <a:moveTo>
                  <a:pt x="33773" y="0"/>
                </a:moveTo>
                <a:lnTo>
                  <a:pt x="33773" y="0"/>
                </a:lnTo>
                <a:lnTo>
                  <a:pt x="33773" y="979413"/>
                </a:ln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6" name="Text 43"/>
          <p:cNvSpPr/>
          <p:nvPr/>
        </p:nvSpPr>
        <p:spPr>
          <a:xfrm>
            <a:off x="6524625" y="5209463"/>
            <a:ext cx="768332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Size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140028" y="5175690"/>
            <a:ext cx="498150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6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0.42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524625" y="5513418"/>
            <a:ext cx="507437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Weak-moderate correlation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524625" y="5749828"/>
            <a:ext cx="5065928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displays associated with premium categories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341950" y="6819478"/>
            <a:ext cx="11508100" cy="379945"/>
          </a:xfrm>
          <a:custGeom>
            <a:avLst/>
            <a:gdLst/>
            <a:ahLst/>
            <a:cxnLst/>
            <a:rect l="l" t="t" r="r" b="b"/>
            <a:pathLst>
              <a:path w="11508100" h="379945">
                <a:moveTo>
                  <a:pt x="67547" y="0"/>
                </a:moveTo>
                <a:lnTo>
                  <a:pt x="11440553" y="0"/>
                </a:lnTo>
                <a:cubicBezTo>
                  <a:pt x="11477858" y="0"/>
                  <a:pt x="11508100" y="30242"/>
                  <a:pt x="11508100" y="67547"/>
                </a:cubicBezTo>
                <a:lnTo>
                  <a:pt x="11508100" y="312398"/>
                </a:lnTo>
                <a:cubicBezTo>
                  <a:pt x="11508100" y="349703"/>
                  <a:pt x="11477858" y="379945"/>
                  <a:pt x="11440553" y="379945"/>
                </a:cubicBezTo>
                <a:lnTo>
                  <a:pt x="67547" y="379945"/>
                </a:lnTo>
                <a:cubicBezTo>
                  <a:pt x="30242" y="379945"/>
                  <a:pt x="0" y="349703"/>
                  <a:pt x="0" y="312398"/>
                </a:cubicBezTo>
                <a:lnTo>
                  <a:pt x="0" y="67547"/>
                </a:lnTo>
                <a:cubicBezTo>
                  <a:pt x="0" y="30242"/>
                  <a:pt x="30242" y="0"/>
                  <a:pt x="67547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58044" y="6925018"/>
            <a:ext cx="189972" cy="168864"/>
          </a:xfrm>
          <a:custGeom>
            <a:avLst/>
            <a:gdLst/>
            <a:ahLst/>
            <a:cxnLst/>
            <a:rect l="l" t="t" r="r" b="b"/>
            <a:pathLst>
              <a:path w="189972" h="168864">
                <a:moveTo>
                  <a:pt x="138357" y="31662"/>
                </a:moveTo>
                <a:cubicBezTo>
                  <a:pt x="132882" y="31662"/>
                  <a:pt x="127572" y="33146"/>
                  <a:pt x="122921" y="35851"/>
                </a:cubicBezTo>
                <a:cubicBezTo>
                  <a:pt x="117710" y="30574"/>
                  <a:pt x="111642" y="26154"/>
                  <a:pt x="104947" y="22823"/>
                </a:cubicBezTo>
                <a:cubicBezTo>
                  <a:pt x="114247" y="14908"/>
                  <a:pt x="126088" y="10554"/>
                  <a:pt x="138357" y="10554"/>
                </a:cubicBezTo>
                <a:cubicBezTo>
                  <a:pt x="166852" y="10554"/>
                  <a:pt x="189972" y="33641"/>
                  <a:pt x="189972" y="62170"/>
                </a:cubicBezTo>
                <a:cubicBezTo>
                  <a:pt x="189972" y="75857"/>
                  <a:pt x="184530" y="88984"/>
                  <a:pt x="174867" y="98647"/>
                </a:cubicBezTo>
                <a:lnTo>
                  <a:pt x="151417" y="122097"/>
                </a:lnTo>
                <a:cubicBezTo>
                  <a:pt x="141754" y="131760"/>
                  <a:pt x="128627" y="137202"/>
                  <a:pt x="114940" y="137202"/>
                </a:cubicBezTo>
                <a:cubicBezTo>
                  <a:pt x="86444" y="137202"/>
                  <a:pt x="63324" y="114115"/>
                  <a:pt x="63324" y="85586"/>
                </a:cubicBezTo>
                <a:cubicBezTo>
                  <a:pt x="63324" y="85092"/>
                  <a:pt x="63324" y="84597"/>
                  <a:pt x="63357" y="84102"/>
                </a:cubicBezTo>
                <a:cubicBezTo>
                  <a:pt x="63522" y="78265"/>
                  <a:pt x="68370" y="73680"/>
                  <a:pt x="74208" y="73845"/>
                </a:cubicBezTo>
                <a:cubicBezTo>
                  <a:pt x="80046" y="74010"/>
                  <a:pt x="84630" y="78858"/>
                  <a:pt x="84465" y="84696"/>
                </a:cubicBezTo>
                <a:cubicBezTo>
                  <a:pt x="84465" y="84993"/>
                  <a:pt x="84465" y="85290"/>
                  <a:pt x="84465" y="85553"/>
                </a:cubicBezTo>
                <a:cubicBezTo>
                  <a:pt x="84465" y="102407"/>
                  <a:pt x="98119" y="116061"/>
                  <a:pt x="114973" y="116061"/>
                </a:cubicBezTo>
                <a:cubicBezTo>
                  <a:pt x="123053" y="116061"/>
                  <a:pt x="130804" y="112862"/>
                  <a:pt x="136543" y="107123"/>
                </a:cubicBezTo>
                <a:lnTo>
                  <a:pt x="159992" y="83674"/>
                </a:lnTo>
                <a:cubicBezTo>
                  <a:pt x="165698" y="77968"/>
                  <a:pt x="168930" y="70184"/>
                  <a:pt x="168930" y="62104"/>
                </a:cubicBezTo>
                <a:cubicBezTo>
                  <a:pt x="168930" y="45250"/>
                  <a:pt x="155276" y="31596"/>
                  <a:pt x="138423" y="31596"/>
                </a:cubicBezTo>
                <a:close/>
                <a:moveTo>
                  <a:pt x="90765" y="57157"/>
                </a:moveTo>
                <a:cubicBezTo>
                  <a:pt x="90138" y="56893"/>
                  <a:pt x="89511" y="56530"/>
                  <a:pt x="88951" y="56134"/>
                </a:cubicBezTo>
                <a:cubicBezTo>
                  <a:pt x="84795" y="53990"/>
                  <a:pt x="80046" y="52770"/>
                  <a:pt x="75065" y="52770"/>
                </a:cubicBezTo>
                <a:cubicBezTo>
                  <a:pt x="66985" y="52770"/>
                  <a:pt x="59234" y="55969"/>
                  <a:pt x="53496" y="61708"/>
                </a:cubicBezTo>
                <a:lnTo>
                  <a:pt x="30046" y="85158"/>
                </a:lnTo>
                <a:cubicBezTo>
                  <a:pt x="24340" y="90863"/>
                  <a:pt x="21108" y="98647"/>
                  <a:pt x="21108" y="106727"/>
                </a:cubicBezTo>
                <a:cubicBezTo>
                  <a:pt x="21108" y="123581"/>
                  <a:pt x="34762" y="137235"/>
                  <a:pt x="51616" y="137235"/>
                </a:cubicBezTo>
                <a:cubicBezTo>
                  <a:pt x="57058" y="137235"/>
                  <a:pt x="62368" y="135784"/>
                  <a:pt x="67018" y="133080"/>
                </a:cubicBezTo>
                <a:cubicBezTo>
                  <a:pt x="72229" y="138357"/>
                  <a:pt x="78298" y="142776"/>
                  <a:pt x="85026" y="146107"/>
                </a:cubicBezTo>
                <a:cubicBezTo>
                  <a:pt x="75725" y="153990"/>
                  <a:pt x="63918" y="158376"/>
                  <a:pt x="51616" y="158376"/>
                </a:cubicBezTo>
                <a:cubicBezTo>
                  <a:pt x="23120" y="158376"/>
                  <a:pt x="0" y="135289"/>
                  <a:pt x="0" y="106760"/>
                </a:cubicBezTo>
                <a:cubicBezTo>
                  <a:pt x="0" y="93073"/>
                  <a:pt x="5442" y="79947"/>
                  <a:pt x="15105" y="70283"/>
                </a:cubicBezTo>
                <a:lnTo>
                  <a:pt x="38555" y="46833"/>
                </a:lnTo>
                <a:cubicBezTo>
                  <a:pt x="48219" y="37170"/>
                  <a:pt x="61345" y="31728"/>
                  <a:pt x="75032" y="31728"/>
                </a:cubicBezTo>
                <a:cubicBezTo>
                  <a:pt x="103594" y="31728"/>
                  <a:pt x="126648" y="55013"/>
                  <a:pt x="126648" y="83476"/>
                </a:cubicBezTo>
                <a:cubicBezTo>
                  <a:pt x="126648" y="83904"/>
                  <a:pt x="126648" y="84333"/>
                  <a:pt x="126648" y="84762"/>
                </a:cubicBezTo>
                <a:cubicBezTo>
                  <a:pt x="126516" y="90600"/>
                  <a:pt x="121668" y="95184"/>
                  <a:pt x="115830" y="95052"/>
                </a:cubicBezTo>
                <a:cubicBezTo>
                  <a:pt x="109993" y="94920"/>
                  <a:pt x="105408" y="90072"/>
                  <a:pt x="105540" y="84234"/>
                </a:cubicBezTo>
                <a:cubicBezTo>
                  <a:pt x="105540" y="83970"/>
                  <a:pt x="105540" y="83740"/>
                  <a:pt x="105540" y="83476"/>
                </a:cubicBezTo>
                <a:cubicBezTo>
                  <a:pt x="105540" y="72361"/>
                  <a:pt x="99604" y="62599"/>
                  <a:pt x="90765" y="5722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2" name="Text 49"/>
          <p:cNvSpPr/>
          <p:nvPr/>
        </p:nvSpPr>
        <p:spPr>
          <a:xfrm>
            <a:off x="759889" y="6925018"/>
            <a:ext cx="1088330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Insight:</a:t>
            </a: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GPU and RAM are primary price determinants. Brand premium varies significantly—Apple commands 35% premium, MSI 20% for gaming features. Storage type shows minimal correlation (0.15).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265" y="321265"/>
            <a:ext cx="321265" cy="321265"/>
          </a:xfrm>
          <a:custGeom>
            <a:avLst/>
            <a:gdLst/>
            <a:ahLst/>
            <a:cxnLst/>
            <a:rect l="l" t="t" r="r" b="b"/>
            <a:pathLst>
              <a:path w="321265" h="321265">
                <a:moveTo>
                  <a:pt x="64253" y="0"/>
                </a:moveTo>
                <a:lnTo>
                  <a:pt x="257012" y="0"/>
                </a:lnTo>
                <a:cubicBezTo>
                  <a:pt x="292474" y="0"/>
                  <a:pt x="321265" y="28791"/>
                  <a:pt x="321265" y="64253"/>
                </a:cubicBezTo>
                <a:lnTo>
                  <a:pt x="321265" y="257012"/>
                </a:lnTo>
                <a:cubicBezTo>
                  <a:pt x="321265" y="292474"/>
                  <a:pt x="292474" y="321265"/>
                  <a:pt x="257012" y="321265"/>
                </a:cubicBezTo>
                <a:lnTo>
                  <a:pt x="64253" y="321265"/>
                </a:lnTo>
                <a:cubicBezTo>
                  <a:pt x="28791" y="321265"/>
                  <a:pt x="0" y="292474"/>
                  <a:pt x="0" y="257012"/>
                </a:cubicBezTo>
                <a:lnTo>
                  <a:pt x="0" y="64253"/>
                </a:lnTo>
                <a:cubicBezTo>
                  <a:pt x="0" y="28791"/>
                  <a:pt x="28791" y="0"/>
                  <a:pt x="64253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96436" y="369455"/>
            <a:ext cx="240949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2925" y="349375"/>
            <a:ext cx="1148522" cy="265043"/>
          </a:xfrm>
          <a:custGeom>
            <a:avLst/>
            <a:gdLst/>
            <a:ahLst/>
            <a:cxnLst/>
            <a:rect l="l" t="t" r="r" b="b"/>
            <a:pathLst>
              <a:path w="1148522" h="265043">
                <a:moveTo>
                  <a:pt x="132522" y="0"/>
                </a:moveTo>
                <a:lnTo>
                  <a:pt x="1016000" y="0"/>
                </a:lnTo>
                <a:cubicBezTo>
                  <a:pt x="1089190" y="0"/>
                  <a:pt x="1148522" y="59332"/>
                  <a:pt x="1148522" y="132522"/>
                </a:cubicBezTo>
                <a:lnTo>
                  <a:pt x="1148522" y="132522"/>
                </a:lnTo>
                <a:cubicBezTo>
                  <a:pt x="1148522" y="205711"/>
                  <a:pt x="1089190" y="265043"/>
                  <a:pt x="1016000" y="265043"/>
                </a:cubicBezTo>
                <a:lnTo>
                  <a:pt x="132522" y="265043"/>
                </a:lnTo>
                <a:cubicBezTo>
                  <a:pt x="59332" y="265043"/>
                  <a:pt x="0" y="205711"/>
                  <a:pt x="0" y="132522"/>
                </a:cubicBezTo>
                <a:lnTo>
                  <a:pt x="0" y="132522"/>
                </a:lnTo>
                <a:cubicBezTo>
                  <a:pt x="0" y="59332"/>
                  <a:pt x="59332" y="0"/>
                  <a:pt x="13252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3320" y="441739"/>
            <a:ext cx="993411" cy="10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9" b="1" kern="0" spc="38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1265" y="706783"/>
            <a:ext cx="11694040" cy="321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7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Laptop Segment: Performance Premium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5281" y="1192696"/>
            <a:ext cx="6875067" cy="2738783"/>
          </a:xfrm>
          <a:custGeom>
            <a:avLst/>
            <a:gdLst/>
            <a:ahLst/>
            <a:cxnLst/>
            <a:rect l="l" t="t" r="r" b="b"/>
            <a:pathLst>
              <a:path w="6875067" h="2738783">
                <a:moveTo>
                  <a:pt x="96378" y="0"/>
                </a:moveTo>
                <a:lnTo>
                  <a:pt x="6778689" y="0"/>
                </a:lnTo>
                <a:cubicBezTo>
                  <a:pt x="6831917" y="0"/>
                  <a:pt x="6875067" y="43150"/>
                  <a:pt x="6875067" y="96378"/>
                </a:cubicBezTo>
                <a:lnTo>
                  <a:pt x="6875067" y="2642405"/>
                </a:lnTo>
                <a:cubicBezTo>
                  <a:pt x="6875067" y="2695633"/>
                  <a:pt x="6831917" y="2738783"/>
                  <a:pt x="6778689" y="2738783"/>
                </a:cubicBezTo>
                <a:lnTo>
                  <a:pt x="96378" y="2738783"/>
                </a:lnTo>
                <a:cubicBezTo>
                  <a:pt x="43150" y="2738783"/>
                  <a:pt x="0" y="2695633"/>
                  <a:pt x="0" y="2642405"/>
                </a:cubicBezTo>
                <a:lnTo>
                  <a:pt x="0" y="96378"/>
                </a:lnTo>
                <a:cubicBezTo>
                  <a:pt x="0" y="43185"/>
                  <a:pt x="43185" y="0"/>
                  <a:pt x="96378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929" y="1357344"/>
            <a:ext cx="6618055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GPU Distribution</a:t>
            </a:r>
            <a:endParaRPr lang="en-US" sz="1600" dirty="0"/>
          </a:p>
        </p:txBody>
      </p:sp>
      <p:pic>
        <p:nvPicPr>
          <p:cNvPr id="9" name="Image 0" descr="https://kimi-img.moonshot.cn/pub/slides/26-02-02-19:33:43-d608n5o64o3im7r137o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929" y="1678609"/>
            <a:ext cx="5397249" cy="2088221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25281" y="4068016"/>
            <a:ext cx="6875067" cy="1132458"/>
          </a:xfrm>
          <a:custGeom>
            <a:avLst/>
            <a:gdLst/>
            <a:ahLst/>
            <a:cxnLst/>
            <a:rect l="l" t="t" r="r" b="b"/>
            <a:pathLst>
              <a:path w="6875067" h="1132458">
                <a:moveTo>
                  <a:pt x="96384" y="0"/>
                </a:moveTo>
                <a:lnTo>
                  <a:pt x="6778684" y="0"/>
                </a:lnTo>
                <a:cubicBezTo>
                  <a:pt x="6831915" y="0"/>
                  <a:pt x="6875067" y="43152"/>
                  <a:pt x="6875067" y="96384"/>
                </a:cubicBezTo>
                <a:lnTo>
                  <a:pt x="6875067" y="1036075"/>
                </a:lnTo>
                <a:cubicBezTo>
                  <a:pt x="6875067" y="1089306"/>
                  <a:pt x="6831915" y="1132458"/>
                  <a:pt x="6778684" y="1132458"/>
                </a:cubicBezTo>
                <a:lnTo>
                  <a:pt x="96384" y="1132458"/>
                </a:lnTo>
                <a:cubicBezTo>
                  <a:pt x="43152" y="1132458"/>
                  <a:pt x="0" y="1089306"/>
                  <a:pt x="0" y="1036075"/>
                </a:cubicBezTo>
                <a:lnTo>
                  <a:pt x="0" y="96384"/>
                </a:lnTo>
                <a:cubicBezTo>
                  <a:pt x="0" y="43188"/>
                  <a:pt x="43188" y="0"/>
                  <a:pt x="96384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802" y="4200538"/>
            <a:ext cx="6674277" cy="19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Segment Overview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802" y="4489676"/>
            <a:ext cx="1582229" cy="578277"/>
          </a:xfrm>
          <a:custGeom>
            <a:avLst/>
            <a:gdLst/>
            <a:ahLst/>
            <a:cxnLst/>
            <a:rect l="l" t="t" r="r" b="b"/>
            <a:pathLst>
              <a:path w="1582229" h="578277">
                <a:moveTo>
                  <a:pt x="64252" y="0"/>
                </a:moveTo>
                <a:lnTo>
                  <a:pt x="1517977" y="0"/>
                </a:lnTo>
                <a:cubicBezTo>
                  <a:pt x="1553463" y="0"/>
                  <a:pt x="1582229" y="28767"/>
                  <a:pt x="1582229" y="64252"/>
                </a:cubicBezTo>
                <a:lnTo>
                  <a:pt x="1582229" y="514024"/>
                </a:lnTo>
                <a:cubicBezTo>
                  <a:pt x="1582229" y="549510"/>
                  <a:pt x="1553463" y="578277"/>
                  <a:pt x="1517977" y="578277"/>
                </a:cubicBezTo>
                <a:lnTo>
                  <a:pt x="64252" y="578277"/>
                </a:lnTo>
                <a:cubicBezTo>
                  <a:pt x="28767" y="578277"/>
                  <a:pt x="0" y="549510"/>
                  <a:pt x="0" y="514024"/>
                </a:cubicBezTo>
                <a:lnTo>
                  <a:pt x="0" y="64252"/>
                </a:lnTo>
                <a:cubicBezTo>
                  <a:pt x="0" y="28791"/>
                  <a:pt x="28791" y="0"/>
                  <a:pt x="6425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05992" y="4586055"/>
            <a:ext cx="1485850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18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892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0087" y="4843067"/>
            <a:ext cx="1437660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133399" y="4489676"/>
            <a:ext cx="1582229" cy="578277"/>
          </a:xfrm>
          <a:custGeom>
            <a:avLst/>
            <a:gdLst/>
            <a:ahLst/>
            <a:cxnLst/>
            <a:rect l="l" t="t" r="r" b="b"/>
            <a:pathLst>
              <a:path w="1582229" h="578277">
                <a:moveTo>
                  <a:pt x="64252" y="0"/>
                </a:moveTo>
                <a:lnTo>
                  <a:pt x="1517977" y="0"/>
                </a:lnTo>
                <a:cubicBezTo>
                  <a:pt x="1553463" y="0"/>
                  <a:pt x="1582229" y="28767"/>
                  <a:pt x="1582229" y="64252"/>
                </a:cubicBezTo>
                <a:lnTo>
                  <a:pt x="1582229" y="514024"/>
                </a:lnTo>
                <a:cubicBezTo>
                  <a:pt x="1582229" y="549510"/>
                  <a:pt x="1553463" y="578277"/>
                  <a:pt x="1517977" y="578277"/>
                </a:cubicBezTo>
                <a:lnTo>
                  <a:pt x="64252" y="578277"/>
                </a:lnTo>
                <a:cubicBezTo>
                  <a:pt x="28767" y="578277"/>
                  <a:pt x="0" y="549510"/>
                  <a:pt x="0" y="514024"/>
                </a:cubicBezTo>
                <a:lnTo>
                  <a:pt x="0" y="64252"/>
                </a:lnTo>
                <a:cubicBezTo>
                  <a:pt x="0" y="28791"/>
                  <a:pt x="28791" y="0"/>
                  <a:pt x="6425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181589" y="4586055"/>
            <a:ext cx="1485850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18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22.4%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205684" y="4843067"/>
            <a:ext cx="1437660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Share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09122" y="4489676"/>
            <a:ext cx="1582229" cy="578277"/>
          </a:xfrm>
          <a:custGeom>
            <a:avLst/>
            <a:gdLst/>
            <a:ahLst/>
            <a:cxnLst/>
            <a:rect l="l" t="t" r="r" b="b"/>
            <a:pathLst>
              <a:path w="1582229" h="578277">
                <a:moveTo>
                  <a:pt x="64252" y="0"/>
                </a:moveTo>
                <a:lnTo>
                  <a:pt x="1517977" y="0"/>
                </a:lnTo>
                <a:cubicBezTo>
                  <a:pt x="1553463" y="0"/>
                  <a:pt x="1582229" y="28767"/>
                  <a:pt x="1582229" y="64252"/>
                </a:cubicBezTo>
                <a:lnTo>
                  <a:pt x="1582229" y="514024"/>
                </a:lnTo>
                <a:cubicBezTo>
                  <a:pt x="1582229" y="549510"/>
                  <a:pt x="1553463" y="578277"/>
                  <a:pt x="1517977" y="578277"/>
                </a:cubicBezTo>
                <a:lnTo>
                  <a:pt x="64252" y="578277"/>
                </a:lnTo>
                <a:cubicBezTo>
                  <a:pt x="28767" y="578277"/>
                  <a:pt x="0" y="549510"/>
                  <a:pt x="0" y="514024"/>
                </a:cubicBezTo>
                <a:lnTo>
                  <a:pt x="0" y="64252"/>
                </a:lnTo>
                <a:cubicBezTo>
                  <a:pt x="0" y="28791"/>
                  <a:pt x="28791" y="0"/>
                  <a:pt x="6425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857311" y="4586055"/>
            <a:ext cx="1485850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18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₹85K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881406" y="4843067"/>
            <a:ext cx="1437660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Price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4718" y="4489676"/>
            <a:ext cx="1582229" cy="578277"/>
          </a:xfrm>
          <a:custGeom>
            <a:avLst/>
            <a:gdLst/>
            <a:ahLst/>
            <a:cxnLst/>
            <a:rect l="l" t="t" r="r" b="b"/>
            <a:pathLst>
              <a:path w="1582229" h="578277">
                <a:moveTo>
                  <a:pt x="64252" y="0"/>
                </a:moveTo>
                <a:lnTo>
                  <a:pt x="1517977" y="0"/>
                </a:lnTo>
                <a:cubicBezTo>
                  <a:pt x="1553463" y="0"/>
                  <a:pt x="1582229" y="28767"/>
                  <a:pt x="1582229" y="64252"/>
                </a:cubicBezTo>
                <a:lnTo>
                  <a:pt x="1582229" y="514024"/>
                </a:lnTo>
                <a:cubicBezTo>
                  <a:pt x="1582229" y="549510"/>
                  <a:pt x="1553463" y="578277"/>
                  <a:pt x="1517977" y="578277"/>
                </a:cubicBezTo>
                <a:lnTo>
                  <a:pt x="64252" y="578277"/>
                </a:lnTo>
                <a:cubicBezTo>
                  <a:pt x="28767" y="578277"/>
                  <a:pt x="0" y="549510"/>
                  <a:pt x="0" y="514024"/>
                </a:cubicBezTo>
                <a:lnTo>
                  <a:pt x="0" y="64252"/>
                </a:lnTo>
                <a:cubicBezTo>
                  <a:pt x="0" y="28791"/>
                  <a:pt x="28791" y="0"/>
                  <a:pt x="6425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532908" y="4586055"/>
            <a:ext cx="1485850" cy="25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18" b="1" dirty="0">
                <a:solidFill>
                  <a:srgbClr val="E0E2E5">
                    <a:alpha val="7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6.2h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57003" y="4843067"/>
            <a:ext cx="1437660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9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Battery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333121" y="1192696"/>
            <a:ext cx="4537866" cy="3027921"/>
          </a:xfrm>
          <a:custGeom>
            <a:avLst/>
            <a:gdLst/>
            <a:ahLst/>
            <a:cxnLst/>
            <a:rect l="l" t="t" r="r" b="b"/>
            <a:pathLst>
              <a:path w="4537866" h="3027921">
                <a:moveTo>
                  <a:pt x="96379" y="0"/>
                </a:moveTo>
                <a:lnTo>
                  <a:pt x="4441487" y="0"/>
                </a:lnTo>
                <a:cubicBezTo>
                  <a:pt x="4494715" y="0"/>
                  <a:pt x="4537866" y="43150"/>
                  <a:pt x="4537866" y="96379"/>
                </a:cubicBezTo>
                <a:lnTo>
                  <a:pt x="4537866" y="2931542"/>
                </a:lnTo>
                <a:cubicBezTo>
                  <a:pt x="4537866" y="2984771"/>
                  <a:pt x="4494715" y="3027921"/>
                  <a:pt x="4441487" y="3027921"/>
                </a:cubicBezTo>
                <a:lnTo>
                  <a:pt x="96379" y="3027921"/>
                </a:lnTo>
                <a:cubicBezTo>
                  <a:pt x="43150" y="3027921"/>
                  <a:pt x="0" y="2984771"/>
                  <a:pt x="0" y="2931542"/>
                </a:cubicBezTo>
                <a:lnTo>
                  <a:pt x="0" y="96379"/>
                </a:lnTo>
                <a:cubicBezTo>
                  <a:pt x="0" y="43186"/>
                  <a:pt x="43186" y="0"/>
                  <a:pt x="96379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7769" y="1357344"/>
            <a:ext cx="4280854" cy="224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8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Configuration Profile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497769" y="1710735"/>
            <a:ext cx="4208569" cy="514024"/>
          </a:xfrm>
          <a:custGeom>
            <a:avLst/>
            <a:gdLst/>
            <a:ahLst/>
            <a:cxnLst/>
            <a:rect l="l" t="t" r="r" b="b"/>
            <a:pathLst>
              <a:path w="4208569" h="514024">
                <a:moveTo>
                  <a:pt x="64253" y="0"/>
                </a:moveTo>
                <a:lnTo>
                  <a:pt x="4144316" y="0"/>
                </a:lnTo>
                <a:cubicBezTo>
                  <a:pt x="4179802" y="0"/>
                  <a:pt x="4208569" y="28767"/>
                  <a:pt x="4208569" y="64253"/>
                </a:cubicBezTo>
                <a:lnTo>
                  <a:pt x="4208569" y="449771"/>
                </a:lnTo>
                <a:cubicBezTo>
                  <a:pt x="4208569" y="485257"/>
                  <a:pt x="4179802" y="514024"/>
                  <a:pt x="4144316" y="514024"/>
                </a:cubicBezTo>
                <a:lnTo>
                  <a:pt x="64253" y="514024"/>
                </a:lnTo>
                <a:cubicBezTo>
                  <a:pt x="28767" y="514024"/>
                  <a:pt x="0" y="485257"/>
                  <a:pt x="0" y="449771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Text 24"/>
          <p:cNvSpPr/>
          <p:nvPr/>
        </p:nvSpPr>
        <p:spPr>
          <a:xfrm>
            <a:off x="7594148" y="1807115"/>
            <a:ext cx="26504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776301" y="1807115"/>
            <a:ext cx="883478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NVIDIA Required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94148" y="1999874"/>
            <a:ext cx="4064000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RTX 3050/3060/4060 most common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97769" y="2321138"/>
            <a:ext cx="4208569" cy="514024"/>
          </a:xfrm>
          <a:custGeom>
            <a:avLst/>
            <a:gdLst/>
            <a:ahLst/>
            <a:cxnLst/>
            <a:rect l="l" t="t" r="r" b="b"/>
            <a:pathLst>
              <a:path w="4208569" h="514024">
                <a:moveTo>
                  <a:pt x="64253" y="0"/>
                </a:moveTo>
                <a:lnTo>
                  <a:pt x="4144316" y="0"/>
                </a:lnTo>
                <a:cubicBezTo>
                  <a:pt x="4179802" y="0"/>
                  <a:pt x="4208569" y="28767"/>
                  <a:pt x="4208569" y="64253"/>
                </a:cubicBezTo>
                <a:lnTo>
                  <a:pt x="4208569" y="449771"/>
                </a:lnTo>
                <a:cubicBezTo>
                  <a:pt x="4208569" y="485257"/>
                  <a:pt x="4179802" y="514024"/>
                  <a:pt x="4144316" y="514024"/>
                </a:cubicBezTo>
                <a:lnTo>
                  <a:pt x="64253" y="514024"/>
                </a:lnTo>
                <a:cubicBezTo>
                  <a:pt x="28767" y="514024"/>
                  <a:pt x="0" y="485257"/>
                  <a:pt x="0" y="449771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1" name="Text 28"/>
          <p:cNvSpPr/>
          <p:nvPr/>
        </p:nvSpPr>
        <p:spPr>
          <a:xfrm>
            <a:off x="7594148" y="2417518"/>
            <a:ext cx="289138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903929" y="2417518"/>
            <a:ext cx="763004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16GB Standard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594148" y="2610277"/>
            <a:ext cx="4064000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68% have 16GB+, 32GB for flagship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497769" y="2931542"/>
            <a:ext cx="4208569" cy="514024"/>
          </a:xfrm>
          <a:custGeom>
            <a:avLst/>
            <a:gdLst/>
            <a:ahLst/>
            <a:cxnLst/>
            <a:rect l="l" t="t" r="r" b="b"/>
            <a:pathLst>
              <a:path w="4208569" h="514024">
                <a:moveTo>
                  <a:pt x="64253" y="0"/>
                </a:moveTo>
                <a:lnTo>
                  <a:pt x="4144316" y="0"/>
                </a:lnTo>
                <a:cubicBezTo>
                  <a:pt x="4179802" y="0"/>
                  <a:pt x="4208569" y="28767"/>
                  <a:pt x="4208569" y="64253"/>
                </a:cubicBezTo>
                <a:lnTo>
                  <a:pt x="4208569" y="449771"/>
                </a:lnTo>
                <a:cubicBezTo>
                  <a:pt x="4208569" y="485257"/>
                  <a:pt x="4179802" y="514024"/>
                  <a:pt x="4144316" y="514024"/>
                </a:cubicBezTo>
                <a:lnTo>
                  <a:pt x="64253" y="514024"/>
                </a:lnTo>
                <a:cubicBezTo>
                  <a:pt x="28767" y="514024"/>
                  <a:pt x="0" y="485257"/>
                  <a:pt x="0" y="449771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B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5" name="Text 32"/>
          <p:cNvSpPr/>
          <p:nvPr/>
        </p:nvSpPr>
        <p:spPr>
          <a:xfrm>
            <a:off x="7594148" y="3027921"/>
            <a:ext cx="417644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064436" y="3027921"/>
            <a:ext cx="602372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15.6" - 17.3"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594148" y="3220680"/>
            <a:ext cx="4064000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144Hz/165Hz high refresh rate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497769" y="3541945"/>
            <a:ext cx="4208569" cy="514024"/>
          </a:xfrm>
          <a:custGeom>
            <a:avLst/>
            <a:gdLst/>
            <a:ahLst/>
            <a:cxnLst/>
            <a:rect l="l" t="t" r="r" b="b"/>
            <a:pathLst>
              <a:path w="4208569" h="514024">
                <a:moveTo>
                  <a:pt x="64253" y="0"/>
                </a:moveTo>
                <a:lnTo>
                  <a:pt x="4144316" y="0"/>
                </a:lnTo>
                <a:cubicBezTo>
                  <a:pt x="4179802" y="0"/>
                  <a:pt x="4208569" y="28767"/>
                  <a:pt x="4208569" y="64253"/>
                </a:cubicBezTo>
                <a:lnTo>
                  <a:pt x="4208569" y="449771"/>
                </a:lnTo>
                <a:cubicBezTo>
                  <a:pt x="4208569" y="485257"/>
                  <a:pt x="4179802" y="514024"/>
                  <a:pt x="4144316" y="514024"/>
                </a:cubicBezTo>
                <a:lnTo>
                  <a:pt x="64253" y="514024"/>
                </a:lnTo>
                <a:cubicBezTo>
                  <a:pt x="28767" y="514024"/>
                  <a:pt x="0" y="485257"/>
                  <a:pt x="0" y="449771"/>
                </a:cubicBezTo>
                <a:lnTo>
                  <a:pt x="0" y="64253"/>
                </a:lnTo>
                <a:cubicBezTo>
                  <a:pt x="0" y="28767"/>
                  <a:pt x="28767" y="0"/>
                  <a:pt x="64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9" name="Text 36"/>
          <p:cNvSpPr/>
          <p:nvPr/>
        </p:nvSpPr>
        <p:spPr>
          <a:xfrm>
            <a:off x="7594148" y="3638324"/>
            <a:ext cx="425676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816836" y="3638324"/>
            <a:ext cx="843320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512GB - 1TB SSD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594148" y="3831083"/>
            <a:ext cx="4064000" cy="12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9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NVMe SSD for fast game loading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333121" y="4357154"/>
            <a:ext cx="4537866" cy="1871368"/>
          </a:xfrm>
          <a:custGeom>
            <a:avLst/>
            <a:gdLst/>
            <a:ahLst/>
            <a:cxnLst/>
            <a:rect l="l" t="t" r="r" b="b"/>
            <a:pathLst>
              <a:path w="4537866" h="1871368">
                <a:moveTo>
                  <a:pt x="96375" y="0"/>
                </a:moveTo>
                <a:lnTo>
                  <a:pt x="4441490" y="0"/>
                </a:lnTo>
                <a:cubicBezTo>
                  <a:pt x="4494717" y="0"/>
                  <a:pt x="4537866" y="43149"/>
                  <a:pt x="4537866" y="96375"/>
                </a:cubicBezTo>
                <a:lnTo>
                  <a:pt x="4537866" y="1774992"/>
                </a:lnTo>
                <a:cubicBezTo>
                  <a:pt x="4537866" y="1828219"/>
                  <a:pt x="4494717" y="1871368"/>
                  <a:pt x="4441490" y="1871368"/>
                </a:cubicBezTo>
                <a:lnTo>
                  <a:pt x="96375" y="1871368"/>
                </a:lnTo>
                <a:cubicBezTo>
                  <a:pt x="43149" y="1871368"/>
                  <a:pt x="0" y="1828219"/>
                  <a:pt x="0" y="1774992"/>
                </a:cubicBezTo>
                <a:lnTo>
                  <a:pt x="0" y="96375"/>
                </a:lnTo>
                <a:cubicBezTo>
                  <a:pt x="0" y="43184"/>
                  <a:pt x="43184" y="0"/>
                  <a:pt x="96375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65642" y="4489676"/>
            <a:ext cx="432904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Price Tiers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465642" y="4746688"/>
            <a:ext cx="4272822" cy="289138"/>
          </a:xfrm>
          <a:custGeom>
            <a:avLst/>
            <a:gdLst/>
            <a:ahLst/>
            <a:cxnLst/>
            <a:rect l="l" t="t" r="r" b="b"/>
            <a:pathLst>
              <a:path w="4272822" h="289138">
                <a:moveTo>
                  <a:pt x="32126" y="0"/>
                </a:moveTo>
                <a:lnTo>
                  <a:pt x="4240696" y="0"/>
                </a:lnTo>
                <a:cubicBezTo>
                  <a:pt x="4258439" y="0"/>
                  <a:pt x="4272822" y="14383"/>
                  <a:pt x="4272822" y="32126"/>
                </a:cubicBezTo>
                <a:lnTo>
                  <a:pt x="4272822" y="257012"/>
                </a:lnTo>
                <a:cubicBezTo>
                  <a:pt x="4272822" y="274755"/>
                  <a:pt x="4258439" y="289138"/>
                  <a:pt x="4240696" y="289138"/>
                </a:cubicBezTo>
                <a:lnTo>
                  <a:pt x="32126" y="289138"/>
                </a:lnTo>
                <a:cubicBezTo>
                  <a:pt x="14383" y="289138"/>
                  <a:pt x="0" y="274755"/>
                  <a:pt x="0" y="257012"/>
                </a:cubicBezTo>
                <a:lnTo>
                  <a:pt x="0" y="32126"/>
                </a:lnTo>
                <a:cubicBezTo>
                  <a:pt x="0" y="14395"/>
                  <a:pt x="14395" y="0"/>
                  <a:pt x="321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7529895" y="4810941"/>
            <a:ext cx="70678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 Gaming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1187169" y="4810941"/>
            <a:ext cx="538119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₹55K-75K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465642" y="5100079"/>
            <a:ext cx="4272822" cy="289138"/>
          </a:xfrm>
          <a:custGeom>
            <a:avLst/>
            <a:gdLst/>
            <a:ahLst/>
            <a:cxnLst/>
            <a:rect l="l" t="t" r="r" b="b"/>
            <a:pathLst>
              <a:path w="4272822" h="289138">
                <a:moveTo>
                  <a:pt x="32126" y="0"/>
                </a:moveTo>
                <a:lnTo>
                  <a:pt x="4240696" y="0"/>
                </a:lnTo>
                <a:cubicBezTo>
                  <a:pt x="4258439" y="0"/>
                  <a:pt x="4272822" y="14383"/>
                  <a:pt x="4272822" y="32126"/>
                </a:cubicBezTo>
                <a:lnTo>
                  <a:pt x="4272822" y="257012"/>
                </a:lnTo>
                <a:cubicBezTo>
                  <a:pt x="4272822" y="274755"/>
                  <a:pt x="4258439" y="289138"/>
                  <a:pt x="4240696" y="289138"/>
                </a:cubicBezTo>
                <a:lnTo>
                  <a:pt x="32126" y="289138"/>
                </a:lnTo>
                <a:cubicBezTo>
                  <a:pt x="14383" y="289138"/>
                  <a:pt x="0" y="274755"/>
                  <a:pt x="0" y="257012"/>
                </a:cubicBezTo>
                <a:lnTo>
                  <a:pt x="0" y="32126"/>
                </a:lnTo>
                <a:cubicBezTo>
                  <a:pt x="0" y="14395"/>
                  <a:pt x="14395" y="0"/>
                  <a:pt x="321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529895" y="5164332"/>
            <a:ext cx="642530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 Gaming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163827" y="5164332"/>
            <a:ext cx="56221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₹75K-110K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465642" y="5453470"/>
            <a:ext cx="4272822" cy="289138"/>
          </a:xfrm>
          <a:custGeom>
            <a:avLst/>
            <a:gdLst/>
            <a:ahLst/>
            <a:cxnLst/>
            <a:rect l="l" t="t" r="r" b="b"/>
            <a:pathLst>
              <a:path w="4272822" h="289138">
                <a:moveTo>
                  <a:pt x="32126" y="0"/>
                </a:moveTo>
                <a:lnTo>
                  <a:pt x="4240696" y="0"/>
                </a:lnTo>
                <a:cubicBezTo>
                  <a:pt x="4258439" y="0"/>
                  <a:pt x="4272822" y="14383"/>
                  <a:pt x="4272822" y="32126"/>
                </a:cubicBezTo>
                <a:lnTo>
                  <a:pt x="4272822" y="257012"/>
                </a:lnTo>
                <a:cubicBezTo>
                  <a:pt x="4272822" y="274755"/>
                  <a:pt x="4258439" y="289138"/>
                  <a:pt x="4240696" y="289138"/>
                </a:cubicBezTo>
                <a:lnTo>
                  <a:pt x="32126" y="289138"/>
                </a:lnTo>
                <a:cubicBezTo>
                  <a:pt x="14383" y="289138"/>
                  <a:pt x="0" y="274755"/>
                  <a:pt x="0" y="257012"/>
                </a:cubicBezTo>
                <a:lnTo>
                  <a:pt x="0" y="32126"/>
                </a:lnTo>
                <a:cubicBezTo>
                  <a:pt x="0" y="14395"/>
                  <a:pt x="14395" y="0"/>
                  <a:pt x="321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529895" y="5517723"/>
            <a:ext cx="682688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Gaming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1104343" y="5517723"/>
            <a:ext cx="626466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₹110K-180K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7465642" y="5806862"/>
            <a:ext cx="4272822" cy="289138"/>
          </a:xfrm>
          <a:custGeom>
            <a:avLst/>
            <a:gdLst/>
            <a:ahLst/>
            <a:cxnLst/>
            <a:rect l="l" t="t" r="r" b="b"/>
            <a:pathLst>
              <a:path w="4272822" h="289138">
                <a:moveTo>
                  <a:pt x="32126" y="0"/>
                </a:moveTo>
                <a:lnTo>
                  <a:pt x="4240696" y="0"/>
                </a:lnTo>
                <a:cubicBezTo>
                  <a:pt x="4258439" y="0"/>
                  <a:pt x="4272822" y="14383"/>
                  <a:pt x="4272822" y="32126"/>
                </a:cubicBezTo>
                <a:lnTo>
                  <a:pt x="4272822" y="257012"/>
                </a:lnTo>
                <a:cubicBezTo>
                  <a:pt x="4272822" y="274755"/>
                  <a:pt x="4258439" y="289138"/>
                  <a:pt x="4240696" y="289138"/>
                </a:cubicBezTo>
                <a:lnTo>
                  <a:pt x="32126" y="289138"/>
                </a:lnTo>
                <a:cubicBezTo>
                  <a:pt x="14383" y="289138"/>
                  <a:pt x="0" y="274755"/>
                  <a:pt x="0" y="257012"/>
                </a:cubicBezTo>
                <a:lnTo>
                  <a:pt x="0" y="32126"/>
                </a:lnTo>
                <a:cubicBezTo>
                  <a:pt x="0" y="14395"/>
                  <a:pt x="14395" y="0"/>
                  <a:pt x="3212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7529895" y="5871115"/>
            <a:ext cx="449771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Flagship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1314671" y="5871115"/>
            <a:ext cx="409613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₹180K+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325281" y="7258201"/>
            <a:ext cx="11541439" cy="361423"/>
          </a:xfrm>
          <a:custGeom>
            <a:avLst/>
            <a:gdLst/>
            <a:ahLst/>
            <a:cxnLst/>
            <a:rect l="l" t="t" r="r" b="b"/>
            <a:pathLst>
              <a:path w="11541439" h="361423">
                <a:moveTo>
                  <a:pt x="64254" y="0"/>
                </a:moveTo>
                <a:lnTo>
                  <a:pt x="11477185" y="0"/>
                </a:lnTo>
                <a:cubicBezTo>
                  <a:pt x="11512671" y="0"/>
                  <a:pt x="11541439" y="28767"/>
                  <a:pt x="11541439" y="64254"/>
                </a:cubicBezTo>
                <a:lnTo>
                  <a:pt x="11541439" y="297169"/>
                </a:lnTo>
                <a:cubicBezTo>
                  <a:pt x="11541439" y="332656"/>
                  <a:pt x="11512671" y="361423"/>
                  <a:pt x="11477185" y="361423"/>
                </a:cubicBezTo>
                <a:lnTo>
                  <a:pt x="64254" y="361423"/>
                </a:lnTo>
                <a:cubicBezTo>
                  <a:pt x="28767" y="361423"/>
                  <a:pt x="0" y="332656"/>
                  <a:pt x="0" y="297169"/>
                </a:cubicBezTo>
                <a:lnTo>
                  <a:pt x="0" y="64254"/>
                </a:lnTo>
                <a:cubicBezTo>
                  <a:pt x="0" y="28767"/>
                  <a:pt x="28767" y="0"/>
                  <a:pt x="64254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25676" y="7358596"/>
            <a:ext cx="200791" cy="160632"/>
          </a:xfrm>
          <a:custGeom>
            <a:avLst/>
            <a:gdLst/>
            <a:ahLst/>
            <a:cxnLst/>
            <a:rect l="l" t="t" r="r" b="b"/>
            <a:pathLst>
              <a:path w="200791" h="160632">
                <a:moveTo>
                  <a:pt x="140553" y="20079"/>
                </a:moveTo>
                <a:cubicBezTo>
                  <a:pt x="173809" y="20079"/>
                  <a:pt x="200791" y="47060"/>
                  <a:pt x="200791" y="80316"/>
                </a:cubicBezTo>
                <a:cubicBezTo>
                  <a:pt x="200791" y="113572"/>
                  <a:pt x="173809" y="140553"/>
                  <a:pt x="140553" y="140553"/>
                </a:cubicBezTo>
                <a:lnTo>
                  <a:pt x="60237" y="140553"/>
                </a:lnTo>
                <a:cubicBezTo>
                  <a:pt x="26981" y="140553"/>
                  <a:pt x="0" y="113572"/>
                  <a:pt x="0" y="80316"/>
                </a:cubicBezTo>
                <a:cubicBezTo>
                  <a:pt x="0" y="47060"/>
                  <a:pt x="26981" y="20079"/>
                  <a:pt x="60237" y="20079"/>
                </a:cubicBezTo>
                <a:lnTo>
                  <a:pt x="140553" y="20079"/>
                </a:lnTo>
                <a:close/>
                <a:moveTo>
                  <a:pt x="60237" y="55217"/>
                </a:moveTo>
                <a:cubicBezTo>
                  <a:pt x="56064" y="55217"/>
                  <a:pt x="52708" y="58574"/>
                  <a:pt x="52708" y="62747"/>
                </a:cubicBezTo>
                <a:lnTo>
                  <a:pt x="52708" y="72787"/>
                </a:lnTo>
                <a:lnTo>
                  <a:pt x="42668" y="72787"/>
                </a:lnTo>
                <a:cubicBezTo>
                  <a:pt x="38495" y="72787"/>
                  <a:pt x="35138" y="76144"/>
                  <a:pt x="35138" y="80316"/>
                </a:cubicBezTo>
                <a:cubicBezTo>
                  <a:pt x="35138" y="84489"/>
                  <a:pt x="38495" y="87846"/>
                  <a:pt x="42668" y="87846"/>
                </a:cubicBezTo>
                <a:lnTo>
                  <a:pt x="52708" y="87846"/>
                </a:lnTo>
                <a:lnTo>
                  <a:pt x="52708" y="97885"/>
                </a:lnTo>
                <a:cubicBezTo>
                  <a:pt x="52708" y="102058"/>
                  <a:pt x="56064" y="105415"/>
                  <a:pt x="60237" y="105415"/>
                </a:cubicBezTo>
                <a:cubicBezTo>
                  <a:pt x="64410" y="105415"/>
                  <a:pt x="67767" y="102058"/>
                  <a:pt x="67767" y="97885"/>
                </a:cubicBezTo>
                <a:lnTo>
                  <a:pt x="67767" y="87846"/>
                </a:lnTo>
                <a:lnTo>
                  <a:pt x="77806" y="87846"/>
                </a:lnTo>
                <a:cubicBezTo>
                  <a:pt x="81979" y="87846"/>
                  <a:pt x="85336" y="84489"/>
                  <a:pt x="85336" y="80316"/>
                </a:cubicBezTo>
                <a:cubicBezTo>
                  <a:pt x="85336" y="76144"/>
                  <a:pt x="81979" y="72787"/>
                  <a:pt x="77806" y="72787"/>
                </a:cubicBezTo>
                <a:lnTo>
                  <a:pt x="67767" y="72787"/>
                </a:lnTo>
                <a:lnTo>
                  <a:pt x="67767" y="62747"/>
                </a:lnTo>
                <a:cubicBezTo>
                  <a:pt x="67767" y="58574"/>
                  <a:pt x="64410" y="55217"/>
                  <a:pt x="60237" y="55217"/>
                </a:cubicBezTo>
                <a:close/>
                <a:moveTo>
                  <a:pt x="135534" y="85336"/>
                </a:moveTo>
                <a:cubicBezTo>
                  <a:pt x="129993" y="85336"/>
                  <a:pt x="125494" y="89835"/>
                  <a:pt x="125494" y="95375"/>
                </a:cubicBezTo>
                <a:cubicBezTo>
                  <a:pt x="125494" y="100916"/>
                  <a:pt x="129993" y="105415"/>
                  <a:pt x="135534" y="105415"/>
                </a:cubicBezTo>
                <a:cubicBezTo>
                  <a:pt x="141075" y="105415"/>
                  <a:pt x="145573" y="100916"/>
                  <a:pt x="145573" y="95375"/>
                </a:cubicBezTo>
                <a:cubicBezTo>
                  <a:pt x="145573" y="89835"/>
                  <a:pt x="141075" y="85336"/>
                  <a:pt x="135534" y="85336"/>
                </a:cubicBezTo>
                <a:close/>
                <a:moveTo>
                  <a:pt x="155613" y="55217"/>
                </a:moveTo>
                <a:cubicBezTo>
                  <a:pt x="150072" y="55217"/>
                  <a:pt x="145573" y="59716"/>
                  <a:pt x="145573" y="65257"/>
                </a:cubicBezTo>
                <a:cubicBezTo>
                  <a:pt x="145573" y="70798"/>
                  <a:pt x="150072" y="75296"/>
                  <a:pt x="155613" y="75296"/>
                </a:cubicBezTo>
                <a:cubicBezTo>
                  <a:pt x="161154" y="75296"/>
                  <a:pt x="165652" y="70798"/>
                  <a:pt x="165652" y="65257"/>
                </a:cubicBezTo>
                <a:cubicBezTo>
                  <a:pt x="165652" y="59716"/>
                  <a:pt x="161154" y="55217"/>
                  <a:pt x="155613" y="55217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58" name="Text 55"/>
          <p:cNvSpPr/>
          <p:nvPr/>
        </p:nvSpPr>
        <p:spPr>
          <a:xfrm>
            <a:off x="722846" y="7358596"/>
            <a:ext cx="9533534" cy="16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Gaming Insight:</a:t>
            </a:r>
            <a:r>
              <a:rPr lang="en-US" sz="885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Gaming laptops command 17% price premium over mainstream. RTX 4060 emerges as sweet spot at ₹85K-100K. Brand leaders: ASUS ROG (28%), MSI (22%), Lenovo Legion (18%).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729" y="337729"/>
            <a:ext cx="337729" cy="337729"/>
          </a:xfrm>
          <a:custGeom>
            <a:avLst/>
            <a:gdLst/>
            <a:ahLst/>
            <a:cxnLst/>
            <a:rect l="l" t="t" r="r" b="b"/>
            <a:pathLst>
              <a:path w="337729" h="337729">
                <a:moveTo>
                  <a:pt x="67546" y="0"/>
                </a:moveTo>
                <a:lnTo>
                  <a:pt x="270183" y="0"/>
                </a:lnTo>
                <a:cubicBezTo>
                  <a:pt x="307462" y="0"/>
                  <a:pt x="337729" y="30266"/>
                  <a:pt x="337729" y="67546"/>
                </a:cubicBezTo>
                <a:lnTo>
                  <a:pt x="337729" y="270183"/>
                </a:lnTo>
                <a:cubicBezTo>
                  <a:pt x="337729" y="307462"/>
                  <a:pt x="307462" y="337729"/>
                  <a:pt x="270183" y="337729"/>
                </a:cubicBezTo>
                <a:lnTo>
                  <a:pt x="67546" y="337729"/>
                </a:lnTo>
                <a:cubicBezTo>
                  <a:pt x="30266" y="337729"/>
                  <a:pt x="0" y="307462"/>
                  <a:pt x="0" y="270183"/>
                </a:cubicBezTo>
                <a:lnTo>
                  <a:pt x="0" y="67546"/>
                </a:lnTo>
                <a:cubicBezTo>
                  <a:pt x="0" y="30241"/>
                  <a:pt x="30241" y="0"/>
                  <a:pt x="67546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6752" y="388388"/>
            <a:ext cx="253296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0997" y="367280"/>
            <a:ext cx="1207380" cy="278626"/>
          </a:xfrm>
          <a:custGeom>
            <a:avLst/>
            <a:gdLst/>
            <a:ahLst/>
            <a:cxnLst/>
            <a:rect l="l" t="t" r="r" b="b"/>
            <a:pathLst>
              <a:path w="1207380" h="278626">
                <a:moveTo>
                  <a:pt x="139313" y="0"/>
                </a:moveTo>
                <a:lnTo>
                  <a:pt x="1068066" y="0"/>
                </a:lnTo>
                <a:cubicBezTo>
                  <a:pt x="1145007" y="0"/>
                  <a:pt x="1207380" y="62373"/>
                  <a:pt x="1207380" y="139313"/>
                </a:cubicBezTo>
                <a:lnTo>
                  <a:pt x="1207380" y="139313"/>
                </a:lnTo>
                <a:cubicBezTo>
                  <a:pt x="1207380" y="216253"/>
                  <a:pt x="1145007" y="278626"/>
                  <a:pt x="1068066" y="278626"/>
                </a:cubicBezTo>
                <a:lnTo>
                  <a:pt x="139313" y="278626"/>
                </a:lnTo>
                <a:cubicBezTo>
                  <a:pt x="62424" y="278626"/>
                  <a:pt x="0" y="216202"/>
                  <a:pt x="0" y="139313"/>
                </a:cubicBezTo>
                <a:lnTo>
                  <a:pt x="0" y="139313"/>
                </a:lnTo>
                <a:cubicBezTo>
                  <a:pt x="0" y="62424"/>
                  <a:pt x="62424" y="0"/>
                  <a:pt x="139313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537" y="464377"/>
            <a:ext cx="1044320" cy="109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98" b="1" kern="0" spc="4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7729" y="743003"/>
            <a:ext cx="11668521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Segment Analysis: Value Optimization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1950" y="1253817"/>
            <a:ext cx="5665396" cy="3048000"/>
          </a:xfrm>
          <a:custGeom>
            <a:avLst/>
            <a:gdLst/>
            <a:ahLst/>
            <a:cxnLst/>
            <a:rect l="l" t="t" r="r" b="b"/>
            <a:pathLst>
              <a:path w="5665396" h="3048000">
                <a:moveTo>
                  <a:pt x="101316" y="0"/>
                </a:moveTo>
                <a:lnTo>
                  <a:pt x="5564081" y="0"/>
                </a:lnTo>
                <a:cubicBezTo>
                  <a:pt x="5620036" y="0"/>
                  <a:pt x="5665396" y="45361"/>
                  <a:pt x="5665396" y="101316"/>
                </a:cubicBezTo>
                <a:lnTo>
                  <a:pt x="5665396" y="2946684"/>
                </a:lnTo>
                <a:cubicBezTo>
                  <a:pt x="5665396" y="3002639"/>
                  <a:pt x="5620036" y="3048000"/>
                  <a:pt x="5564081" y="3048000"/>
                </a:cubicBezTo>
                <a:lnTo>
                  <a:pt x="101316" y="3048000"/>
                </a:lnTo>
                <a:cubicBezTo>
                  <a:pt x="45361" y="3048000"/>
                  <a:pt x="0" y="3002639"/>
                  <a:pt x="0" y="2946684"/>
                </a:cubicBezTo>
                <a:lnTo>
                  <a:pt x="0" y="101316"/>
                </a:lnTo>
                <a:cubicBezTo>
                  <a:pt x="0" y="45361"/>
                  <a:pt x="45361" y="0"/>
                  <a:pt x="101316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5036" y="1426903"/>
            <a:ext cx="5395213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Segment Brand Distribution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1950" y="4445352"/>
            <a:ext cx="5665396" cy="1190493"/>
          </a:xfrm>
          <a:custGeom>
            <a:avLst/>
            <a:gdLst/>
            <a:ahLst/>
            <a:cxnLst/>
            <a:rect l="l" t="t" r="r" b="b"/>
            <a:pathLst>
              <a:path w="5665396" h="1190493">
                <a:moveTo>
                  <a:pt x="101323" y="0"/>
                </a:moveTo>
                <a:lnTo>
                  <a:pt x="5564073" y="0"/>
                </a:lnTo>
                <a:cubicBezTo>
                  <a:pt x="5620032" y="0"/>
                  <a:pt x="5665396" y="45364"/>
                  <a:pt x="5665396" y="101323"/>
                </a:cubicBezTo>
                <a:lnTo>
                  <a:pt x="5665396" y="1089170"/>
                </a:lnTo>
                <a:cubicBezTo>
                  <a:pt x="5665396" y="1145129"/>
                  <a:pt x="5620032" y="1190493"/>
                  <a:pt x="5564073" y="1190493"/>
                </a:cubicBezTo>
                <a:lnTo>
                  <a:pt x="101323" y="1190493"/>
                </a:lnTo>
                <a:cubicBezTo>
                  <a:pt x="45364" y="1190493"/>
                  <a:pt x="0" y="1145129"/>
                  <a:pt x="0" y="1089170"/>
                </a:cubicBezTo>
                <a:lnTo>
                  <a:pt x="0" y="101323"/>
                </a:lnTo>
                <a:cubicBezTo>
                  <a:pt x="0" y="45401"/>
                  <a:pt x="45401" y="0"/>
                  <a:pt x="10132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1263" y="4584665"/>
            <a:ext cx="545431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Segment Overview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1263" y="4888620"/>
            <a:ext cx="1266482" cy="607911"/>
          </a:xfrm>
          <a:custGeom>
            <a:avLst/>
            <a:gdLst/>
            <a:ahLst/>
            <a:cxnLst/>
            <a:rect l="l" t="t" r="r" b="b"/>
            <a:pathLst>
              <a:path w="1266482" h="607911">
                <a:moveTo>
                  <a:pt x="67545" y="0"/>
                </a:moveTo>
                <a:lnTo>
                  <a:pt x="1198937" y="0"/>
                </a:lnTo>
                <a:cubicBezTo>
                  <a:pt x="1236241" y="0"/>
                  <a:pt x="1266482" y="30241"/>
                  <a:pt x="1266482" y="67545"/>
                </a:cubicBezTo>
                <a:lnTo>
                  <a:pt x="1266482" y="540366"/>
                </a:lnTo>
                <a:cubicBezTo>
                  <a:pt x="1266482" y="577670"/>
                  <a:pt x="1236241" y="607911"/>
                  <a:pt x="1198937" y="607911"/>
                </a:cubicBezTo>
                <a:lnTo>
                  <a:pt x="67545" y="607911"/>
                </a:lnTo>
                <a:cubicBezTo>
                  <a:pt x="30241" y="607911"/>
                  <a:pt x="0" y="577670"/>
                  <a:pt x="0" y="540366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31922" y="4989939"/>
            <a:ext cx="116516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6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7252" y="5260122"/>
            <a:ext cx="1114504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52758" y="4888620"/>
            <a:ext cx="1266482" cy="607911"/>
          </a:xfrm>
          <a:custGeom>
            <a:avLst/>
            <a:gdLst/>
            <a:ahLst/>
            <a:cxnLst/>
            <a:rect l="l" t="t" r="r" b="b"/>
            <a:pathLst>
              <a:path w="1266482" h="607911">
                <a:moveTo>
                  <a:pt x="67545" y="0"/>
                </a:moveTo>
                <a:lnTo>
                  <a:pt x="1198937" y="0"/>
                </a:lnTo>
                <a:cubicBezTo>
                  <a:pt x="1236241" y="0"/>
                  <a:pt x="1266482" y="30241"/>
                  <a:pt x="1266482" y="67545"/>
                </a:cubicBezTo>
                <a:lnTo>
                  <a:pt x="1266482" y="540366"/>
                </a:lnTo>
                <a:cubicBezTo>
                  <a:pt x="1266482" y="577670"/>
                  <a:pt x="1236241" y="607911"/>
                  <a:pt x="1198937" y="607911"/>
                </a:cubicBezTo>
                <a:lnTo>
                  <a:pt x="67545" y="607911"/>
                </a:lnTo>
                <a:cubicBezTo>
                  <a:pt x="30241" y="607911"/>
                  <a:pt x="0" y="577670"/>
                  <a:pt x="0" y="540366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903417" y="4989939"/>
            <a:ext cx="116516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6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25%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928747" y="5260122"/>
            <a:ext cx="1114504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Share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24252" y="4888620"/>
            <a:ext cx="1266482" cy="607911"/>
          </a:xfrm>
          <a:custGeom>
            <a:avLst/>
            <a:gdLst/>
            <a:ahLst/>
            <a:cxnLst/>
            <a:rect l="l" t="t" r="r" b="b"/>
            <a:pathLst>
              <a:path w="1266482" h="607911">
                <a:moveTo>
                  <a:pt x="67545" y="0"/>
                </a:moveTo>
                <a:lnTo>
                  <a:pt x="1198937" y="0"/>
                </a:lnTo>
                <a:cubicBezTo>
                  <a:pt x="1236241" y="0"/>
                  <a:pt x="1266482" y="30241"/>
                  <a:pt x="1266482" y="67545"/>
                </a:cubicBezTo>
                <a:lnTo>
                  <a:pt x="1266482" y="540366"/>
                </a:lnTo>
                <a:cubicBezTo>
                  <a:pt x="1266482" y="577670"/>
                  <a:pt x="1236241" y="607911"/>
                  <a:pt x="1198937" y="607911"/>
                </a:cubicBezTo>
                <a:lnTo>
                  <a:pt x="67545" y="607911"/>
                </a:lnTo>
                <a:cubicBezTo>
                  <a:pt x="30241" y="607911"/>
                  <a:pt x="0" y="577670"/>
                  <a:pt x="0" y="540366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274911" y="4989939"/>
            <a:ext cx="116516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6" b="1" dirty="0">
                <a:solidFill>
                  <a:srgbClr val="5F6B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₹28.5K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300241" y="5260122"/>
            <a:ext cx="1114504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Price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95747" y="4888620"/>
            <a:ext cx="1266482" cy="607911"/>
          </a:xfrm>
          <a:custGeom>
            <a:avLst/>
            <a:gdLst/>
            <a:ahLst/>
            <a:cxnLst/>
            <a:rect l="l" t="t" r="r" b="b"/>
            <a:pathLst>
              <a:path w="1266482" h="607911">
                <a:moveTo>
                  <a:pt x="67545" y="0"/>
                </a:moveTo>
                <a:lnTo>
                  <a:pt x="1198937" y="0"/>
                </a:lnTo>
                <a:cubicBezTo>
                  <a:pt x="1236241" y="0"/>
                  <a:pt x="1266482" y="30241"/>
                  <a:pt x="1266482" y="67545"/>
                </a:cubicBezTo>
                <a:lnTo>
                  <a:pt x="1266482" y="540366"/>
                </a:lnTo>
                <a:cubicBezTo>
                  <a:pt x="1266482" y="577670"/>
                  <a:pt x="1236241" y="607911"/>
                  <a:pt x="1198937" y="607911"/>
                </a:cubicBezTo>
                <a:lnTo>
                  <a:pt x="67545" y="607911"/>
                </a:lnTo>
                <a:cubicBezTo>
                  <a:pt x="30241" y="607911"/>
                  <a:pt x="0" y="577670"/>
                  <a:pt x="0" y="540366"/>
                </a:cubicBezTo>
                <a:lnTo>
                  <a:pt x="0" y="67545"/>
                </a:lnTo>
                <a:cubicBezTo>
                  <a:pt x="0" y="30266"/>
                  <a:pt x="30266" y="0"/>
                  <a:pt x="6754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646406" y="4989939"/>
            <a:ext cx="116516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96" b="1" dirty="0">
                <a:solidFill>
                  <a:srgbClr val="E0E2E5">
                    <a:alpha val="70000"/>
                  </a:srgbClr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8.5h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71735" y="5260122"/>
            <a:ext cx="1114504" cy="135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98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Battery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82675" y="1253817"/>
            <a:ext cx="5665396" cy="4939280"/>
          </a:xfrm>
          <a:custGeom>
            <a:avLst/>
            <a:gdLst/>
            <a:ahLst/>
            <a:cxnLst/>
            <a:rect l="l" t="t" r="r" b="b"/>
            <a:pathLst>
              <a:path w="5665396" h="4939280">
                <a:moveTo>
                  <a:pt x="101305" y="0"/>
                </a:moveTo>
                <a:lnTo>
                  <a:pt x="5564091" y="0"/>
                </a:lnTo>
                <a:cubicBezTo>
                  <a:pt x="5620040" y="0"/>
                  <a:pt x="5665396" y="45356"/>
                  <a:pt x="5665396" y="101305"/>
                </a:cubicBezTo>
                <a:lnTo>
                  <a:pt x="5665396" y="4837975"/>
                </a:lnTo>
                <a:cubicBezTo>
                  <a:pt x="5665396" y="4893924"/>
                  <a:pt x="5620040" y="4939280"/>
                  <a:pt x="5564091" y="4939280"/>
                </a:cubicBezTo>
                <a:lnTo>
                  <a:pt x="101305" y="4939280"/>
                </a:lnTo>
                <a:cubicBezTo>
                  <a:pt x="45356" y="4939280"/>
                  <a:pt x="0" y="4893924"/>
                  <a:pt x="0" y="4837975"/>
                </a:cubicBezTo>
                <a:lnTo>
                  <a:pt x="0" y="101305"/>
                </a:lnTo>
                <a:cubicBezTo>
                  <a:pt x="0" y="45393"/>
                  <a:pt x="45393" y="0"/>
                  <a:pt x="101305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761" y="1426903"/>
            <a:ext cx="5395213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7" b="1" dirty="0">
                <a:solidFill>
                  <a:srgbClr val="4C8D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Budget Configuration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72647" y="1798404"/>
            <a:ext cx="5302338" cy="979413"/>
          </a:xfrm>
          <a:custGeom>
            <a:avLst/>
            <a:gdLst/>
            <a:ahLst/>
            <a:cxnLst/>
            <a:rect l="l" t="t" r="r" b="b"/>
            <a:pathLst>
              <a:path w="5302338" h="979413">
                <a:moveTo>
                  <a:pt x="33773" y="0"/>
                </a:moveTo>
                <a:lnTo>
                  <a:pt x="5234788" y="0"/>
                </a:lnTo>
                <a:cubicBezTo>
                  <a:pt x="5272095" y="0"/>
                  <a:pt x="5302338" y="30243"/>
                  <a:pt x="5302338" y="67550"/>
                </a:cubicBezTo>
                <a:lnTo>
                  <a:pt x="5302338" y="911863"/>
                </a:lnTo>
                <a:cubicBezTo>
                  <a:pt x="5302338" y="949170"/>
                  <a:pt x="5272095" y="979413"/>
                  <a:pt x="5234788" y="979413"/>
                </a:cubicBez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6372647" y="1798404"/>
            <a:ext cx="33773" cy="979413"/>
          </a:xfrm>
          <a:custGeom>
            <a:avLst/>
            <a:gdLst/>
            <a:ahLst/>
            <a:cxnLst/>
            <a:rect l="l" t="t" r="r" b="b"/>
            <a:pathLst>
              <a:path w="33773" h="979413">
                <a:moveTo>
                  <a:pt x="33773" y="0"/>
                </a:moveTo>
                <a:lnTo>
                  <a:pt x="33773" y="0"/>
                </a:lnTo>
                <a:lnTo>
                  <a:pt x="33773" y="979413"/>
                </a:ln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28" name="Shape 25"/>
          <p:cNvSpPr/>
          <p:nvPr/>
        </p:nvSpPr>
        <p:spPr>
          <a:xfrm>
            <a:off x="6545733" y="1958825"/>
            <a:ext cx="151978" cy="151978"/>
          </a:xfrm>
          <a:custGeom>
            <a:avLst/>
            <a:gdLst/>
            <a:ahLst/>
            <a:cxnLst/>
            <a:rect l="l" t="t" r="r" b="b"/>
            <a:pathLst>
              <a:path w="151978" h="151978">
                <a:moveTo>
                  <a:pt x="52242" y="7124"/>
                </a:moveTo>
                <a:cubicBezTo>
                  <a:pt x="52242" y="3176"/>
                  <a:pt x="49066" y="0"/>
                  <a:pt x="45118" y="0"/>
                </a:cubicBezTo>
                <a:cubicBezTo>
                  <a:pt x="41171" y="0"/>
                  <a:pt x="37994" y="3176"/>
                  <a:pt x="37994" y="7124"/>
                </a:cubicBezTo>
                <a:lnTo>
                  <a:pt x="37994" y="18997"/>
                </a:lnTo>
                <a:cubicBezTo>
                  <a:pt x="27516" y="18997"/>
                  <a:pt x="18997" y="27516"/>
                  <a:pt x="18997" y="37994"/>
                </a:cubicBezTo>
                <a:lnTo>
                  <a:pt x="7124" y="37994"/>
                </a:lnTo>
                <a:cubicBezTo>
                  <a:pt x="3176" y="37994"/>
                  <a:pt x="0" y="41171"/>
                  <a:pt x="0" y="45118"/>
                </a:cubicBezTo>
                <a:cubicBezTo>
                  <a:pt x="0" y="49066"/>
                  <a:pt x="3176" y="52242"/>
                  <a:pt x="7124" y="52242"/>
                </a:cubicBezTo>
                <a:lnTo>
                  <a:pt x="18997" y="52242"/>
                </a:lnTo>
                <a:lnTo>
                  <a:pt x="18997" y="68865"/>
                </a:lnTo>
                <a:lnTo>
                  <a:pt x="7124" y="68865"/>
                </a:lnTo>
                <a:cubicBezTo>
                  <a:pt x="3176" y="68865"/>
                  <a:pt x="0" y="72041"/>
                  <a:pt x="0" y="75989"/>
                </a:cubicBezTo>
                <a:cubicBezTo>
                  <a:pt x="0" y="79937"/>
                  <a:pt x="3176" y="83113"/>
                  <a:pt x="7124" y="83113"/>
                </a:cubicBezTo>
                <a:lnTo>
                  <a:pt x="18997" y="83113"/>
                </a:lnTo>
                <a:lnTo>
                  <a:pt x="18997" y="99735"/>
                </a:lnTo>
                <a:lnTo>
                  <a:pt x="7124" y="99735"/>
                </a:lnTo>
                <a:cubicBezTo>
                  <a:pt x="3176" y="99735"/>
                  <a:pt x="0" y="102912"/>
                  <a:pt x="0" y="106859"/>
                </a:cubicBezTo>
                <a:cubicBezTo>
                  <a:pt x="0" y="110807"/>
                  <a:pt x="3176" y="113983"/>
                  <a:pt x="7124" y="113983"/>
                </a:cubicBezTo>
                <a:lnTo>
                  <a:pt x="18997" y="113983"/>
                </a:lnTo>
                <a:cubicBezTo>
                  <a:pt x="18997" y="124462"/>
                  <a:pt x="27516" y="132981"/>
                  <a:pt x="37994" y="132981"/>
                </a:cubicBezTo>
                <a:lnTo>
                  <a:pt x="37994" y="144854"/>
                </a:lnTo>
                <a:cubicBezTo>
                  <a:pt x="37994" y="148802"/>
                  <a:pt x="41171" y="151978"/>
                  <a:pt x="45118" y="151978"/>
                </a:cubicBezTo>
                <a:cubicBezTo>
                  <a:pt x="49066" y="151978"/>
                  <a:pt x="52242" y="148802"/>
                  <a:pt x="52242" y="144854"/>
                </a:cubicBezTo>
                <a:lnTo>
                  <a:pt x="52242" y="132981"/>
                </a:lnTo>
                <a:lnTo>
                  <a:pt x="68865" y="132981"/>
                </a:lnTo>
                <a:lnTo>
                  <a:pt x="68865" y="144854"/>
                </a:lnTo>
                <a:cubicBezTo>
                  <a:pt x="68865" y="148802"/>
                  <a:pt x="72041" y="151978"/>
                  <a:pt x="75989" y="151978"/>
                </a:cubicBezTo>
                <a:cubicBezTo>
                  <a:pt x="79937" y="151978"/>
                  <a:pt x="83113" y="148802"/>
                  <a:pt x="83113" y="144854"/>
                </a:cubicBezTo>
                <a:lnTo>
                  <a:pt x="83113" y="132981"/>
                </a:lnTo>
                <a:lnTo>
                  <a:pt x="99735" y="132981"/>
                </a:lnTo>
                <a:lnTo>
                  <a:pt x="99735" y="144854"/>
                </a:lnTo>
                <a:cubicBezTo>
                  <a:pt x="99735" y="148802"/>
                  <a:pt x="102912" y="151978"/>
                  <a:pt x="106859" y="151978"/>
                </a:cubicBezTo>
                <a:cubicBezTo>
                  <a:pt x="110807" y="151978"/>
                  <a:pt x="113983" y="148802"/>
                  <a:pt x="113983" y="144854"/>
                </a:cubicBezTo>
                <a:lnTo>
                  <a:pt x="113983" y="132981"/>
                </a:lnTo>
                <a:cubicBezTo>
                  <a:pt x="124462" y="132981"/>
                  <a:pt x="132981" y="124462"/>
                  <a:pt x="132981" y="113983"/>
                </a:cubicBezTo>
                <a:lnTo>
                  <a:pt x="144854" y="113983"/>
                </a:lnTo>
                <a:cubicBezTo>
                  <a:pt x="148802" y="113983"/>
                  <a:pt x="151978" y="110807"/>
                  <a:pt x="151978" y="106859"/>
                </a:cubicBezTo>
                <a:cubicBezTo>
                  <a:pt x="151978" y="102912"/>
                  <a:pt x="148802" y="99735"/>
                  <a:pt x="144854" y="99735"/>
                </a:cubicBezTo>
                <a:lnTo>
                  <a:pt x="132981" y="99735"/>
                </a:lnTo>
                <a:lnTo>
                  <a:pt x="132981" y="83113"/>
                </a:lnTo>
                <a:lnTo>
                  <a:pt x="144854" y="83113"/>
                </a:lnTo>
                <a:cubicBezTo>
                  <a:pt x="148802" y="83113"/>
                  <a:pt x="151978" y="79937"/>
                  <a:pt x="151978" y="75989"/>
                </a:cubicBezTo>
                <a:cubicBezTo>
                  <a:pt x="151978" y="72041"/>
                  <a:pt x="148802" y="68865"/>
                  <a:pt x="144854" y="68865"/>
                </a:cubicBezTo>
                <a:lnTo>
                  <a:pt x="132981" y="68865"/>
                </a:lnTo>
                <a:lnTo>
                  <a:pt x="132981" y="52242"/>
                </a:lnTo>
                <a:lnTo>
                  <a:pt x="144854" y="52242"/>
                </a:lnTo>
                <a:cubicBezTo>
                  <a:pt x="148802" y="52242"/>
                  <a:pt x="151978" y="49066"/>
                  <a:pt x="151978" y="45118"/>
                </a:cubicBezTo>
                <a:cubicBezTo>
                  <a:pt x="151978" y="41171"/>
                  <a:pt x="148802" y="37994"/>
                  <a:pt x="144854" y="37994"/>
                </a:cubicBezTo>
                <a:lnTo>
                  <a:pt x="132981" y="37994"/>
                </a:lnTo>
                <a:cubicBezTo>
                  <a:pt x="132981" y="27516"/>
                  <a:pt x="124462" y="18997"/>
                  <a:pt x="113983" y="18997"/>
                </a:cubicBezTo>
                <a:lnTo>
                  <a:pt x="113983" y="7124"/>
                </a:lnTo>
                <a:cubicBezTo>
                  <a:pt x="113983" y="3176"/>
                  <a:pt x="110807" y="0"/>
                  <a:pt x="106859" y="0"/>
                </a:cubicBezTo>
                <a:cubicBezTo>
                  <a:pt x="102912" y="0"/>
                  <a:pt x="99735" y="3176"/>
                  <a:pt x="99735" y="7124"/>
                </a:cubicBezTo>
                <a:lnTo>
                  <a:pt x="99735" y="18997"/>
                </a:lnTo>
                <a:lnTo>
                  <a:pt x="83113" y="18997"/>
                </a:lnTo>
                <a:lnTo>
                  <a:pt x="83113" y="7124"/>
                </a:lnTo>
                <a:cubicBezTo>
                  <a:pt x="83113" y="3176"/>
                  <a:pt x="79937" y="0"/>
                  <a:pt x="75989" y="0"/>
                </a:cubicBezTo>
                <a:cubicBezTo>
                  <a:pt x="72041" y="0"/>
                  <a:pt x="68865" y="3176"/>
                  <a:pt x="68865" y="7124"/>
                </a:cubicBezTo>
                <a:lnTo>
                  <a:pt x="68865" y="18997"/>
                </a:lnTo>
                <a:lnTo>
                  <a:pt x="52242" y="18997"/>
                </a:lnTo>
                <a:lnTo>
                  <a:pt x="52242" y="7124"/>
                </a:lnTo>
                <a:close/>
                <a:moveTo>
                  <a:pt x="47493" y="37994"/>
                </a:moveTo>
                <a:lnTo>
                  <a:pt x="104485" y="37994"/>
                </a:lnTo>
                <a:cubicBezTo>
                  <a:pt x="109739" y="37994"/>
                  <a:pt x="113983" y="42239"/>
                  <a:pt x="113983" y="47493"/>
                </a:cubicBezTo>
                <a:lnTo>
                  <a:pt x="113983" y="104485"/>
                </a:lnTo>
                <a:cubicBezTo>
                  <a:pt x="113983" y="109739"/>
                  <a:pt x="109739" y="113983"/>
                  <a:pt x="104485" y="113983"/>
                </a:cubicBezTo>
                <a:lnTo>
                  <a:pt x="47493" y="113983"/>
                </a:lnTo>
                <a:cubicBezTo>
                  <a:pt x="42239" y="113983"/>
                  <a:pt x="37994" y="109739"/>
                  <a:pt x="37994" y="104485"/>
                </a:cubicBezTo>
                <a:lnTo>
                  <a:pt x="37994" y="47493"/>
                </a:lnTo>
                <a:cubicBezTo>
                  <a:pt x="37994" y="42239"/>
                  <a:pt x="42239" y="37994"/>
                  <a:pt x="47493" y="37994"/>
                </a:cubicBezTo>
                <a:close/>
                <a:moveTo>
                  <a:pt x="52242" y="52242"/>
                </a:moveTo>
                <a:lnTo>
                  <a:pt x="52242" y="99735"/>
                </a:lnTo>
                <a:lnTo>
                  <a:pt x="99735" y="99735"/>
                </a:lnTo>
                <a:lnTo>
                  <a:pt x="99735" y="52242"/>
                </a:lnTo>
                <a:lnTo>
                  <a:pt x="52242" y="52242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29" name="Text 26"/>
          <p:cNvSpPr/>
          <p:nvPr/>
        </p:nvSpPr>
        <p:spPr>
          <a:xfrm>
            <a:off x="6815916" y="1933496"/>
            <a:ext cx="641684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Processor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24625" y="2203679"/>
            <a:ext cx="507437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AMD Ryzen 3/5 or Intel Core i3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524625" y="2440089"/>
            <a:ext cx="810548" cy="202637"/>
          </a:xfrm>
          <a:custGeom>
            <a:avLst/>
            <a:gdLst/>
            <a:ahLst/>
            <a:cxnLst/>
            <a:rect l="l" t="t" r="r" b="b"/>
            <a:pathLst>
              <a:path w="810548" h="202637">
                <a:moveTo>
                  <a:pt x="33774" y="0"/>
                </a:moveTo>
                <a:lnTo>
                  <a:pt x="776775" y="0"/>
                </a:lnTo>
                <a:cubicBezTo>
                  <a:pt x="795428" y="0"/>
                  <a:pt x="810548" y="15121"/>
                  <a:pt x="810548" y="33774"/>
                </a:cubicBezTo>
                <a:lnTo>
                  <a:pt x="810548" y="168864"/>
                </a:lnTo>
                <a:cubicBezTo>
                  <a:pt x="810548" y="187516"/>
                  <a:pt x="795428" y="202637"/>
                  <a:pt x="776775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6524625" y="2440089"/>
            <a:ext cx="861208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Ryzen 5 5500U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404434" y="2440089"/>
            <a:ext cx="498150" cy="202637"/>
          </a:xfrm>
          <a:custGeom>
            <a:avLst/>
            <a:gdLst/>
            <a:ahLst/>
            <a:cxnLst/>
            <a:rect l="l" t="t" r="r" b="b"/>
            <a:pathLst>
              <a:path w="498150" h="202637">
                <a:moveTo>
                  <a:pt x="33774" y="0"/>
                </a:moveTo>
                <a:lnTo>
                  <a:pt x="464376" y="0"/>
                </a:lnTo>
                <a:cubicBezTo>
                  <a:pt x="483029" y="0"/>
                  <a:pt x="498150" y="15121"/>
                  <a:pt x="498150" y="33774"/>
                </a:cubicBezTo>
                <a:lnTo>
                  <a:pt x="498150" y="168864"/>
                </a:lnTo>
                <a:cubicBezTo>
                  <a:pt x="498150" y="187516"/>
                  <a:pt x="483029" y="202637"/>
                  <a:pt x="464376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404434" y="2440089"/>
            <a:ext cx="548809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i3-1215U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72647" y="2879136"/>
            <a:ext cx="5302338" cy="979413"/>
          </a:xfrm>
          <a:custGeom>
            <a:avLst/>
            <a:gdLst/>
            <a:ahLst/>
            <a:cxnLst/>
            <a:rect l="l" t="t" r="r" b="b"/>
            <a:pathLst>
              <a:path w="5302338" h="979413">
                <a:moveTo>
                  <a:pt x="33773" y="0"/>
                </a:moveTo>
                <a:lnTo>
                  <a:pt x="5234788" y="0"/>
                </a:lnTo>
                <a:cubicBezTo>
                  <a:pt x="5272095" y="0"/>
                  <a:pt x="5302338" y="30243"/>
                  <a:pt x="5302338" y="67550"/>
                </a:cubicBezTo>
                <a:lnTo>
                  <a:pt x="5302338" y="911863"/>
                </a:lnTo>
                <a:cubicBezTo>
                  <a:pt x="5302338" y="949170"/>
                  <a:pt x="5272095" y="979413"/>
                  <a:pt x="5234788" y="979413"/>
                </a:cubicBez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3"/>
          <p:cNvSpPr/>
          <p:nvPr/>
        </p:nvSpPr>
        <p:spPr>
          <a:xfrm>
            <a:off x="6372647" y="2879136"/>
            <a:ext cx="33773" cy="979413"/>
          </a:xfrm>
          <a:custGeom>
            <a:avLst/>
            <a:gdLst/>
            <a:ahLst/>
            <a:cxnLst/>
            <a:rect l="l" t="t" r="r" b="b"/>
            <a:pathLst>
              <a:path w="33773" h="979413">
                <a:moveTo>
                  <a:pt x="33773" y="0"/>
                </a:moveTo>
                <a:lnTo>
                  <a:pt x="33773" y="0"/>
                </a:lnTo>
                <a:lnTo>
                  <a:pt x="33773" y="979413"/>
                </a:ln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7" name="Shape 34"/>
          <p:cNvSpPr/>
          <p:nvPr/>
        </p:nvSpPr>
        <p:spPr>
          <a:xfrm>
            <a:off x="6545733" y="3039557"/>
            <a:ext cx="151978" cy="151978"/>
          </a:xfrm>
          <a:custGeom>
            <a:avLst/>
            <a:gdLst/>
            <a:ahLst/>
            <a:cxnLst/>
            <a:rect l="l" t="t" r="r" b="b"/>
            <a:pathLst>
              <a:path w="151978" h="151978">
                <a:moveTo>
                  <a:pt x="18997" y="18997"/>
                </a:moveTo>
                <a:cubicBezTo>
                  <a:pt x="8519" y="18997"/>
                  <a:pt x="0" y="27516"/>
                  <a:pt x="0" y="37994"/>
                </a:cubicBezTo>
                <a:lnTo>
                  <a:pt x="0" y="40191"/>
                </a:lnTo>
                <a:cubicBezTo>
                  <a:pt x="0" y="42209"/>
                  <a:pt x="1306" y="43931"/>
                  <a:pt x="2998" y="45029"/>
                </a:cubicBezTo>
                <a:cubicBezTo>
                  <a:pt x="6916" y="47582"/>
                  <a:pt x="9499" y="51975"/>
                  <a:pt x="9499" y="56992"/>
                </a:cubicBezTo>
                <a:cubicBezTo>
                  <a:pt x="9499" y="62008"/>
                  <a:pt x="6916" y="66401"/>
                  <a:pt x="2998" y="68954"/>
                </a:cubicBezTo>
                <a:cubicBezTo>
                  <a:pt x="1306" y="70052"/>
                  <a:pt x="0" y="71774"/>
                  <a:pt x="0" y="73792"/>
                </a:cubicBezTo>
                <a:lnTo>
                  <a:pt x="0" y="90237"/>
                </a:lnTo>
                <a:lnTo>
                  <a:pt x="151978" y="90237"/>
                </a:lnTo>
                <a:lnTo>
                  <a:pt x="151978" y="73792"/>
                </a:lnTo>
                <a:cubicBezTo>
                  <a:pt x="151978" y="71774"/>
                  <a:pt x="150672" y="70052"/>
                  <a:pt x="148980" y="68954"/>
                </a:cubicBezTo>
                <a:cubicBezTo>
                  <a:pt x="145062" y="66401"/>
                  <a:pt x="142479" y="62008"/>
                  <a:pt x="142479" y="56992"/>
                </a:cubicBezTo>
                <a:cubicBezTo>
                  <a:pt x="142479" y="51975"/>
                  <a:pt x="145062" y="47582"/>
                  <a:pt x="148980" y="45029"/>
                </a:cubicBezTo>
                <a:cubicBezTo>
                  <a:pt x="150672" y="43931"/>
                  <a:pt x="151978" y="42209"/>
                  <a:pt x="151978" y="40191"/>
                </a:cubicBezTo>
                <a:lnTo>
                  <a:pt x="151978" y="37994"/>
                </a:lnTo>
                <a:cubicBezTo>
                  <a:pt x="151978" y="27516"/>
                  <a:pt x="143459" y="18997"/>
                  <a:pt x="132981" y="18997"/>
                </a:cubicBezTo>
                <a:lnTo>
                  <a:pt x="18997" y="18997"/>
                </a:lnTo>
                <a:close/>
                <a:moveTo>
                  <a:pt x="151978" y="123482"/>
                </a:moveTo>
                <a:lnTo>
                  <a:pt x="151978" y="104485"/>
                </a:lnTo>
                <a:lnTo>
                  <a:pt x="0" y="104485"/>
                </a:lnTo>
                <a:lnTo>
                  <a:pt x="0" y="123482"/>
                </a:lnTo>
                <a:cubicBezTo>
                  <a:pt x="0" y="128736"/>
                  <a:pt x="4245" y="132981"/>
                  <a:pt x="9499" y="132981"/>
                </a:cubicBezTo>
                <a:lnTo>
                  <a:pt x="28496" y="132981"/>
                </a:lnTo>
                <a:lnTo>
                  <a:pt x="28496" y="125857"/>
                </a:lnTo>
                <a:cubicBezTo>
                  <a:pt x="28496" y="121909"/>
                  <a:pt x="31672" y="118733"/>
                  <a:pt x="35620" y="118733"/>
                </a:cubicBezTo>
                <a:cubicBezTo>
                  <a:pt x="39568" y="118733"/>
                  <a:pt x="42744" y="121909"/>
                  <a:pt x="42744" y="125857"/>
                </a:cubicBezTo>
                <a:lnTo>
                  <a:pt x="42744" y="132981"/>
                </a:lnTo>
                <a:lnTo>
                  <a:pt x="68865" y="132981"/>
                </a:lnTo>
                <a:lnTo>
                  <a:pt x="68865" y="125857"/>
                </a:lnTo>
                <a:cubicBezTo>
                  <a:pt x="68865" y="121909"/>
                  <a:pt x="72041" y="118733"/>
                  <a:pt x="75989" y="118733"/>
                </a:cubicBezTo>
                <a:cubicBezTo>
                  <a:pt x="79937" y="118733"/>
                  <a:pt x="83113" y="121909"/>
                  <a:pt x="83113" y="125857"/>
                </a:cubicBezTo>
                <a:lnTo>
                  <a:pt x="83113" y="132981"/>
                </a:lnTo>
                <a:lnTo>
                  <a:pt x="109234" y="132981"/>
                </a:lnTo>
                <a:lnTo>
                  <a:pt x="109234" y="125857"/>
                </a:lnTo>
                <a:cubicBezTo>
                  <a:pt x="109234" y="121909"/>
                  <a:pt x="112410" y="118733"/>
                  <a:pt x="116358" y="118733"/>
                </a:cubicBezTo>
                <a:cubicBezTo>
                  <a:pt x="120306" y="118733"/>
                  <a:pt x="123482" y="121909"/>
                  <a:pt x="123482" y="125857"/>
                </a:cubicBezTo>
                <a:lnTo>
                  <a:pt x="123482" y="132981"/>
                </a:lnTo>
                <a:lnTo>
                  <a:pt x="142479" y="132981"/>
                </a:lnTo>
                <a:cubicBezTo>
                  <a:pt x="147733" y="132981"/>
                  <a:pt x="151978" y="128736"/>
                  <a:pt x="151978" y="123482"/>
                </a:cubicBezTo>
                <a:close/>
                <a:moveTo>
                  <a:pt x="47493" y="47493"/>
                </a:moveTo>
                <a:lnTo>
                  <a:pt x="47493" y="66490"/>
                </a:lnTo>
                <a:cubicBezTo>
                  <a:pt x="47493" y="71744"/>
                  <a:pt x="43248" y="75989"/>
                  <a:pt x="37994" y="75989"/>
                </a:cubicBezTo>
                <a:cubicBezTo>
                  <a:pt x="32741" y="75989"/>
                  <a:pt x="28496" y="71744"/>
                  <a:pt x="28496" y="66490"/>
                </a:cubicBezTo>
                <a:lnTo>
                  <a:pt x="28496" y="47493"/>
                </a:lnTo>
                <a:cubicBezTo>
                  <a:pt x="28496" y="42239"/>
                  <a:pt x="32741" y="37994"/>
                  <a:pt x="37994" y="37994"/>
                </a:cubicBezTo>
                <a:cubicBezTo>
                  <a:pt x="43248" y="37994"/>
                  <a:pt x="47493" y="42239"/>
                  <a:pt x="47493" y="47493"/>
                </a:cubicBezTo>
                <a:close/>
                <a:moveTo>
                  <a:pt x="85488" y="47493"/>
                </a:moveTo>
                <a:lnTo>
                  <a:pt x="85488" y="66490"/>
                </a:lnTo>
                <a:cubicBezTo>
                  <a:pt x="85488" y="71744"/>
                  <a:pt x="81243" y="75989"/>
                  <a:pt x="75989" y="75989"/>
                </a:cubicBezTo>
                <a:cubicBezTo>
                  <a:pt x="70735" y="75989"/>
                  <a:pt x="66490" y="71744"/>
                  <a:pt x="66490" y="66490"/>
                </a:cubicBezTo>
                <a:lnTo>
                  <a:pt x="66490" y="47493"/>
                </a:lnTo>
                <a:cubicBezTo>
                  <a:pt x="66490" y="42239"/>
                  <a:pt x="70735" y="37994"/>
                  <a:pt x="75989" y="37994"/>
                </a:cubicBezTo>
                <a:cubicBezTo>
                  <a:pt x="81243" y="37994"/>
                  <a:pt x="85488" y="42239"/>
                  <a:pt x="85488" y="47493"/>
                </a:cubicBezTo>
                <a:close/>
                <a:moveTo>
                  <a:pt x="123482" y="47493"/>
                </a:moveTo>
                <a:lnTo>
                  <a:pt x="123482" y="66490"/>
                </a:lnTo>
                <a:cubicBezTo>
                  <a:pt x="123482" y="71744"/>
                  <a:pt x="119237" y="75989"/>
                  <a:pt x="113983" y="75989"/>
                </a:cubicBezTo>
                <a:cubicBezTo>
                  <a:pt x="108729" y="75989"/>
                  <a:pt x="104485" y="71744"/>
                  <a:pt x="104485" y="66490"/>
                </a:cubicBezTo>
                <a:lnTo>
                  <a:pt x="104485" y="47493"/>
                </a:lnTo>
                <a:cubicBezTo>
                  <a:pt x="104485" y="42239"/>
                  <a:pt x="108729" y="37994"/>
                  <a:pt x="113983" y="37994"/>
                </a:cubicBezTo>
                <a:cubicBezTo>
                  <a:pt x="119237" y="37994"/>
                  <a:pt x="123482" y="42239"/>
                  <a:pt x="123482" y="47493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8" name="Text 35"/>
          <p:cNvSpPr/>
          <p:nvPr/>
        </p:nvSpPr>
        <p:spPr>
          <a:xfrm>
            <a:off x="6815916" y="3014227"/>
            <a:ext cx="565695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524625" y="3284410"/>
            <a:ext cx="507437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8GB DDR4 (expandable preferred)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524625" y="3520820"/>
            <a:ext cx="599468" cy="202637"/>
          </a:xfrm>
          <a:custGeom>
            <a:avLst/>
            <a:gdLst/>
            <a:ahLst/>
            <a:cxnLst/>
            <a:rect l="l" t="t" r="r" b="b"/>
            <a:pathLst>
              <a:path w="599468" h="202637">
                <a:moveTo>
                  <a:pt x="33774" y="0"/>
                </a:moveTo>
                <a:lnTo>
                  <a:pt x="565695" y="0"/>
                </a:lnTo>
                <a:cubicBezTo>
                  <a:pt x="584347" y="0"/>
                  <a:pt x="599468" y="15121"/>
                  <a:pt x="599468" y="33774"/>
                </a:cubicBezTo>
                <a:lnTo>
                  <a:pt x="599468" y="168864"/>
                </a:lnTo>
                <a:cubicBezTo>
                  <a:pt x="599468" y="187516"/>
                  <a:pt x="584347" y="202637"/>
                  <a:pt x="565695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524625" y="3520820"/>
            <a:ext cx="650127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8GB DDR4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187813" y="3520820"/>
            <a:ext cx="650127" cy="202637"/>
          </a:xfrm>
          <a:custGeom>
            <a:avLst/>
            <a:gdLst/>
            <a:ahLst/>
            <a:cxnLst/>
            <a:rect l="l" t="t" r="r" b="b"/>
            <a:pathLst>
              <a:path w="650127" h="202637">
                <a:moveTo>
                  <a:pt x="33774" y="0"/>
                </a:moveTo>
                <a:lnTo>
                  <a:pt x="616354" y="0"/>
                </a:lnTo>
                <a:cubicBezTo>
                  <a:pt x="635006" y="0"/>
                  <a:pt x="650127" y="15121"/>
                  <a:pt x="650127" y="33774"/>
                </a:cubicBezTo>
                <a:lnTo>
                  <a:pt x="650127" y="168864"/>
                </a:lnTo>
                <a:cubicBezTo>
                  <a:pt x="650127" y="187516"/>
                  <a:pt x="635007" y="202637"/>
                  <a:pt x="616354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7187813" y="3520820"/>
            <a:ext cx="700787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Expandable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72647" y="3959867"/>
            <a:ext cx="5302338" cy="979413"/>
          </a:xfrm>
          <a:custGeom>
            <a:avLst/>
            <a:gdLst/>
            <a:ahLst/>
            <a:cxnLst/>
            <a:rect l="l" t="t" r="r" b="b"/>
            <a:pathLst>
              <a:path w="5302338" h="979413">
                <a:moveTo>
                  <a:pt x="33773" y="0"/>
                </a:moveTo>
                <a:lnTo>
                  <a:pt x="5234788" y="0"/>
                </a:lnTo>
                <a:cubicBezTo>
                  <a:pt x="5272095" y="0"/>
                  <a:pt x="5302338" y="30243"/>
                  <a:pt x="5302338" y="67550"/>
                </a:cubicBezTo>
                <a:lnTo>
                  <a:pt x="5302338" y="911863"/>
                </a:lnTo>
                <a:cubicBezTo>
                  <a:pt x="5302338" y="949170"/>
                  <a:pt x="5272095" y="979413"/>
                  <a:pt x="5234788" y="979413"/>
                </a:cubicBez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B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5" name="Shape 42"/>
          <p:cNvSpPr/>
          <p:nvPr/>
        </p:nvSpPr>
        <p:spPr>
          <a:xfrm>
            <a:off x="6372647" y="3959867"/>
            <a:ext cx="33773" cy="979413"/>
          </a:xfrm>
          <a:custGeom>
            <a:avLst/>
            <a:gdLst/>
            <a:ahLst/>
            <a:cxnLst/>
            <a:rect l="l" t="t" r="r" b="b"/>
            <a:pathLst>
              <a:path w="33773" h="979413">
                <a:moveTo>
                  <a:pt x="33773" y="0"/>
                </a:moveTo>
                <a:lnTo>
                  <a:pt x="33773" y="0"/>
                </a:lnTo>
                <a:lnTo>
                  <a:pt x="33773" y="979413"/>
                </a:ln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6" name="Shape 43"/>
          <p:cNvSpPr/>
          <p:nvPr/>
        </p:nvSpPr>
        <p:spPr>
          <a:xfrm>
            <a:off x="6555232" y="4120288"/>
            <a:ext cx="132981" cy="151978"/>
          </a:xfrm>
          <a:custGeom>
            <a:avLst/>
            <a:gdLst/>
            <a:ahLst/>
            <a:cxnLst/>
            <a:rect l="l" t="t" r="r" b="b"/>
            <a:pathLst>
              <a:path w="132981" h="151978">
                <a:moveTo>
                  <a:pt x="18997" y="9499"/>
                </a:moveTo>
                <a:cubicBezTo>
                  <a:pt x="8519" y="9499"/>
                  <a:pt x="0" y="18018"/>
                  <a:pt x="0" y="28496"/>
                </a:cubicBezTo>
                <a:lnTo>
                  <a:pt x="0" y="77206"/>
                </a:lnTo>
                <a:cubicBezTo>
                  <a:pt x="5373" y="73436"/>
                  <a:pt x="11933" y="71240"/>
                  <a:pt x="18997" y="71240"/>
                </a:cubicBezTo>
                <a:lnTo>
                  <a:pt x="113983" y="71240"/>
                </a:lnTo>
                <a:cubicBezTo>
                  <a:pt x="121048" y="71240"/>
                  <a:pt x="127608" y="73436"/>
                  <a:pt x="132981" y="77206"/>
                </a:cubicBezTo>
                <a:lnTo>
                  <a:pt x="132981" y="28496"/>
                </a:lnTo>
                <a:cubicBezTo>
                  <a:pt x="132981" y="18018"/>
                  <a:pt x="124462" y="9499"/>
                  <a:pt x="113983" y="9499"/>
                </a:cubicBezTo>
                <a:lnTo>
                  <a:pt x="18997" y="9499"/>
                </a:lnTo>
                <a:close/>
                <a:moveTo>
                  <a:pt x="132981" y="104485"/>
                </a:moveTo>
                <a:cubicBezTo>
                  <a:pt x="132981" y="94007"/>
                  <a:pt x="124462" y="85488"/>
                  <a:pt x="113983" y="85488"/>
                </a:cubicBezTo>
                <a:lnTo>
                  <a:pt x="18997" y="85488"/>
                </a:lnTo>
                <a:cubicBezTo>
                  <a:pt x="8519" y="85488"/>
                  <a:pt x="0" y="94007"/>
                  <a:pt x="0" y="104485"/>
                </a:cubicBezTo>
                <a:lnTo>
                  <a:pt x="0" y="123482"/>
                </a:lnTo>
                <a:cubicBezTo>
                  <a:pt x="0" y="133960"/>
                  <a:pt x="8519" y="142479"/>
                  <a:pt x="18997" y="142479"/>
                </a:cubicBezTo>
                <a:lnTo>
                  <a:pt x="113983" y="142479"/>
                </a:lnTo>
                <a:cubicBezTo>
                  <a:pt x="124462" y="142479"/>
                  <a:pt x="132981" y="133960"/>
                  <a:pt x="132981" y="123482"/>
                </a:cubicBezTo>
                <a:lnTo>
                  <a:pt x="132981" y="104485"/>
                </a:lnTo>
                <a:close/>
                <a:moveTo>
                  <a:pt x="66490" y="113983"/>
                </a:moveTo>
                <a:cubicBezTo>
                  <a:pt x="66490" y="108741"/>
                  <a:pt x="70746" y="104485"/>
                  <a:pt x="75989" y="104485"/>
                </a:cubicBezTo>
                <a:cubicBezTo>
                  <a:pt x="81231" y="104485"/>
                  <a:pt x="85488" y="108741"/>
                  <a:pt x="85488" y="113983"/>
                </a:cubicBezTo>
                <a:cubicBezTo>
                  <a:pt x="85488" y="119226"/>
                  <a:pt x="81231" y="123482"/>
                  <a:pt x="75989" y="123482"/>
                </a:cubicBezTo>
                <a:cubicBezTo>
                  <a:pt x="70746" y="123482"/>
                  <a:pt x="66490" y="119226"/>
                  <a:pt x="66490" y="113983"/>
                </a:cubicBezTo>
                <a:close/>
                <a:moveTo>
                  <a:pt x="104485" y="104485"/>
                </a:moveTo>
                <a:cubicBezTo>
                  <a:pt x="109727" y="104485"/>
                  <a:pt x="113983" y="108741"/>
                  <a:pt x="113983" y="113983"/>
                </a:cubicBezTo>
                <a:cubicBezTo>
                  <a:pt x="113983" y="119226"/>
                  <a:pt x="109727" y="123482"/>
                  <a:pt x="104485" y="123482"/>
                </a:cubicBezTo>
                <a:cubicBezTo>
                  <a:pt x="99242" y="123482"/>
                  <a:pt x="94986" y="119226"/>
                  <a:pt x="94986" y="113983"/>
                </a:cubicBezTo>
                <a:cubicBezTo>
                  <a:pt x="94986" y="108741"/>
                  <a:pt x="99242" y="104485"/>
                  <a:pt x="104485" y="104485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7" name="Text 44"/>
          <p:cNvSpPr/>
          <p:nvPr/>
        </p:nvSpPr>
        <p:spPr>
          <a:xfrm>
            <a:off x="6815916" y="4094958"/>
            <a:ext cx="515036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524625" y="4365141"/>
            <a:ext cx="507437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256-512GB SSD or 1TB HDD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524625" y="4601551"/>
            <a:ext cx="607911" cy="202637"/>
          </a:xfrm>
          <a:custGeom>
            <a:avLst/>
            <a:gdLst/>
            <a:ahLst/>
            <a:cxnLst/>
            <a:rect l="l" t="t" r="r" b="b"/>
            <a:pathLst>
              <a:path w="607911" h="202637">
                <a:moveTo>
                  <a:pt x="33774" y="0"/>
                </a:moveTo>
                <a:lnTo>
                  <a:pt x="574138" y="0"/>
                </a:lnTo>
                <a:cubicBezTo>
                  <a:pt x="592790" y="0"/>
                  <a:pt x="607911" y="15121"/>
                  <a:pt x="607911" y="33774"/>
                </a:cubicBezTo>
                <a:lnTo>
                  <a:pt x="607911" y="168864"/>
                </a:lnTo>
                <a:cubicBezTo>
                  <a:pt x="607911" y="187516"/>
                  <a:pt x="592790" y="202637"/>
                  <a:pt x="574138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6524625" y="4601551"/>
            <a:ext cx="658571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512GB SSD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7198103" y="4601551"/>
            <a:ext cx="515036" cy="202637"/>
          </a:xfrm>
          <a:custGeom>
            <a:avLst/>
            <a:gdLst/>
            <a:ahLst/>
            <a:cxnLst/>
            <a:rect l="l" t="t" r="r" b="b"/>
            <a:pathLst>
              <a:path w="515036" h="202637">
                <a:moveTo>
                  <a:pt x="33774" y="0"/>
                </a:moveTo>
                <a:lnTo>
                  <a:pt x="481262" y="0"/>
                </a:lnTo>
                <a:cubicBezTo>
                  <a:pt x="499915" y="0"/>
                  <a:pt x="515036" y="15121"/>
                  <a:pt x="515036" y="33774"/>
                </a:cubicBezTo>
                <a:lnTo>
                  <a:pt x="515036" y="168864"/>
                </a:lnTo>
                <a:cubicBezTo>
                  <a:pt x="515036" y="187516"/>
                  <a:pt x="499915" y="202637"/>
                  <a:pt x="481262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7198103" y="4601551"/>
            <a:ext cx="565695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1TB HDD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72647" y="5040598"/>
            <a:ext cx="5302338" cy="979413"/>
          </a:xfrm>
          <a:custGeom>
            <a:avLst/>
            <a:gdLst/>
            <a:ahLst/>
            <a:cxnLst/>
            <a:rect l="l" t="t" r="r" b="b"/>
            <a:pathLst>
              <a:path w="5302338" h="979413">
                <a:moveTo>
                  <a:pt x="33773" y="0"/>
                </a:moveTo>
                <a:lnTo>
                  <a:pt x="5234788" y="0"/>
                </a:lnTo>
                <a:cubicBezTo>
                  <a:pt x="5272095" y="0"/>
                  <a:pt x="5302338" y="30243"/>
                  <a:pt x="5302338" y="67550"/>
                </a:cubicBezTo>
                <a:lnTo>
                  <a:pt x="5302338" y="911863"/>
                </a:lnTo>
                <a:cubicBezTo>
                  <a:pt x="5302338" y="949170"/>
                  <a:pt x="5272095" y="979413"/>
                  <a:pt x="5234788" y="979413"/>
                </a:cubicBez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33"/>
                  <a:pt x="15133" y="0"/>
                  <a:pt x="33773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4" name="Shape 51"/>
          <p:cNvSpPr/>
          <p:nvPr/>
        </p:nvSpPr>
        <p:spPr>
          <a:xfrm>
            <a:off x="6372647" y="5040598"/>
            <a:ext cx="33773" cy="979413"/>
          </a:xfrm>
          <a:custGeom>
            <a:avLst/>
            <a:gdLst/>
            <a:ahLst/>
            <a:cxnLst/>
            <a:rect l="l" t="t" r="r" b="b"/>
            <a:pathLst>
              <a:path w="33773" h="979413">
                <a:moveTo>
                  <a:pt x="33773" y="0"/>
                </a:moveTo>
                <a:lnTo>
                  <a:pt x="33773" y="0"/>
                </a:lnTo>
                <a:lnTo>
                  <a:pt x="33773" y="979413"/>
                </a:lnTo>
                <a:lnTo>
                  <a:pt x="33773" y="979413"/>
                </a:lnTo>
                <a:cubicBezTo>
                  <a:pt x="15121" y="979413"/>
                  <a:pt x="0" y="964292"/>
                  <a:pt x="0" y="945640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55" name="Shape 52"/>
          <p:cNvSpPr/>
          <p:nvPr/>
        </p:nvSpPr>
        <p:spPr>
          <a:xfrm>
            <a:off x="6545733" y="5201019"/>
            <a:ext cx="151978" cy="151978"/>
          </a:xfrm>
          <a:custGeom>
            <a:avLst/>
            <a:gdLst/>
            <a:ahLst/>
            <a:cxnLst/>
            <a:rect l="l" t="t" r="r" b="b"/>
            <a:pathLst>
              <a:path w="151978" h="151978">
                <a:moveTo>
                  <a:pt x="18997" y="9499"/>
                </a:moveTo>
                <a:cubicBezTo>
                  <a:pt x="8519" y="9499"/>
                  <a:pt x="0" y="18018"/>
                  <a:pt x="0" y="28496"/>
                </a:cubicBezTo>
                <a:lnTo>
                  <a:pt x="0" y="104485"/>
                </a:lnTo>
                <a:cubicBezTo>
                  <a:pt x="0" y="114963"/>
                  <a:pt x="8519" y="123482"/>
                  <a:pt x="18997" y="123482"/>
                </a:cubicBezTo>
                <a:lnTo>
                  <a:pt x="61741" y="123482"/>
                </a:lnTo>
                <a:lnTo>
                  <a:pt x="56992" y="137730"/>
                </a:lnTo>
                <a:lnTo>
                  <a:pt x="35620" y="137730"/>
                </a:lnTo>
                <a:cubicBezTo>
                  <a:pt x="31672" y="137730"/>
                  <a:pt x="28496" y="140906"/>
                  <a:pt x="28496" y="144854"/>
                </a:cubicBezTo>
                <a:cubicBezTo>
                  <a:pt x="28496" y="148802"/>
                  <a:pt x="31672" y="151978"/>
                  <a:pt x="35620" y="151978"/>
                </a:cubicBezTo>
                <a:lnTo>
                  <a:pt x="116358" y="151978"/>
                </a:lnTo>
                <a:cubicBezTo>
                  <a:pt x="120306" y="151978"/>
                  <a:pt x="123482" y="148802"/>
                  <a:pt x="123482" y="144854"/>
                </a:cubicBezTo>
                <a:cubicBezTo>
                  <a:pt x="123482" y="140906"/>
                  <a:pt x="120306" y="137730"/>
                  <a:pt x="116358" y="137730"/>
                </a:cubicBezTo>
                <a:lnTo>
                  <a:pt x="94986" y="137730"/>
                </a:lnTo>
                <a:lnTo>
                  <a:pt x="90237" y="123482"/>
                </a:lnTo>
                <a:lnTo>
                  <a:pt x="132981" y="123482"/>
                </a:lnTo>
                <a:cubicBezTo>
                  <a:pt x="143459" y="123482"/>
                  <a:pt x="151978" y="114963"/>
                  <a:pt x="151978" y="104485"/>
                </a:cubicBezTo>
                <a:lnTo>
                  <a:pt x="151978" y="28496"/>
                </a:lnTo>
                <a:cubicBezTo>
                  <a:pt x="151978" y="18018"/>
                  <a:pt x="143459" y="9499"/>
                  <a:pt x="132981" y="9499"/>
                </a:cubicBezTo>
                <a:lnTo>
                  <a:pt x="18997" y="9499"/>
                </a:lnTo>
                <a:close/>
                <a:moveTo>
                  <a:pt x="28496" y="28496"/>
                </a:moveTo>
                <a:lnTo>
                  <a:pt x="123482" y="28496"/>
                </a:lnTo>
                <a:cubicBezTo>
                  <a:pt x="128736" y="28496"/>
                  <a:pt x="132981" y="32741"/>
                  <a:pt x="132981" y="37994"/>
                </a:cubicBezTo>
                <a:lnTo>
                  <a:pt x="132981" y="85488"/>
                </a:lnTo>
                <a:cubicBezTo>
                  <a:pt x="132981" y="90741"/>
                  <a:pt x="128736" y="94986"/>
                  <a:pt x="123482" y="94986"/>
                </a:cubicBezTo>
                <a:lnTo>
                  <a:pt x="28496" y="94986"/>
                </a:lnTo>
                <a:cubicBezTo>
                  <a:pt x="23242" y="94986"/>
                  <a:pt x="18997" y="90741"/>
                  <a:pt x="18997" y="85488"/>
                </a:cubicBezTo>
                <a:lnTo>
                  <a:pt x="18997" y="37994"/>
                </a:lnTo>
                <a:cubicBezTo>
                  <a:pt x="18997" y="32741"/>
                  <a:pt x="23242" y="28496"/>
                  <a:pt x="28496" y="28496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56" name="Text 53"/>
          <p:cNvSpPr/>
          <p:nvPr/>
        </p:nvSpPr>
        <p:spPr>
          <a:xfrm>
            <a:off x="6815916" y="5175690"/>
            <a:ext cx="498150" cy="20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524625" y="5445873"/>
            <a:ext cx="507437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14"-15.6" Full HD (1920x1080)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524625" y="5682283"/>
            <a:ext cx="548809" cy="202637"/>
          </a:xfrm>
          <a:custGeom>
            <a:avLst/>
            <a:gdLst/>
            <a:ahLst/>
            <a:cxnLst/>
            <a:rect l="l" t="t" r="r" b="b"/>
            <a:pathLst>
              <a:path w="548809" h="202637">
                <a:moveTo>
                  <a:pt x="33774" y="0"/>
                </a:moveTo>
                <a:lnTo>
                  <a:pt x="515035" y="0"/>
                </a:lnTo>
                <a:cubicBezTo>
                  <a:pt x="533688" y="0"/>
                  <a:pt x="548809" y="15121"/>
                  <a:pt x="548809" y="33774"/>
                </a:cubicBezTo>
                <a:lnTo>
                  <a:pt x="548809" y="168864"/>
                </a:lnTo>
                <a:cubicBezTo>
                  <a:pt x="548809" y="187516"/>
                  <a:pt x="533688" y="202637"/>
                  <a:pt x="515035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6524625" y="5682283"/>
            <a:ext cx="599468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15.6" FHD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143486" y="5682283"/>
            <a:ext cx="531922" cy="202637"/>
          </a:xfrm>
          <a:custGeom>
            <a:avLst/>
            <a:gdLst/>
            <a:ahLst/>
            <a:cxnLst/>
            <a:rect l="l" t="t" r="r" b="b"/>
            <a:pathLst>
              <a:path w="531922" h="202637">
                <a:moveTo>
                  <a:pt x="33774" y="0"/>
                </a:moveTo>
                <a:lnTo>
                  <a:pt x="498149" y="0"/>
                </a:lnTo>
                <a:cubicBezTo>
                  <a:pt x="516802" y="0"/>
                  <a:pt x="531922" y="15121"/>
                  <a:pt x="531922" y="33774"/>
                </a:cubicBezTo>
                <a:lnTo>
                  <a:pt x="531922" y="168864"/>
                </a:lnTo>
                <a:cubicBezTo>
                  <a:pt x="531922" y="187516"/>
                  <a:pt x="516802" y="202637"/>
                  <a:pt x="498149" y="202637"/>
                </a:cubicBezTo>
                <a:lnTo>
                  <a:pt x="33774" y="202637"/>
                </a:lnTo>
                <a:cubicBezTo>
                  <a:pt x="15121" y="202637"/>
                  <a:pt x="0" y="187516"/>
                  <a:pt x="0" y="168864"/>
                </a:cubicBezTo>
                <a:lnTo>
                  <a:pt x="0" y="33774"/>
                </a:lnTo>
                <a:cubicBezTo>
                  <a:pt x="0" y="15133"/>
                  <a:pt x="15133" y="0"/>
                  <a:pt x="33774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7143486" y="5682283"/>
            <a:ext cx="582582" cy="202637"/>
          </a:xfrm>
          <a:prstGeom prst="rect">
            <a:avLst/>
          </a:prstGeom>
          <a:noFill/>
          <a:ln/>
        </p:spPr>
        <p:txBody>
          <a:bodyPr wrap="square" lIns="67546" tIns="33773" rIns="67546" bIns="33773" rtlCol="0" anchor="ctr"/>
          <a:lstStyle/>
          <a:p>
            <a:pPr>
              <a:lnSpc>
                <a:spcPct val="110000"/>
              </a:lnSpc>
            </a:pPr>
            <a:r>
              <a:rPr lang="en-US" sz="79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IPS Panel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341950" y="6819478"/>
            <a:ext cx="11508100" cy="379945"/>
          </a:xfrm>
          <a:custGeom>
            <a:avLst/>
            <a:gdLst/>
            <a:ahLst/>
            <a:cxnLst/>
            <a:rect l="l" t="t" r="r" b="b"/>
            <a:pathLst>
              <a:path w="11508100" h="379945">
                <a:moveTo>
                  <a:pt x="67547" y="0"/>
                </a:moveTo>
                <a:lnTo>
                  <a:pt x="11440553" y="0"/>
                </a:lnTo>
                <a:cubicBezTo>
                  <a:pt x="11477858" y="0"/>
                  <a:pt x="11508100" y="30242"/>
                  <a:pt x="11508100" y="67547"/>
                </a:cubicBezTo>
                <a:lnTo>
                  <a:pt x="11508100" y="312398"/>
                </a:lnTo>
                <a:cubicBezTo>
                  <a:pt x="11508100" y="349703"/>
                  <a:pt x="11477858" y="379945"/>
                  <a:pt x="11440553" y="379945"/>
                </a:cubicBezTo>
                <a:lnTo>
                  <a:pt x="67547" y="379945"/>
                </a:lnTo>
                <a:cubicBezTo>
                  <a:pt x="30242" y="379945"/>
                  <a:pt x="0" y="349703"/>
                  <a:pt x="0" y="312398"/>
                </a:cubicBezTo>
                <a:lnTo>
                  <a:pt x="0" y="67547"/>
                </a:lnTo>
                <a:cubicBezTo>
                  <a:pt x="0" y="30242"/>
                  <a:pt x="30242" y="0"/>
                  <a:pt x="67547" y="0"/>
                </a:cubicBezTo>
                <a:close/>
              </a:path>
            </a:pathLst>
          </a:custGeom>
          <a:solidFill>
            <a:srgbClr val="2C3238">
              <a:alpha val="30196"/>
            </a:srgbClr>
          </a:soli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58044" y="6925018"/>
            <a:ext cx="189972" cy="168864"/>
          </a:xfrm>
          <a:custGeom>
            <a:avLst/>
            <a:gdLst/>
            <a:ahLst/>
            <a:cxnLst/>
            <a:rect l="l" t="t" r="r" b="b"/>
            <a:pathLst>
              <a:path w="189972" h="168864">
                <a:moveTo>
                  <a:pt x="94986" y="-10554"/>
                </a:moveTo>
                <a:cubicBezTo>
                  <a:pt x="112461" y="-10554"/>
                  <a:pt x="126648" y="3633"/>
                  <a:pt x="126648" y="21108"/>
                </a:cubicBezTo>
                <a:cubicBezTo>
                  <a:pt x="126648" y="38583"/>
                  <a:pt x="112461" y="52770"/>
                  <a:pt x="94986" y="52770"/>
                </a:cubicBezTo>
                <a:cubicBezTo>
                  <a:pt x="77511" y="52770"/>
                  <a:pt x="63324" y="38583"/>
                  <a:pt x="63324" y="21108"/>
                </a:cubicBezTo>
                <a:cubicBezTo>
                  <a:pt x="63324" y="3633"/>
                  <a:pt x="77511" y="-10554"/>
                  <a:pt x="94986" y="-10554"/>
                </a:cubicBezTo>
                <a:close/>
                <a:moveTo>
                  <a:pt x="15831" y="100263"/>
                </a:moveTo>
                <a:cubicBezTo>
                  <a:pt x="15831" y="77143"/>
                  <a:pt x="31332" y="56926"/>
                  <a:pt x="54452" y="45877"/>
                </a:cubicBezTo>
                <a:cubicBezTo>
                  <a:pt x="62796" y="59498"/>
                  <a:pt x="77836" y="68601"/>
                  <a:pt x="94986" y="68601"/>
                </a:cubicBezTo>
                <a:cubicBezTo>
                  <a:pt x="113357" y="68601"/>
                  <a:pt x="129320" y="58146"/>
                  <a:pt x="137202" y="42876"/>
                </a:cubicBezTo>
                <a:cubicBezTo>
                  <a:pt x="142413" y="39149"/>
                  <a:pt x="148779" y="36939"/>
                  <a:pt x="155672" y="36939"/>
                </a:cubicBezTo>
                <a:lnTo>
                  <a:pt x="162103" y="36939"/>
                </a:lnTo>
                <a:cubicBezTo>
                  <a:pt x="165533" y="36939"/>
                  <a:pt x="168040" y="40171"/>
                  <a:pt x="167215" y="43502"/>
                </a:cubicBezTo>
                <a:lnTo>
                  <a:pt x="161575" y="66029"/>
                </a:lnTo>
                <a:cubicBezTo>
                  <a:pt x="164841" y="70118"/>
                  <a:pt x="167578" y="74505"/>
                  <a:pt x="169623" y="79155"/>
                </a:cubicBezTo>
                <a:lnTo>
                  <a:pt x="176780" y="79155"/>
                </a:lnTo>
                <a:cubicBezTo>
                  <a:pt x="181166" y="79155"/>
                  <a:pt x="184695" y="82684"/>
                  <a:pt x="184695" y="87071"/>
                </a:cubicBezTo>
                <a:lnTo>
                  <a:pt x="184695" y="124010"/>
                </a:lnTo>
                <a:cubicBezTo>
                  <a:pt x="184695" y="128396"/>
                  <a:pt x="181166" y="131925"/>
                  <a:pt x="176780" y="131925"/>
                </a:cubicBezTo>
                <a:lnTo>
                  <a:pt x="163587" y="131925"/>
                </a:lnTo>
                <a:cubicBezTo>
                  <a:pt x="158145" y="139181"/>
                  <a:pt x="150889" y="144986"/>
                  <a:pt x="142479" y="148647"/>
                </a:cubicBezTo>
                <a:lnTo>
                  <a:pt x="142479" y="158310"/>
                </a:lnTo>
                <a:cubicBezTo>
                  <a:pt x="142479" y="164148"/>
                  <a:pt x="137763" y="168864"/>
                  <a:pt x="131925" y="168864"/>
                </a:cubicBezTo>
                <a:lnTo>
                  <a:pt x="121041" y="168864"/>
                </a:lnTo>
                <a:cubicBezTo>
                  <a:pt x="116325" y="168864"/>
                  <a:pt x="112202" y="165731"/>
                  <a:pt x="110883" y="161213"/>
                </a:cubicBezTo>
                <a:lnTo>
                  <a:pt x="108541" y="153033"/>
                </a:lnTo>
                <a:lnTo>
                  <a:pt x="81398" y="153033"/>
                </a:lnTo>
                <a:lnTo>
                  <a:pt x="79056" y="161213"/>
                </a:lnTo>
                <a:cubicBezTo>
                  <a:pt x="77770" y="165731"/>
                  <a:pt x="73647" y="168864"/>
                  <a:pt x="68931" y="168864"/>
                </a:cubicBezTo>
                <a:lnTo>
                  <a:pt x="58047" y="168864"/>
                </a:lnTo>
                <a:cubicBezTo>
                  <a:pt x="52209" y="168864"/>
                  <a:pt x="47493" y="164148"/>
                  <a:pt x="47493" y="158310"/>
                </a:cubicBezTo>
                <a:lnTo>
                  <a:pt x="47493" y="148647"/>
                </a:lnTo>
                <a:cubicBezTo>
                  <a:pt x="28859" y="140500"/>
                  <a:pt x="15831" y="121899"/>
                  <a:pt x="15831" y="100263"/>
                </a:cubicBezTo>
                <a:close/>
                <a:moveTo>
                  <a:pt x="139841" y="105540"/>
                </a:moveTo>
                <a:cubicBezTo>
                  <a:pt x="144209" y="105540"/>
                  <a:pt x="147756" y="101993"/>
                  <a:pt x="147756" y="97625"/>
                </a:cubicBezTo>
                <a:cubicBezTo>
                  <a:pt x="147756" y="93256"/>
                  <a:pt x="144209" y="89709"/>
                  <a:pt x="139841" y="89709"/>
                </a:cubicBezTo>
                <a:cubicBezTo>
                  <a:pt x="135472" y="89709"/>
                  <a:pt x="131925" y="93256"/>
                  <a:pt x="131925" y="97625"/>
                </a:cubicBezTo>
                <a:cubicBezTo>
                  <a:pt x="131925" y="101993"/>
                  <a:pt x="135472" y="105540"/>
                  <a:pt x="139841" y="105540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4" name="Text 61"/>
          <p:cNvSpPr/>
          <p:nvPr/>
        </p:nvSpPr>
        <p:spPr>
          <a:xfrm>
            <a:off x="759889" y="6925018"/>
            <a:ext cx="10689108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 Insight:</a:t>
            </a:r>
            <a:r>
              <a:rPr lang="en-US" sz="93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Acer, HP, and Lenovo dominate budget segment with 65% combined share. AMD Ryzen offers superior value over Intel at this price point. SSD adoption at 68% shows rapid transition from HDD.</a:t>
            </a:r>
            <a:endParaRPr lang="en-US" sz="16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31DBD24-132D-14DF-08F7-DE1E0E678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29" t="18522" r="15350" b="15300"/>
          <a:stretch>
            <a:fillRect/>
          </a:stretch>
        </p:blipFill>
        <p:spPr>
          <a:xfrm>
            <a:off x="919164" y="1738283"/>
            <a:ext cx="4564653" cy="24531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67767" y="43815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1063" y="414338"/>
            <a:ext cx="1419225" cy="314325"/>
          </a:xfrm>
          <a:custGeom>
            <a:avLst/>
            <a:gdLst/>
            <a:ahLst/>
            <a:cxnLst/>
            <a:rect l="l" t="t" r="r" b="b"/>
            <a:pathLst>
              <a:path w="1419225" h="314325">
                <a:moveTo>
                  <a:pt x="157163" y="0"/>
                </a:moveTo>
                <a:lnTo>
                  <a:pt x="1262063" y="0"/>
                </a:lnTo>
                <a:cubicBezTo>
                  <a:pt x="1348803" y="0"/>
                  <a:pt x="1419225" y="70422"/>
                  <a:pt x="1419225" y="157163"/>
                </a:cubicBezTo>
                <a:lnTo>
                  <a:pt x="1419225" y="157163"/>
                </a:lnTo>
                <a:cubicBezTo>
                  <a:pt x="1419225" y="243903"/>
                  <a:pt x="1348803" y="314325"/>
                  <a:pt x="1262063" y="314325"/>
                </a:cubicBezTo>
                <a:lnTo>
                  <a:pt x="157163" y="314325"/>
                </a:lnTo>
                <a:cubicBezTo>
                  <a:pt x="70422" y="314325"/>
                  <a:pt x="0" y="243903"/>
                  <a:pt x="0" y="157163"/>
                </a:cubicBezTo>
                <a:lnTo>
                  <a:pt x="0" y="157163"/>
                </a:lnTo>
                <a:cubicBezTo>
                  <a:pt x="0" y="70422"/>
                  <a:pt x="70422" y="0"/>
                  <a:pt x="15716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0125" y="523875"/>
            <a:ext cx="12424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kern="0" spc="45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Recommendations: Data-Driven Insights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5763" y="1414463"/>
            <a:ext cx="5610225" cy="2333625"/>
          </a:xfrm>
          <a:custGeom>
            <a:avLst/>
            <a:gdLst/>
            <a:ahLst/>
            <a:cxnLst/>
            <a:rect l="l" t="t" r="r" b="b"/>
            <a:pathLst>
              <a:path w="5610225" h="23336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2219324"/>
                </a:lnTo>
                <a:cubicBezTo>
                  <a:pt x="5610225" y="2282451"/>
                  <a:pt x="5559051" y="2333625"/>
                  <a:pt x="5495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1025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3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8188" y="1724025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10" name="Text 8"/>
          <p:cNvSpPr/>
          <p:nvPr/>
        </p:nvSpPr>
        <p:spPr>
          <a:xfrm>
            <a:off x="1152525" y="1609725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Budget Buyers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2525" y="1876425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₹40,000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2238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7168" y="2276475"/>
            <a:ext cx="95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3925" y="2219325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Processor: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AMD Ryzen 5 5500U or Intel i3-1215U for optimal price-performance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2600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6155" y="263842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3925" y="2581275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8GB DDR4 with expansion slot for future upgrade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2962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4666" y="300037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3925" y="2943225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Prioritize 512GB SSD over 1TB HDD for better performance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3324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6155" y="336232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925" y="3305175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Brands: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Acer Aspire, HP 15s, Lenovo IdeaPad offer best value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3910013"/>
            <a:ext cx="5610225" cy="2333625"/>
          </a:xfrm>
          <a:custGeom>
            <a:avLst/>
            <a:gdLst/>
            <a:ahLst/>
            <a:cxnLst/>
            <a:rect l="l" t="t" r="r" b="b"/>
            <a:pathLst>
              <a:path w="5610225" h="23336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2219324"/>
                </a:lnTo>
                <a:cubicBezTo>
                  <a:pt x="5610225" y="2282451"/>
                  <a:pt x="5559051" y="2333625"/>
                  <a:pt x="5495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2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1025" y="41052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6750" y="42195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00025" y="28575"/>
                </a:moveTo>
                <a:cubicBezTo>
                  <a:pt x="247352" y="28575"/>
                  <a:pt x="285750" y="66973"/>
                  <a:pt x="285750" y="114300"/>
                </a:cubicBezTo>
                <a:cubicBezTo>
                  <a:pt x="285750" y="161627"/>
                  <a:pt x="247352" y="200025"/>
                  <a:pt x="200025" y="200025"/>
                </a:cubicBezTo>
                <a:lnTo>
                  <a:pt x="85725" y="200025"/>
                </a:lnTo>
                <a:cubicBezTo>
                  <a:pt x="38398" y="200025"/>
                  <a:pt x="0" y="161627"/>
                  <a:pt x="0" y="114300"/>
                </a:cubicBezTo>
                <a:cubicBezTo>
                  <a:pt x="0" y="66973"/>
                  <a:pt x="38398" y="28575"/>
                  <a:pt x="85725" y="28575"/>
                </a:cubicBezTo>
                <a:lnTo>
                  <a:pt x="200025" y="28575"/>
                </a:lnTo>
                <a:close/>
                <a:moveTo>
                  <a:pt x="85725" y="78581"/>
                </a:moveTo>
                <a:cubicBezTo>
                  <a:pt x="79787" y="78581"/>
                  <a:pt x="75009" y="83359"/>
                  <a:pt x="75009" y="89297"/>
                </a:cubicBezTo>
                <a:lnTo>
                  <a:pt x="75009" y="103584"/>
                </a:lnTo>
                <a:lnTo>
                  <a:pt x="60722" y="103584"/>
                </a:lnTo>
                <a:cubicBezTo>
                  <a:pt x="54784" y="103584"/>
                  <a:pt x="50006" y="108362"/>
                  <a:pt x="50006" y="114300"/>
                </a:cubicBezTo>
                <a:cubicBezTo>
                  <a:pt x="50006" y="120238"/>
                  <a:pt x="54784" y="125016"/>
                  <a:pt x="60722" y="125016"/>
                </a:cubicBezTo>
                <a:lnTo>
                  <a:pt x="75009" y="125016"/>
                </a:lnTo>
                <a:lnTo>
                  <a:pt x="75009" y="139303"/>
                </a:lnTo>
                <a:cubicBezTo>
                  <a:pt x="75009" y="145241"/>
                  <a:pt x="79787" y="150019"/>
                  <a:pt x="85725" y="150019"/>
                </a:cubicBezTo>
                <a:cubicBezTo>
                  <a:pt x="91663" y="150019"/>
                  <a:pt x="96441" y="145241"/>
                  <a:pt x="96441" y="139303"/>
                </a:cubicBezTo>
                <a:lnTo>
                  <a:pt x="96441" y="125016"/>
                </a:lnTo>
                <a:lnTo>
                  <a:pt x="110728" y="125016"/>
                </a:lnTo>
                <a:cubicBezTo>
                  <a:pt x="116666" y="125016"/>
                  <a:pt x="121444" y="120238"/>
                  <a:pt x="121444" y="114300"/>
                </a:cubicBezTo>
                <a:cubicBezTo>
                  <a:pt x="121444" y="108362"/>
                  <a:pt x="116666" y="103584"/>
                  <a:pt x="110728" y="103584"/>
                </a:cubicBezTo>
                <a:lnTo>
                  <a:pt x="96441" y="103584"/>
                </a:lnTo>
                <a:lnTo>
                  <a:pt x="96441" y="89297"/>
                </a:lnTo>
                <a:cubicBezTo>
                  <a:pt x="96441" y="83359"/>
                  <a:pt x="91663" y="78581"/>
                  <a:pt x="85725" y="78581"/>
                </a:cubicBezTo>
                <a:close/>
                <a:moveTo>
                  <a:pt x="192881" y="121444"/>
                </a:moveTo>
                <a:cubicBezTo>
                  <a:pt x="184996" y="121444"/>
                  <a:pt x="178594" y="127846"/>
                  <a:pt x="178594" y="135731"/>
                </a:cubicBezTo>
                <a:cubicBezTo>
                  <a:pt x="178594" y="143617"/>
                  <a:pt x="184996" y="150019"/>
                  <a:pt x="192881" y="150019"/>
                </a:cubicBezTo>
                <a:cubicBezTo>
                  <a:pt x="200767" y="150019"/>
                  <a:pt x="207169" y="143617"/>
                  <a:pt x="207169" y="135731"/>
                </a:cubicBezTo>
                <a:cubicBezTo>
                  <a:pt x="207169" y="127846"/>
                  <a:pt x="200767" y="121444"/>
                  <a:pt x="192881" y="121444"/>
                </a:cubicBezTo>
                <a:close/>
                <a:moveTo>
                  <a:pt x="221456" y="78581"/>
                </a:moveTo>
                <a:cubicBezTo>
                  <a:pt x="213571" y="78581"/>
                  <a:pt x="207169" y="84983"/>
                  <a:pt x="207169" y="92869"/>
                </a:cubicBezTo>
                <a:cubicBezTo>
                  <a:pt x="207169" y="100754"/>
                  <a:pt x="213571" y="107156"/>
                  <a:pt x="221456" y="107156"/>
                </a:cubicBezTo>
                <a:cubicBezTo>
                  <a:pt x="229342" y="107156"/>
                  <a:pt x="235744" y="100754"/>
                  <a:pt x="235744" y="92869"/>
                </a:cubicBezTo>
                <a:cubicBezTo>
                  <a:pt x="235744" y="84983"/>
                  <a:pt x="229342" y="78581"/>
                  <a:pt x="221456" y="7858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7" name="Text 25"/>
          <p:cNvSpPr/>
          <p:nvPr/>
        </p:nvSpPr>
        <p:spPr>
          <a:xfrm>
            <a:off x="1152525" y="4105275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Gaming Enthusiasts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2525" y="4371975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₹70,000 - ₹150,000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1025" y="47339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77168" y="4772025"/>
            <a:ext cx="95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3925" y="4714875"/>
            <a:ext cx="426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Sweet Spot: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RTX 4060 at ₹85K-100K offers best price-performance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1025" y="5095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66155" y="513397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3925" y="5076825"/>
            <a:ext cx="3838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RAM Standard: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16GB DDR5 for modern AAA gaming requirements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1025" y="545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64666" y="549592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3925" y="5438775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144Hz minimum for competitive gaming advantage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1025" y="5819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66155" y="585787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C8D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3925" y="5800725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Brands: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ASUS ROG, Lenovo Legion, HP OMEN lead reliability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6013" y="1414463"/>
            <a:ext cx="5610225" cy="2333625"/>
          </a:xfrm>
          <a:custGeom>
            <a:avLst/>
            <a:gdLst/>
            <a:ahLst/>
            <a:cxnLst/>
            <a:rect l="l" t="t" r="r" b="b"/>
            <a:pathLst>
              <a:path w="5610225" h="23336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2219324"/>
                </a:lnTo>
                <a:cubicBezTo>
                  <a:pt x="5610225" y="2282451"/>
                  <a:pt x="5559051" y="2333625"/>
                  <a:pt x="5495924" y="2333625"/>
                </a:cubicBezTo>
                <a:lnTo>
                  <a:pt x="114301" y="2333625"/>
                </a:lnTo>
                <a:cubicBezTo>
                  <a:pt x="51174" y="2333625"/>
                  <a:pt x="0" y="2282451"/>
                  <a:pt x="0" y="221932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5F6B7A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5F6B7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1275" y="1609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05575" y="1724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297" y="21431"/>
                </a:moveTo>
                <a:lnTo>
                  <a:pt x="139303" y="21431"/>
                </a:lnTo>
                <a:cubicBezTo>
                  <a:pt x="141268" y="21431"/>
                  <a:pt x="142875" y="23039"/>
                  <a:pt x="142875" y="25003"/>
                </a:cubicBezTo>
                <a:lnTo>
                  <a:pt x="142875" y="42863"/>
                </a:lnTo>
                <a:lnTo>
                  <a:pt x="85725" y="42863"/>
                </a:lnTo>
                <a:lnTo>
                  <a:pt x="85725" y="25003"/>
                </a:lnTo>
                <a:cubicBezTo>
                  <a:pt x="85725" y="23039"/>
                  <a:pt x="87332" y="21431"/>
                  <a:pt x="89297" y="21431"/>
                </a:cubicBezTo>
                <a:close/>
                <a:moveTo>
                  <a:pt x="64294" y="25003"/>
                </a:moveTo>
                <a:lnTo>
                  <a:pt x="64294" y="42863"/>
                </a:lnTo>
                <a:lnTo>
                  <a:pt x="28575" y="42863"/>
                </a:lnTo>
                <a:cubicBezTo>
                  <a:pt x="12814" y="42863"/>
                  <a:pt x="0" y="55677"/>
                  <a:pt x="0" y="71438"/>
                </a:cubicBezTo>
                <a:lnTo>
                  <a:pt x="0" y="114300"/>
                </a:lnTo>
                <a:lnTo>
                  <a:pt x="228600" y="114300"/>
                </a:lnTo>
                <a:lnTo>
                  <a:pt x="228600" y="71438"/>
                </a:lnTo>
                <a:cubicBezTo>
                  <a:pt x="228600" y="55677"/>
                  <a:pt x="215786" y="42863"/>
                  <a:pt x="200025" y="42863"/>
                </a:cubicBezTo>
                <a:lnTo>
                  <a:pt x="164306" y="42863"/>
                </a:lnTo>
                <a:lnTo>
                  <a:pt x="164306" y="25003"/>
                </a:lnTo>
                <a:cubicBezTo>
                  <a:pt x="164306" y="11207"/>
                  <a:pt x="153099" y="0"/>
                  <a:pt x="139303" y="0"/>
                </a:cubicBezTo>
                <a:lnTo>
                  <a:pt x="89297" y="0"/>
                </a:lnTo>
                <a:cubicBezTo>
                  <a:pt x="75501" y="0"/>
                  <a:pt x="64294" y="11207"/>
                  <a:pt x="64294" y="25003"/>
                </a:cubicBezTo>
                <a:close/>
                <a:moveTo>
                  <a:pt x="228600" y="135731"/>
                </a:moveTo>
                <a:lnTo>
                  <a:pt x="142875" y="135731"/>
                </a:lnTo>
                <a:lnTo>
                  <a:pt x="142875" y="142875"/>
                </a:lnTo>
                <a:cubicBezTo>
                  <a:pt x="142875" y="150778"/>
                  <a:pt x="136490" y="157163"/>
                  <a:pt x="128588" y="157163"/>
                </a:cubicBezTo>
                <a:lnTo>
                  <a:pt x="100013" y="157163"/>
                </a:lnTo>
                <a:cubicBezTo>
                  <a:pt x="92110" y="157163"/>
                  <a:pt x="85725" y="150778"/>
                  <a:pt x="85725" y="142875"/>
                </a:cubicBezTo>
                <a:lnTo>
                  <a:pt x="85725" y="135731"/>
                </a:lnTo>
                <a:lnTo>
                  <a:pt x="0" y="135731"/>
                </a:ln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200025" y="214313"/>
                </a:lnTo>
                <a:cubicBezTo>
                  <a:pt x="215786" y="214313"/>
                  <a:pt x="228600" y="201498"/>
                  <a:pt x="228600" y="185738"/>
                </a:cubicBezTo>
                <a:lnTo>
                  <a:pt x="228600" y="135731"/>
                </a:ln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44" name="Text 42"/>
          <p:cNvSpPr/>
          <p:nvPr/>
        </p:nvSpPr>
        <p:spPr>
          <a:xfrm>
            <a:off x="6962775" y="1609725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Professionals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62775" y="18764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&amp; Creative Work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1275" y="2238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87418" y="2276475"/>
            <a:ext cx="95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734175" y="22193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Battery Priority: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 10+ hours for mobile productivity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1275" y="2600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76405" y="263842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34175" y="2581275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Processor: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Intel Evo or Apple M-series for efficiency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1275" y="2962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74916" y="300037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34175" y="2943225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Quality: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MIL-STD durability for travel reliability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91275" y="3324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76405" y="336232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34175" y="3305175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Brands: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ThinkPad, EliteBook, MacBook Pro excel here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96013" y="3910013"/>
            <a:ext cx="5610225" cy="2105025"/>
          </a:xfrm>
          <a:custGeom>
            <a:avLst/>
            <a:gdLst/>
            <a:ahLst/>
            <a:cxnLst/>
            <a:rect l="l" t="t" r="r" b="b"/>
            <a:pathLst>
              <a:path w="5610225" h="2105025">
                <a:moveTo>
                  <a:pt x="114303" y="0"/>
                </a:moveTo>
                <a:lnTo>
                  <a:pt x="5495922" y="0"/>
                </a:lnTo>
                <a:cubicBezTo>
                  <a:pt x="5559008" y="0"/>
                  <a:pt x="5610225" y="51217"/>
                  <a:pt x="5610225" y="114303"/>
                </a:cubicBezTo>
                <a:lnTo>
                  <a:pt x="5610225" y="1990722"/>
                </a:lnTo>
                <a:cubicBezTo>
                  <a:pt x="5610225" y="2053808"/>
                  <a:pt x="5559008" y="2105025"/>
                  <a:pt x="5495922" y="2105025"/>
                </a:cubicBezTo>
                <a:lnTo>
                  <a:pt x="114303" y="2105025"/>
                </a:lnTo>
                <a:cubicBezTo>
                  <a:pt x="51217" y="2105025"/>
                  <a:pt x="0" y="2053808"/>
                  <a:pt x="0" y="1990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D4A26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2700">
            <a:solidFill>
              <a:srgbClr val="D4A26A">
                <a:alpha val="30196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91275" y="4105275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D4A2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Opportunities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6038" y="45624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61" name="Text 59"/>
          <p:cNvSpPr/>
          <p:nvPr/>
        </p:nvSpPr>
        <p:spPr>
          <a:xfrm>
            <a:off x="6683573" y="4524375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16GB RAM Adoption: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Growing demand in mid-range segment presents upgrade opportunity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00800" y="50577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63" name="Text 61"/>
          <p:cNvSpPr/>
          <p:nvPr/>
        </p:nvSpPr>
        <p:spPr>
          <a:xfrm>
            <a:off x="6696075" y="5019675"/>
            <a:ext cx="3743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DDR5 Transition: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Early adopters gaining performance advantage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00800" y="53625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65" name="Text 63"/>
          <p:cNvSpPr/>
          <p:nvPr/>
        </p:nvSpPr>
        <p:spPr>
          <a:xfrm>
            <a:off x="6696075" y="5324475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QHD Displays: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Premium segment showing 1440p preference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400800" y="56673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7625"/>
                </a:moveTo>
                <a:cubicBezTo>
                  <a:pt x="109031" y="47625"/>
                  <a:pt x="104775" y="43369"/>
                  <a:pt x="104775" y="38100"/>
                </a:cubicBezTo>
                <a:cubicBezTo>
                  <a:pt x="104775" y="32831"/>
                  <a:pt x="109031" y="28575"/>
                  <a:pt x="114300" y="28575"/>
                </a:cubicBezTo>
                <a:lnTo>
                  <a:pt x="161925" y="28575"/>
                </a:lnTo>
                <a:cubicBezTo>
                  <a:pt x="167194" y="28575"/>
                  <a:pt x="171450" y="32831"/>
                  <a:pt x="171450" y="38100"/>
                </a:cubicBezTo>
                <a:lnTo>
                  <a:pt x="171450" y="85725"/>
                </a:lnTo>
                <a:cubicBezTo>
                  <a:pt x="171450" y="90994"/>
                  <a:pt x="167194" y="95250"/>
                  <a:pt x="161925" y="95250"/>
                </a:cubicBezTo>
                <a:cubicBezTo>
                  <a:pt x="156656" y="95250"/>
                  <a:pt x="152400" y="90994"/>
                  <a:pt x="152400" y="85725"/>
                </a:cubicBezTo>
                <a:lnTo>
                  <a:pt x="152400" y="61109"/>
                </a:lnTo>
                <a:lnTo>
                  <a:pt x="101977" y="111532"/>
                </a:lnTo>
                <a:cubicBezTo>
                  <a:pt x="98256" y="115253"/>
                  <a:pt x="92214" y="115253"/>
                  <a:pt x="88493" y="111532"/>
                </a:cubicBezTo>
                <a:lnTo>
                  <a:pt x="57150" y="80159"/>
                </a:lnTo>
                <a:lnTo>
                  <a:pt x="16252" y="121027"/>
                </a:lnTo>
                <a:cubicBezTo>
                  <a:pt x="12531" y="124748"/>
                  <a:pt x="6489" y="124748"/>
                  <a:pt x="2768" y="121027"/>
                </a:cubicBezTo>
                <a:cubicBezTo>
                  <a:pt x="-952" y="117306"/>
                  <a:pt x="-952" y="111264"/>
                  <a:pt x="2768" y="107543"/>
                </a:cubicBezTo>
                <a:lnTo>
                  <a:pt x="50393" y="59918"/>
                </a:lnTo>
                <a:cubicBezTo>
                  <a:pt x="54114" y="56198"/>
                  <a:pt x="60156" y="56198"/>
                  <a:pt x="63877" y="59918"/>
                </a:cubicBezTo>
                <a:lnTo>
                  <a:pt x="95250" y="91291"/>
                </a:lnTo>
                <a:lnTo>
                  <a:pt x="138916" y="47625"/>
                </a:lnTo>
                <a:lnTo>
                  <a:pt x="114300" y="47625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67" name="Text 65"/>
          <p:cNvSpPr/>
          <p:nvPr/>
        </p:nvSpPr>
        <p:spPr>
          <a:xfrm>
            <a:off x="6696075" y="5629275"/>
            <a:ext cx="3609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Features:</a:t>
            </a: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NPU integration emerging as differentiation factor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9b78d0cff6f3460f7abed29e3d5fabf8329a975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4" b="7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C8DAE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414338"/>
            <a:ext cx="1962150" cy="352425"/>
          </a:xfrm>
          <a:custGeom>
            <a:avLst/>
            <a:gdLst/>
            <a:ahLst/>
            <a:cxnLst/>
            <a:rect l="l" t="t" r="r" b="b"/>
            <a:pathLst>
              <a:path w="1962150" h="352425">
                <a:moveTo>
                  <a:pt x="176213" y="0"/>
                </a:moveTo>
                <a:lnTo>
                  <a:pt x="1785938" y="0"/>
                </a:lnTo>
                <a:cubicBezTo>
                  <a:pt x="1883192" y="0"/>
                  <a:pt x="1962150" y="78958"/>
                  <a:pt x="1962150" y="176213"/>
                </a:cubicBezTo>
                <a:lnTo>
                  <a:pt x="1962150" y="176213"/>
                </a:lnTo>
                <a:cubicBezTo>
                  <a:pt x="1962150" y="273467"/>
                  <a:pt x="1883192" y="352425"/>
                  <a:pt x="1785938" y="352425"/>
                </a:cubicBezTo>
                <a:lnTo>
                  <a:pt x="176213" y="352425"/>
                </a:lnTo>
                <a:cubicBezTo>
                  <a:pt x="78958" y="352425"/>
                  <a:pt x="0" y="273467"/>
                  <a:pt x="0" y="176213"/>
                </a:cubicBezTo>
                <a:lnTo>
                  <a:pt x="0" y="176213"/>
                </a:lnTo>
                <a:cubicBezTo>
                  <a:pt x="0" y="78958"/>
                  <a:pt x="78958" y="0"/>
                  <a:pt x="176212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1975" y="514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6" name="Text 3"/>
          <p:cNvSpPr/>
          <p:nvPr/>
        </p:nvSpPr>
        <p:spPr>
          <a:xfrm>
            <a:off x="809625" y="49530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4A2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COMPLETE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000125"/>
            <a:ext cx="100393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Takeaways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4C8DA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5763" y="2738438"/>
            <a:ext cx="4752975" cy="1000125"/>
          </a:xfrm>
          <a:custGeom>
            <a:avLst/>
            <a:gdLst/>
            <a:ahLst/>
            <a:cxnLst/>
            <a:rect l="l" t="t" r="r" b="b"/>
            <a:pathLst>
              <a:path w="4752975" h="1000125">
                <a:moveTo>
                  <a:pt x="114304" y="0"/>
                </a:moveTo>
                <a:lnTo>
                  <a:pt x="4638671" y="0"/>
                </a:lnTo>
                <a:cubicBezTo>
                  <a:pt x="4701799" y="0"/>
                  <a:pt x="4752975" y="51176"/>
                  <a:pt x="4752975" y="114304"/>
                </a:cubicBezTo>
                <a:lnTo>
                  <a:pt x="4752975" y="885821"/>
                </a:lnTo>
                <a:cubicBezTo>
                  <a:pt x="4752975" y="948949"/>
                  <a:pt x="4701799" y="1000125"/>
                  <a:pt x="46386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925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26269" y="2990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11" name="Text 8"/>
          <p:cNvSpPr/>
          <p:nvPr/>
        </p:nvSpPr>
        <p:spPr>
          <a:xfrm>
            <a:off x="1076325" y="2895600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Segmentation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6325" y="3200400"/>
            <a:ext cx="3971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specification-price correlations with distinct gaming, professional, and budget segments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5763" y="3900488"/>
            <a:ext cx="4752975" cy="1000125"/>
          </a:xfrm>
          <a:custGeom>
            <a:avLst/>
            <a:gdLst/>
            <a:ahLst/>
            <a:cxnLst/>
            <a:rect l="l" t="t" r="r" b="b"/>
            <a:pathLst>
              <a:path w="4752975" h="1000125">
                <a:moveTo>
                  <a:pt x="114304" y="0"/>
                </a:moveTo>
                <a:lnTo>
                  <a:pt x="4638671" y="0"/>
                </a:lnTo>
                <a:cubicBezTo>
                  <a:pt x="4701799" y="0"/>
                  <a:pt x="4752975" y="51176"/>
                  <a:pt x="4752975" y="114304"/>
                </a:cubicBezTo>
                <a:lnTo>
                  <a:pt x="4752975" y="885821"/>
                </a:lnTo>
                <a:cubicBezTo>
                  <a:pt x="4752975" y="948949"/>
                  <a:pt x="4701799" y="1000125"/>
                  <a:pt x="46386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2925" y="4057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38175" y="4152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16" name="Text 13"/>
          <p:cNvSpPr/>
          <p:nvPr/>
        </p:nvSpPr>
        <p:spPr>
          <a:xfrm>
            <a:off x="1076325" y="4057650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Leadership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6325" y="4362450"/>
            <a:ext cx="3971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ASUS, Lenovo, HP dominate through diversified portfolios across all price tiers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76863" y="2738438"/>
            <a:ext cx="4752975" cy="1000125"/>
          </a:xfrm>
          <a:custGeom>
            <a:avLst/>
            <a:gdLst/>
            <a:ahLst/>
            <a:cxnLst/>
            <a:rect l="l" t="t" r="r" b="b"/>
            <a:pathLst>
              <a:path w="4752975" h="1000125">
                <a:moveTo>
                  <a:pt x="114304" y="0"/>
                </a:moveTo>
                <a:lnTo>
                  <a:pt x="4638671" y="0"/>
                </a:lnTo>
                <a:cubicBezTo>
                  <a:pt x="4701799" y="0"/>
                  <a:pt x="4752975" y="51176"/>
                  <a:pt x="4752975" y="114304"/>
                </a:cubicBezTo>
                <a:lnTo>
                  <a:pt x="4752975" y="885821"/>
                </a:lnTo>
                <a:cubicBezTo>
                  <a:pt x="4752975" y="948949"/>
                  <a:pt x="4701799" y="1000125"/>
                  <a:pt x="46386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34025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DAE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629275" y="2990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21" name="Text 18"/>
          <p:cNvSpPr/>
          <p:nvPr/>
        </p:nvSpPr>
        <p:spPr>
          <a:xfrm>
            <a:off x="6067425" y="2895600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Drivers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67425" y="3200400"/>
            <a:ext cx="3971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and RAM are primary determinants with strong correlation to pricing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76863" y="3900488"/>
            <a:ext cx="4752975" cy="1000125"/>
          </a:xfrm>
          <a:custGeom>
            <a:avLst/>
            <a:gdLst/>
            <a:ahLst/>
            <a:cxnLst/>
            <a:rect l="l" t="t" r="r" b="b"/>
            <a:pathLst>
              <a:path w="4752975" h="1000125">
                <a:moveTo>
                  <a:pt x="114304" y="0"/>
                </a:moveTo>
                <a:lnTo>
                  <a:pt x="4638671" y="0"/>
                </a:lnTo>
                <a:cubicBezTo>
                  <a:pt x="4701799" y="0"/>
                  <a:pt x="4752975" y="51176"/>
                  <a:pt x="4752975" y="114304"/>
                </a:cubicBezTo>
                <a:lnTo>
                  <a:pt x="4752975" y="885821"/>
                </a:lnTo>
                <a:cubicBezTo>
                  <a:pt x="4752975" y="948949"/>
                  <a:pt x="4701799" y="1000125"/>
                  <a:pt x="4638671" y="1000125"/>
                </a:cubicBezTo>
                <a:lnTo>
                  <a:pt x="114304" y="1000125"/>
                </a:lnTo>
                <a:cubicBezTo>
                  <a:pt x="51176" y="1000125"/>
                  <a:pt x="0" y="948949"/>
                  <a:pt x="0" y="8858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C3238">
              <a:alpha val="50196"/>
            </a:srgbClr>
          </a:solidFill>
          <a:ln w="12700">
            <a:solidFill>
              <a:srgbClr val="4C8DAE">
                <a:alpha val="2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34025" y="4057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629275" y="4152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26" name="Text 23"/>
          <p:cNvSpPr/>
          <p:nvPr/>
        </p:nvSpPr>
        <p:spPr>
          <a:xfrm>
            <a:off x="6067425" y="4057650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Trends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067425" y="4362450"/>
            <a:ext cx="3971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integration, ARM adoption, and sustainability shaping next evolution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5763" y="5214938"/>
            <a:ext cx="9744075" cy="1228725"/>
          </a:xfrm>
          <a:custGeom>
            <a:avLst/>
            <a:gdLst/>
            <a:ahLst/>
            <a:cxnLst/>
            <a:rect l="l" t="t" r="r" b="b"/>
            <a:pathLst>
              <a:path w="9744075" h="1228725">
                <a:moveTo>
                  <a:pt x="114296" y="0"/>
                </a:moveTo>
                <a:lnTo>
                  <a:pt x="9629779" y="0"/>
                </a:lnTo>
                <a:cubicBezTo>
                  <a:pt x="9692903" y="0"/>
                  <a:pt x="9744075" y="51172"/>
                  <a:pt x="9744075" y="114296"/>
                </a:cubicBezTo>
                <a:lnTo>
                  <a:pt x="9744075" y="1114429"/>
                </a:lnTo>
                <a:cubicBezTo>
                  <a:pt x="9744075" y="1177553"/>
                  <a:pt x="9692903" y="1228725"/>
                  <a:pt x="96297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C8DAE">
                  <a:alpha val="20000"/>
                </a:srgbClr>
              </a:gs>
              <a:gs pos="100000">
                <a:srgbClr val="D4A26A">
                  <a:alpha val="20000"/>
                </a:srgbClr>
              </a:gs>
            </a:gsLst>
            <a:lin ang="0" scaled="1"/>
          </a:gradFill>
          <a:ln w="12700">
            <a:solidFill>
              <a:srgbClr val="4C8DAE">
                <a:alpha val="4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9125" y="5448300"/>
            <a:ext cx="937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Analysis Directions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7700" y="590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4C8DAE"/>
          </a:solidFill>
          <a:ln/>
        </p:spPr>
      </p:sp>
      <p:sp>
        <p:nvSpPr>
          <p:cNvPr id="31" name="Text 28"/>
          <p:cNvSpPr/>
          <p:nvPr/>
        </p:nvSpPr>
        <p:spPr>
          <a:xfrm>
            <a:off x="1019175" y="5829300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19175" y="6057900"/>
            <a:ext cx="1104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NPU &amp; on-device ML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790950" y="590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D4A26A"/>
          </a:solidFill>
          <a:ln/>
        </p:spPr>
      </p:sp>
      <p:sp>
        <p:nvSpPr>
          <p:cNvPr id="34" name="Text 31"/>
          <p:cNvSpPr/>
          <p:nvPr/>
        </p:nvSpPr>
        <p:spPr>
          <a:xfrm>
            <a:off x="4162425" y="5829300"/>
            <a:ext cx="1095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ARM Transition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162425" y="6057900"/>
            <a:ext cx="1076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Snapdragon &amp; Apple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934200" y="590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428" y="2991"/>
                </a:moveTo>
                <a:cubicBezTo>
                  <a:pt x="213286" y="268"/>
                  <a:pt x="217438" y="-714"/>
                  <a:pt x="221278" y="536"/>
                </a:cubicBezTo>
                <a:cubicBezTo>
                  <a:pt x="225653" y="2009"/>
                  <a:pt x="228600" y="6117"/>
                  <a:pt x="228600" y="10716"/>
                </a:cubicBezTo>
                <a:lnTo>
                  <a:pt x="228600" y="94164"/>
                </a:lnTo>
                <a:cubicBezTo>
                  <a:pt x="228600" y="152742"/>
                  <a:pt x="180335" y="200025"/>
                  <a:pt x="121980" y="200025"/>
                </a:cubicBezTo>
                <a:cubicBezTo>
                  <a:pt x="87600" y="200025"/>
                  <a:pt x="57954" y="177924"/>
                  <a:pt x="47193" y="147027"/>
                </a:cubicBezTo>
                <a:cubicBezTo>
                  <a:pt x="31388" y="160779"/>
                  <a:pt x="21431" y="181005"/>
                  <a:pt x="21431" y="203597"/>
                </a:cubicBezTo>
                <a:cubicBezTo>
                  <a:pt x="21431" y="209535"/>
                  <a:pt x="16654" y="214313"/>
                  <a:pt x="10716" y="214313"/>
                </a:cubicBezTo>
                <a:cubicBezTo>
                  <a:pt x="4777" y="214313"/>
                  <a:pt x="0" y="209535"/>
                  <a:pt x="0" y="203597"/>
                </a:cubicBezTo>
                <a:cubicBezTo>
                  <a:pt x="0" y="170155"/>
                  <a:pt x="17056" y="140687"/>
                  <a:pt x="42907" y="123364"/>
                </a:cubicBezTo>
                <a:cubicBezTo>
                  <a:pt x="58668" y="112827"/>
                  <a:pt x="77465" y="107156"/>
                  <a:pt x="96441" y="107156"/>
                </a:cubicBezTo>
                <a:lnTo>
                  <a:pt x="132159" y="107156"/>
                </a:lnTo>
                <a:cubicBezTo>
                  <a:pt x="138098" y="107156"/>
                  <a:pt x="142875" y="102379"/>
                  <a:pt x="142875" y="96441"/>
                </a:cubicBezTo>
                <a:cubicBezTo>
                  <a:pt x="142875" y="90502"/>
                  <a:pt x="138098" y="85725"/>
                  <a:pt x="132159" y="85725"/>
                </a:cubicBezTo>
                <a:lnTo>
                  <a:pt x="96441" y="85725"/>
                </a:lnTo>
                <a:cubicBezTo>
                  <a:pt x="78715" y="85725"/>
                  <a:pt x="61927" y="89654"/>
                  <a:pt x="46881" y="96664"/>
                </a:cubicBezTo>
                <a:cubicBezTo>
                  <a:pt x="57284" y="65410"/>
                  <a:pt x="86707" y="42863"/>
                  <a:pt x="121444" y="42863"/>
                </a:cubicBezTo>
                <a:cubicBezTo>
                  <a:pt x="151090" y="42863"/>
                  <a:pt x="173147" y="32995"/>
                  <a:pt x="187836" y="23217"/>
                </a:cubicBezTo>
                <a:cubicBezTo>
                  <a:pt x="196408" y="17502"/>
                  <a:pt x="203686" y="10671"/>
                  <a:pt x="210473" y="2991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37" name="Text 34"/>
          <p:cNvSpPr/>
          <p:nvPr/>
        </p:nvSpPr>
        <p:spPr>
          <a:xfrm>
            <a:off x="7305675" y="582930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Sustainability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305675" y="60579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Eco-friendly materials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C76DD-1E8E-E128-AD28-052AE6F8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9b78d0cff6f3460f7abed29e3d5fabf8329a975.jpg">
            <a:extLst>
              <a:ext uri="{FF2B5EF4-FFF2-40B4-BE49-F238E27FC236}">
                <a16:creationId xmlns:a16="http://schemas.microsoft.com/office/drawing/2014/main" id="{A19BDB09-2338-FA35-F005-19EB415E93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74" b="7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AEFB92B-2739-E68C-2F16-8447CD305F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C8DAE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4CC8D6-1008-F092-7681-C1199FC78DD7}"/>
              </a:ext>
            </a:extLst>
          </p:cNvPr>
          <p:cNvSpPr txBox="1"/>
          <p:nvPr/>
        </p:nvSpPr>
        <p:spPr>
          <a:xfrm>
            <a:off x="1282883" y="1692322"/>
            <a:ext cx="915764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chemeClr val="bg1"/>
                </a:solidFill>
              </a:rPr>
              <a:t>T</a:t>
            </a:r>
            <a:r>
              <a:rPr lang="en-US" sz="13800" b="1" dirty="0">
                <a:solidFill>
                  <a:schemeClr val="accent1"/>
                </a:solidFill>
              </a:rPr>
              <a:t>H</a:t>
            </a:r>
            <a:r>
              <a:rPr lang="en-US" sz="138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</a:t>
            </a:r>
            <a:r>
              <a:rPr lang="en-US" sz="13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</a:t>
            </a:r>
            <a:r>
              <a:rPr lang="en-US" sz="138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K</a:t>
            </a:r>
            <a:r>
              <a:rPr lang="en-US" sz="13800" b="1" dirty="0">
                <a:solidFill>
                  <a:schemeClr val="bg1"/>
                </a:solidFill>
              </a:rPr>
              <a:t> </a:t>
            </a:r>
            <a:r>
              <a:rPr lang="en-US" sz="13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Y</a:t>
            </a:r>
            <a:r>
              <a:rPr lang="en-US" sz="13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</a:t>
            </a:r>
            <a:r>
              <a:rPr lang="en-US" sz="13800" b="1" dirty="0">
                <a:solidFill>
                  <a:schemeClr val="bg1"/>
                </a:solidFill>
              </a:rPr>
              <a:t>U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404EE4-44B3-EDAD-1F20-D87D2A1F946D}"/>
              </a:ext>
            </a:extLst>
          </p:cNvPr>
          <p:cNvSpPr txBox="1"/>
          <p:nvPr/>
        </p:nvSpPr>
        <p:spPr>
          <a:xfrm>
            <a:off x="1405714" y="4039735"/>
            <a:ext cx="5268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</a:rPr>
              <a:t>Thank you for your time and attention</a:t>
            </a:r>
          </a:p>
        </p:txBody>
      </p:sp>
    </p:spTree>
    <p:extLst>
      <p:ext uri="{BB962C8B-B14F-4D97-AF65-F5344CB8AC3E}">
        <p14:creationId xmlns:p14="http://schemas.microsoft.com/office/powerpoint/2010/main" val="14075737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1661</Words>
  <Application>Microsoft Office PowerPoint</Application>
  <PresentationFormat>Widescreen</PresentationFormat>
  <Paragraphs>481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Wingdings</vt:lpstr>
      <vt:lpstr>Liter</vt:lpstr>
      <vt:lpstr>Arial</vt:lpstr>
      <vt:lpstr>Quattrocento Sans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Laptop Market Data Analysis</dc:title>
  <dc:subject>Laptop Market Data Analysis</dc:subject>
  <dc:creator>Kimi</dc:creator>
  <cp:lastModifiedBy>Vishnu Sai Tej</cp:lastModifiedBy>
  <cp:revision>7</cp:revision>
  <dcterms:created xsi:type="dcterms:W3CDTF">2026-02-02T11:41:26Z</dcterms:created>
  <dcterms:modified xsi:type="dcterms:W3CDTF">2026-02-02T18:06:43Z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{"Label":"Laptop Market Data Analysis","ContentProducer":"001191110108MACG2KBH8F10000","ProduceID":"19c1e168-c9e2-8097-8000-0000c1374bba","ReservedCode1":"","ContentPropagator":"001191110108MACG2KBH8F20000","PropagateID":"19c1e168-c9e2-8097-8000-0000c1374bba","ReservedCode2":""}</vt:lpwstr>
  </property>
</Properties>
</file>